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29" r:id="rId3"/>
    <p:sldId id="340" r:id="rId4"/>
    <p:sldId id="330" r:id="rId5"/>
    <p:sldId id="331" r:id="rId6"/>
    <p:sldId id="347" r:id="rId7"/>
    <p:sldId id="346" r:id="rId8"/>
    <p:sldId id="348" r:id="rId9"/>
    <p:sldId id="363" r:id="rId10"/>
    <p:sldId id="341" r:id="rId11"/>
    <p:sldId id="343" r:id="rId12"/>
    <p:sldId id="352" r:id="rId13"/>
    <p:sldId id="344" r:id="rId14"/>
    <p:sldId id="332" r:id="rId15"/>
    <p:sldId id="349" r:id="rId16"/>
    <p:sldId id="351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</p:sldIdLst>
  <p:sldSz cx="9144000" cy="6858000" type="screen4x3"/>
  <p:notesSz cx="6858000" cy="9144000"/>
  <p:defaultTextStyle>
    <a:defPPr>
      <a:defRPr lang="sr-Latn-C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157" y="-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873CB-8ED4-4FB6-AF78-E5263D246DAF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C4FD5-43FC-4CB8-A405-66142E64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00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C4FD5-43FC-4CB8-A405-66142E6495A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3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sr-Latn-C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C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r-Latn-C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C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48590-C4D7-4AC4-93A6-76B7CA0F00A0}" type="datetimeFigureOut">
              <a:rPr lang="sr-Latn-CS" smtClean="0"/>
              <a:pPr/>
              <a:t>29.1.2026.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7797D-FBE0-4F91-BCB6-0998E8DC3718}" type="slidenum">
              <a:rPr lang="sr-Latn-CS" smtClean="0"/>
              <a:pPr/>
              <a:t>‹#›</a:t>
            </a:fld>
            <a:endParaRPr lang="sr-Latn-C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C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77281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sr-Latn-RS" sz="6700" dirty="0" smtClean="0"/>
              <a:t>KLASE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Objekto</a:t>
            </a:r>
            <a:r>
              <a:rPr lang="en-US" sz="5400" dirty="0" smtClean="0"/>
              <a:t> </a:t>
            </a:r>
            <a:r>
              <a:rPr lang="en-US" sz="5400" dirty="0" err="1" smtClean="0"/>
              <a:t>orjentisano</a:t>
            </a:r>
            <a:r>
              <a:rPr lang="en-US" sz="5400" dirty="0" smtClean="0"/>
              <a:t> </a:t>
            </a:r>
            <a:r>
              <a:rPr lang="en-US" sz="5400" dirty="0" err="1" smtClean="0"/>
              <a:t>programiranje</a:t>
            </a:r>
            <a:r>
              <a:rPr lang="en-US" sz="5400" dirty="0" smtClean="0"/>
              <a:t> OOP</a:t>
            </a:r>
            <a:endParaRPr lang="sr-Latn-C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005064"/>
            <a:ext cx="6400800" cy="1752600"/>
          </a:xfrm>
        </p:spPr>
        <p:txBody>
          <a:bodyPr/>
          <a:lstStyle/>
          <a:p>
            <a:r>
              <a:rPr lang="sr-Latn-CS" dirty="0" smtClean="0">
                <a:solidFill>
                  <a:schemeClr val="tx1"/>
                </a:solidFill>
              </a:rPr>
              <a:t>Pomoću klasa možemo da pravimo modele realnog sveta, njegove objekte i osobine objekata.</a:t>
            </a:r>
            <a:endParaRPr lang="sr-Latn-C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0"/>
            <a:ext cx="9216008" cy="7029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b="1" dirty="0" smtClean="0"/>
              <a:t>Klasa</a:t>
            </a:r>
            <a:r>
              <a:rPr lang="sr-Latn-RS" dirty="0" smtClean="0"/>
              <a:t> je novi </a:t>
            </a:r>
            <a:r>
              <a:rPr lang="sr-Latn-RS" u="sng" dirty="0" smtClean="0"/>
              <a:t>tip podataka </a:t>
            </a:r>
            <a:r>
              <a:rPr lang="sr-Latn-RS" dirty="0" smtClean="0"/>
              <a:t>koji služi da modeluje pojmove iz realnog života. Zato je klasa skup: </a:t>
            </a:r>
          </a:p>
          <a:p>
            <a:pPr marL="514350" indent="-514350">
              <a:buAutoNum type="arabicParenR"/>
            </a:pPr>
            <a:r>
              <a:rPr lang="sr-Latn-RS" dirty="0" smtClean="0"/>
              <a:t>atributa, (promenljivih, osobina) </a:t>
            </a:r>
          </a:p>
          <a:p>
            <a:pPr marL="514350" indent="-514350">
              <a:buAutoNum type="arabicParenR"/>
            </a:pPr>
            <a:r>
              <a:rPr lang="sr-Latn-RS" dirty="0" smtClean="0"/>
              <a:t>metoda (f-ja, aktivnosti, veština).</a:t>
            </a:r>
          </a:p>
          <a:p>
            <a:pPr marL="0" indent="0">
              <a:buNone/>
            </a:pPr>
            <a:r>
              <a:rPr lang="sr-Latn-RS" dirty="0" smtClean="0"/>
              <a:t>Na primer, ako je klasu nazovemo </a:t>
            </a:r>
            <a:r>
              <a:rPr lang="sr-Latn-RS" i="1" dirty="0" smtClean="0"/>
              <a:t>automobil</a:t>
            </a:r>
            <a:r>
              <a:rPr lang="sr-Latn-RS" dirty="0" smtClean="0"/>
              <a:t> </a:t>
            </a:r>
            <a:r>
              <a:rPr lang="sr-Latn-RS" dirty="0"/>
              <a:t>, </a:t>
            </a:r>
            <a:r>
              <a:rPr lang="sr-Latn-RS" dirty="0" smtClean="0"/>
              <a:t>onda su</a:t>
            </a:r>
          </a:p>
          <a:p>
            <a:pPr marL="0" indent="0">
              <a:buNone/>
            </a:pPr>
            <a:r>
              <a:rPr lang="sr-Latn-RS" b="1" dirty="0" smtClean="0"/>
              <a:t>atributi</a:t>
            </a:r>
            <a:r>
              <a:rPr lang="sr-Latn-RS" dirty="0" smtClean="0"/>
              <a:t>: točkovi, vrata, sedišta…</a:t>
            </a:r>
          </a:p>
          <a:p>
            <a:pPr marL="0" indent="0">
              <a:buNone/>
            </a:pPr>
            <a:r>
              <a:rPr lang="sr-Latn-RS" dirty="0" smtClean="0"/>
              <a:t>a </a:t>
            </a:r>
            <a:r>
              <a:rPr lang="sr-Latn-RS" b="1" dirty="0" smtClean="0"/>
              <a:t>metode</a:t>
            </a:r>
            <a:r>
              <a:rPr lang="sr-Latn-RS" dirty="0" smtClean="0"/>
              <a:t> su: startuj, koči, trubi….</a:t>
            </a:r>
          </a:p>
          <a:p>
            <a:pPr marL="0" indent="0">
              <a:buNone/>
            </a:pPr>
            <a:r>
              <a:rPr lang="sr-Latn-RS" dirty="0" smtClean="0"/>
              <a:t>Klasa je samo nacrt (plan), a objekte (prave automobile) kreiramo na osnovu tog nacrta, tj. klase</a:t>
            </a:r>
            <a:r>
              <a:rPr lang="en-US" dirty="0" smtClean="0"/>
              <a:t>.</a:t>
            </a:r>
            <a:r>
              <a:rPr lang="sr-Latn-RS" dirty="0" smtClean="0"/>
              <a:t> </a:t>
            </a:r>
            <a:r>
              <a:rPr lang="en-US" dirty="0" smtClean="0"/>
              <a:t>K</a:t>
            </a:r>
            <a:r>
              <a:rPr lang="sr-Latn-RS" dirty="0" smtClean="0"/>
              <a:t>reiranje objekta = </a:t>
            </a:r>
            <a:r>
              <a:rPr lang="sr-Latn-RS" b="1" dirty="0" smtClean="0"/>
              <a:t>instanciranje</a:t>
            </a:r>
            <a:r>
              <a:rPr lang="sr-Latn-RS" dirty="0" smtClean="0"/>
              <a:t>, primerak klase = </a:t>
            </a:r>
            <a:r>
              <a:rPr lang="sr-Latn-RS" b="1" dirty="0" smtClean="0"/>
              <a:t>instanca = objekat</a:t>
            </a:r>
            <a:r>
              <a:rPr lang="sr-Latn-RS" dirty="0" smtClean="0"/>
              <a:t>. </a:t>
            </a:r>
          </a:p>
          <a:p>
            <a:pPr marL="0" indent="0">
              <a:buNone/>
            </a:pP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sr-Latn-RS" dirty="0" smtClean="0"/>
              <a:t>klas</a:t>
            </a:r>
            <a:r>
              <a:rPr lang="en-US" dirty="0" smtClean="0"/>
              <a:t>u </a:t>
            </a:r>
            <a:r>
              <a:rPr lang="en-US" dirty="0" err="1" smtClean="0"/>
              <a:t>ka</a:t>
            </a:r>
            <a:r>
              <a:rPr lang="sr-Latn-RS" dirty="0" smtClean="0"/>
              <a:t>žemo da je </a:t>
            </a:r>
            <a:r>
              <a:rPr lang="sr-Latn-RS" b="1" i="1" dirty="0" smtClean="0"/>
              <a:t>tip</a:t>
            </a:r>
            <a:r>
              <a:rPr lang="sr-Latn-RS" dirty="0" smtClean="0"/>
              <a:t>, a objekat je </a:t>
            </a:r>
            <a:r>
              <a:rPr lang="sr-Latn-RS" b="1" i="1" dirty="0" smtClean="0"/>
              <a:t>instanc</a:t>
            </a:r>
            <a:r>
              <a:rPr lang="en-US" b="1" i="1" dirty="0" smtClean="0"/>
              <a:t>a</a:t>
            </a:r>
            <a:r>
              <a:rPr lang="sr-Latn-RS" i="1" dirty="0" smtClean="0"/>
              <a:t> klase</a:t>
            </a:r>
            <a:r>
              <a:rPr lang="sr-Latn-RS" dirty="0" smtClean="0"/>
              <a:t>. </a:t>
            </a:r>
          </a:p>
          <a:p>
            <a:pPr marL="0" indent="0">
              <a:buNone/>
            </a:pPr>
            <a:r>
              <a:rPr lang="sr-Latn-RS" sz="2800" dirty="0" smtClean="0"/>
              <a:t>(Klasa je tip koji</a:t>
            </a:r>
            <a:r>
              <a:rPr lang="en-US" sz="2800" dirty="0" smtClean="0"/>
              <a:t> </a:t>
            </a:r>
            <a:r>
              <a:rPr lang="en-US" sz="2800" dirty="0" err="1" smtClean="0"/>
              <a:t>mo</a:t>
            </a:r>
            <a:r>
              <a:rPr lang="sr-Latn-RS" sz="2800" dirty="0" smtClean="0"/>
              <a:t>žemo sami da definišemo (analogija</a:t>
            </a:r>
            <a:r>
              <a:rPr lang="sr-Latn-RS" sz="2800" dirty="0"/>
              <a:t>: kao </a:t>
            </a:r>
            <a:r>
              <a:rPr lang="sr-Latn-RS" sz="2800" dirty="0" smtClean="0"/>
              <a:t>što je tip integer, float, string; </a:t>
            </a:r>
            <a:r>
              <a:rPr lang="sr-Latn-RS" sz="2800" i="1" dirty="0" smtClean="0"/>
              <a:t>broj: int=14</a:t>
            </a:r>
            <a:r>
              <a:rPr lang="sr-Latn-RS" sz="2800" dirty="0" smtClean="0"/>
              <a:t>), a objekat je kao promenljiva tog tipa).</a:t>
            </a:r>
          </a:p>
          <a:p>
            <a:pPr marL="0" indent="0">
              <a:buNone/>
            </a:pPr>
            <a:r>
              <a:rPr lang="sr-Latn-RS" sz="2800" dirty="0" smtClean="0"/>
              <a:t>Sledi analogija, za bolje razumevanje:</a:t>
            </a:r>
            <a:endParaRPr lang="sr-Cyrl-RS" sz="2800" dirty="0" smtClean="0"/>
          </a:p>
        </p:txBody>
      </p:sp>
    </p:spTree>
    <p:extLst>
      <p:ext uri="{BB962C8B-B14F-4D97-AF65-F5344CB8AC3E}">
        <p14:creationId xmlns:p14="http://schemas.microsoft.com/office/powerpoint/2010/main" val="322064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44624"/>
            <a:ext cx="9216008" cy="684076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err="1" smtClean="0"/>
              <a:t>Klasa</a:t>
            </a:r>
            <a:r>
              <a:rPr lang="en-US" b="1" dirty="0" smtClean="0"/>
              <a:t> </a:t>
            </a:r>
            <a:r>
              <a:rPr lang="en-US" b="1" dirty="0"/>
              <a:t>(</a:t>
            </a:r>
            <a:r>
              <a:rPr lang="en-US" b="1" dirty="0" err="1" smtClean="0"/>
              <a:t>Nacrt</a:t>
            </a:r>
            <a:r>
              <a:rPr lang="sr-Latn-RS" b="1" dirty="0" smtClean="0"/>
              <a:t> ,plan</a:t>
            </a:r>
            <a:r>
              <a:rPr lang="en-US" b="1" dirty="0" smtClean="0"/>
              <a:t> </a:t>
            </a:r>
            <a:r>
              <a:rPr lang="en-US" b="1" dirty="0" err="1"/>
              <a:t>ili</a:t>
            </a:r>
            <a:r>
              <a:rPr lang="en-US" b="1" dirty="0"/>
              <a:t> </a:t>
            </a:r>
            <a:r>
              <a:rPr lang="sr-Latn-RS" b="1" dirty="0" smtClean="0"/>
              <a:t>r</a:t>
            </a:r>
            <a:r>
              <a:rPr lang="en-US" b="1" dirty="0" err="1" smtClean="0"/>
              <a:t>ecept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 err="1"/>
              <a:t>Zamisli</a:t>
            </a:r>
            <a:r>
              <a:rPr lang="en-US" dirty="0"/>
              <a:t> da </a:t>
            </a:r>
            <a:r>
              <a:rPr lang="en-US" dirty="0" err="1"/>
              <a:t>želiš</a:t>
            </a:r>
            <a:r>
              <a:rPr lang="en-US" dirty="0"/>
              <a:t> da </a:t>
            </a:r>
            <a:r>
              <a:rPr lang="en-US" dirty="0" err="1"/>
              <a:t>napraviš</a:t>
            </a:r>
            <a:r>
              <a:rPr lang="en-US" dirty="0"/>
              <a:t> </a:t>
            </a:r>
            <a:r>
              <a:rPr lang="en-US" dirty="0" err="1" smtClean="0"/>
              <a:t>kolačiće</a:t>
            </a:r>
            <a:r>
              <a:rPr lang="en-US" dirty="0"/>
              <a:t>. </a:t>
            </a:r>
            <a:r>
              <a:rPr lang="en-US" b="1" dirty="0" err="1">
                <a:solidFill>
                  <a:srgbClr val="FF0000"/>
                </a:solidFill>
              </a:rPr>
              <a:t>Klasa</a:t>
            </a:r>
            <a:r>
              <a:rPr lang="en-US" dirty="0">
                <a:solidFill>
                  <a:srgbClr val="FF0000"/>
                </a:solidFill>
              </a:rPr>
              <a:t> je </a:t>
            </a:r>
            <a:r>
              <a:rPr lang="en-US" dirty="0" err="1">
                <a:solidFill>
                  <a:srgbClr val="FF0000"/>
                </a:solidFill>
              </a:rPr>
              <a:t>recept</a:t>
            </a:r>
            <a:r>
              <a:rPr lang="en-US" dirty="0"/>
              <a:t>. U </a:t>
            </a:r>
            <a:r>
              <a:rPr lang="en-US" dirty="0" err="1"/>
              <a:t>receptu</a:t>
            </a:r>
            <a:r>
              <a:rPr lang="en-US" dirty="0"/>
              <a:t> </a:t>
            </a:r>
            <a:r>
              <a:rPr lang="en-US" dirty="0" err="1"/>
              <a:t>piše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kolač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</a:t>
            </a:r>
            <a:r>
              <a:rPr lang="en-US" dirty="0" err="1"/>
              <a:t>sadrži</a:t>
            </a:r>
            <a:r>
              <a:rPr lang="en-US" dirty="0"/>
              <a:t> (</a:t>
            </a:r>
            <a:r>
              <a:rPr lang="en-US" dirty="0" err="1"/>
              <a:t>brašno</a:t>
            </a:r>
            <a:r>
              <a:rPr lang="en-US" dirty="0"/>
              <a:t>, </a:t>
            </a:r>
            <a:r>
              <a:rPr lang="en-US" dirty="0" err="1"/>
              <a:t>šećer</a:t>
            </a:r>
            <a:r>
              <a:rPr lang="en-US" dirty="0"/>
              <a:t>, </a:t>
            </a:r>
            <a:r>
              <a:rPr lang="en-US" dirty="0" err="1" smtClean="0"/>
              <a:t>čokoladu</a:t>
            </a:r>
            <a:r>
              <a:rPr lang="sr-Latn-RS" dirty="0" smtClean="0"/>
              <a:t>...</a:t>
            </a:r>
            <a:r>
              <a:rPr lang="en-US" dirty="0" smtClean="0"/>
              <a:t>) </a:t>
            </a:r>
            <a:r>
              <a:rPr lang="en-US" dirty="0"/>
              <a:t>i </a:t>
            </a: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njim</a:t>
            </a:r>
            <a:r>
              <a:rPr lang="en-US" dirty="0"/>
              <a:t> </a:t>
            </a:r>
            <a:r>
              <a:rPr lang="en-US" dirty="0" err="1"/>
              <a:t>možeš</a:t>
            </a:r>
            <a:r>
              <a:rPr lang="en-US" dirty="0"/>
              <a:t> da </a:t>
            </a:r>
            <a:r>
              <a:rPr lang="en-US" dirty="0" err="1"/>
              <a:t>uradiš</a:t>
            </a:r>
            <a:r>
              <a:rPr lang="en-US" dirty="0"/>
              <a:t> (</a:t>
            </a:r>
            <a:r>
              <a:rPr lang="en-US" dirty="0" err="1"/>
              <a:t>ispečeš</a:t>
            </a:r>
            <a:r>
              <a:rPr lang="en-US" dirty="0"/>
              <a:t> </a:t>
            </a:r>
            <a:r>
              <a:rPr lang="en-US" dirty="0" err="1"/>
              <a:t>ga</a:t>
            </a:r>
            <a:r>
              <a:rPr lang="en-US" dirty="0"/>
              <a:t>, </a:t>
            </a:r>
            <a:r>
              <a:rPr lang="en-US" dirty="0" err="1" smtClean="0"/>
              <a:t>pojedeš</a:t>
            </a:r>
            <a:r>
              <a:rPr lang="sr-Latn-RS" dirty="0" smtClean="0"/>
              <a:t>...</a:t>
            </a:r>
            <a:r>
              <a:rPr lang="en-US" dirty="0" smtClean="0"/>
              <a:t>).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Sam </a:t>
            </a:r>
            <a:r>
              <a:rPr lang="en-US" dirty="0" err="1" smtClean="0"/>
              <a:t>recept</a:t>
            </a:r>
            <a:r>
              <a:rPr lang="en-US" dirty="0" smtClean="0"/>
              <a:t> ne </a:t>
            </a:r>
            <a:r>
              <a:rPr lang="en-US" dirty="0" err="1" smtClean="0"/>
              <a:t>možeš</a:t>
            </a:r>
            <a:r>
              <a:rPr lang="en-US" dirty="0" smtClean="0"/>
              <a:t> da </a:t>
            </a:r>
            <a:r>
              <a:rPr lang="en-US" dirty="0" err="1" smtClean="0"/>
              <a:t>pojedeš</a:t>
            </a:r>
            <a:r>
              <a:rPr lang="en-US" dirty="0" smtClean="0"/>
              <a:t>. On je </a:t>
            </a:r>
            <a:r>
              <a:rPr lang="en-US" dirty="0" err="1" smtClean="0"/>
              <a:t>samo</a:t>
            </a:r>
            <a:r>
              <a:rPr lang="en-US" dirty="0" smtClean="0"/>
              <a:t> </a:t>
            </a:r>
            <a:r>
              <a:rPr lang="en-US" b="1" dirty="0" err="1" smtClean="0"/>
              <a:t>uputstvo</a:t>
            </a:r>
            <a:r>
              <a:rPr lang="en-US" dirty="0" smtClean="0"/>
              <a:t> </a:t>
            </a:r>
            <a:r>
              <a:rPr lang="en-US" dirty="0" err="1" smtClean="0"/>
              <a:t>kako</a:t>
            </a:r>
            <a:r>
              <a:rPr lang="en-US" dirty="0" smtClean="0"/>
              <a:t> da </a:t>
            </a:r>
            <a:r>
              <a:rPr lang="en-US" dirty="0" err="1" smtClean="0"/>
              <a:t>napraviš</a:t>
            </a:r>
            <a:r>
              <a:rPr lang="en-US" dirty="0" smtClean="0"/>
              <a:t> </a:t>
            </a:r>
            <a:r>
              <a:rPr lang="en-US" dirty="0" err="1" smtClean="0"/>
              <a:t>kolač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U </a:t>
            </a:r>
            <a:r>
              <a:rPr lang="en-US" dirty="0" err="1"/>
              <a:t>programiranju</a:t>
            </a:r>
            <a:r>
              <a:rPr lang="en-US" dirty="0"/>
              <a:t>, </a:t>
            </a:r>
            <a:r>
              <a:rPr lang="en-US" dirty="0" err="1"/>
              <a:t>klasa</a:t>
            </a:r>
            <a:r>
              <a:rPr lang="en-US" dirty="0"/>
              <a:t> </a:t>
            </a:r>
            <a:r>
              <a:rPr lang="en-US" dirty="0" err="1"/>
              <a:t>definiše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 </a:t>
            </a:r>
            <a:r>
              <a:rPr lang="en-US" b="1" dirty="0" err="1"/>
              <a:t>osobine</a:t>
            </a:r>
            <a:r>
              <a:rPr lang="en-US" dirty="0"/>
              <a:t> (</a:t>
            </a:r>
            <a:r>
              <a:rPr lang="en-US" dirty="0" err="1" smtClean="0"/>
              <a:t>podatke</a:t>
            </a:r>
            <a:r>
              <a:rPr lang="sr-Latn-RS" dirty="0" smtClean="0"/>
              <a:t> - </a:t>
            </a:r>
            <a:r>
              <a:rPr lang="sr-Latn-RS" i="1" dirty="0" smtClean="0"/>
              <a:t>atribute</a:t>
            </a:r>
            <a:r>
              <a:rPr lang="en-US" dirty="0" smtClean="0"/>
              <a:t>) </a:t>
            </a:r>
            <a:r>
              <a:rPr lang="en-US" dirty="0"/>
              <a:t>i </a:t>
            </a:r>
            <a:r>
              <a:rPr lang="en-US" b="1" dirty="0" err="1"/>
              <a:t>veštine</a:t>
            </a:r>
            <a:r>
              <a:rPr lang="en-US" dirty="0"/>
              <a:t> (</a:t>
            </a:r>
            <a:r>
              <a:rPr lang="en-US" dirty="0" err="1" smtClean="0"/>
              <a:t>funkcije</a:t>
            </a:r>
            <a:r>
              <a:rPr lang="sr-Latn-RS" dirty="0" smtClean="0"/>
              <a:t> - </a:t>
            </a:r>
            <a:r>
              <a:rPr lang="sr-Latn-RS" i="1" dirty="0" smtClean="0"/>
              <a:t>metode</a:t>
            </a:r>
            <a:r>
              <a:rPr lang="en-US" dirty="0" smtClean="0"/>
              <a:t>)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nešto</a:t>
            </a:r>
            <a:r>
              <a:rPr lang="en-US" dirty="0"/>
              <a:t> </a:t>
            </a:r>
            <a:r>
              <a:rPr lang="en-US" dirty="0" err="1"/>
              <a:t>imati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Objekat</a:t>
            </a:r>
            <a:r>
              <a:rPr lang="en-US" b="1" dirty="0"/>
              <a:t> (</a:t>
            </a:r>
            <a:r>
              <a:rPr lang="en-US" b="1" dirty="0" err="1"/>
              <a:t>Pravi</a:t>
            </a:r>
            <a:r>
              <a:rPr lang="en-US" b="1" dirty="0"/>
              <a:t> </a:t>
            </a:r>
            <a:r>
              <a:rPr lang="en-US" b="1" dirty="0" err="1"/>
              <a:t>kolačić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pratiš</a:t>
            </a:r>
            <a:r>
              <a:rPr lang="en-US" dirty="0"/>
              <a:t> </a:t>
            </a:r>
            <a:r>
              <a:rPr lang="en-US" dirty="0" err="1"/>
              <a:t>recept</a:t>
            </a:r>
            <a:r>
              <a:rPr lang="en-US" dirty="0"/>
              <a:t> i </a:t>
            </a:r>
            <a:r>
              <a:rPr lang="en-US" dirty="0" err="1"/>
              <a:t>zaista</a:t>
            </a:r>
            <a:r>
              <a:rPr lang="en-US" dirty="0"/>
              <a:t> </a:t>
            </a:r>
            <a:r>
              <a:rPr lang="en-US" dirty="0" err="1"/>
              <a:t>ispečeš</a:t>
            </a:r>
            <a:r>
              <a:rPr lang="en-US" dirty="0"/>
              <a:t> </a:t>
            </a:r>
            <a:r>
              <a:rPr lang="en-US" dirty="0" err="1"/>
              <a:t>kolač</a:t>
            </a:r>
            <a:r>
              <a:rPr lang="en-US" dirty="0"/>
              <a:t>, </a:t>
            </a:r>
            <a:r>
              <a:rPr lang="en-US" dirty="0" err="1"/>
              <a:t>dobio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b="1" dirty="0" err="1"/>
              <a:t>objekat</a:t>
            </a:r>
            <a:r>
              <a:rPr lang="en-US" dirty="0" smtClean="0"/>
              <a:t>.</a:t>
            </a:r>
            <a:r>
              <a:rPr lang="sr-Latn-RS" dirty="0" smtClean="0"/>
              <a:t> </a:t>
            </a:r>
            <a:r>
              <a:rPr lang="sr-Latn-RS" b="1" dirty="0" smtClean="0">
                <a:solidFill>
                  <a:srgbClr val="FF0000"/>
                </a:solidFill>
              </a:rPr>
              <a:t>Objekat</a:t>
            </a:r>
            <a:r>
              <a:rPr lang="sr-Latn-RS" dirty="0" smtClean="0">
                <a:solidFill>
                  <a:srgbClr val="FF0000"/>
                </a:solidFill>
              </a:rPr>
              <a:t> je pojedinačni kolačić </a:t>
            </a:r>
            <a:r>
              <a:rPr lang="sr-Latn-RS" dirty="0" smtClean="0"/>
              <a:t>napravljen po receptu.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Od </a:t>
            </a:r>
            <a:r>
              <a:rPr lang="en-US" dirty="0" err="1"/>
              <a:t>jednog</a:t>
            </a:r>
            <a:r>
              <a:rPr lang="en-US" dirty="0"/>
              <a:t> </a:t>
            </a:r>
            <a:r>
              <a:rPr lang="en-US" dirty="0" err="1"/>
              <a:t>recepta</a:t>
            </a:r>
            <a:r>
              <a:rPr lang="en-US" dirty="0"/>
              <a:t> (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) </a:t>
            </a:r>
            <a:r>
              <a:rPr lang="en-US" dirty="0" err="1"/>
              <a:t>možeš</a:t>
            </a:r>
            <a:r>
              <a:rPr lang="en-US" dirty="0"/>
              <a:t> da </a:t>
            </a:r>
            <a:r>
              <a:rPr lang="en-US" dirty="0" err="1"/>
              <a:t>napraviš</a:t>
            </a:r>
            <a:r>
              <a:rPr lang="en-US" dirty="0"/>
              <a:t> 10, 50 </a:t>
            </a:r>
            <a:r>
              <a:rPr lang="en-US" dirty="0" err="1"/>
              <a:t>ili</a:t>
            </a:r>
            <a:r>
              <a:rPr lang="en-US" dirty="0"/>
              <a:t> 100 </a:t>
            </a:r>
            <a:r>
              <a:rPr lang="en-US" dirty="0" err="1"/>
              <a:t>kolačića</a:t>
            </a:r>
            <a:r>
              <a:rPr lang="en-US" dirty="0"/>
              <a:t> (</a:t>
            </a:r>
            <a:r>
              <a:rPr lang="en-US" dirty="0" err="1"/>
              <a:t>objekata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kolačić</a:t>
            </a:r>
            <a:r>
              <a:rPr lang="en-US" dirty="0"/>
              <a:t> je </a:t>
            </a:r>
            <a:r>
              <a:rPr lang="en-US" dirty="0" err="1"/>
              <a:t>poseban</a:t>
            </a:r>
            <a:r>
              <a:rPr lang="en-US" dirty="0"/>
              <a:t>: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imati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čokolade</a:t>
            </a:r>
            <a:r>
              <a:rPr lang="en-US" dirty="0"/>
              <a:t>, </a:t>
            </a:r>
            <a:r>
              <a:rPr lang="en-US" dirty="0" err="1"/>
              <a:t>drugi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pečen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svi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nastali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istom</a:t>
            </a:r>
            <a:r>
              <a:rPr lang="en-US" dirty="0"/>
              <a:t> </a:t>
            </a:r>
            <a:r>
              <a:rPr lang="en-US" dirty="0" err="1"/>
              <a:t>receptu</a:t>
            </a:r>
            <a:r>
              <a:rPr lang="en-US" dirty="0" smtClean="0"/>
              <a:t>.</a:t>
            </a:r>
            <a:endParaRPr lang="sr-Latn-RS" dirty="0"/>
          </a:p>
          <a:p>
            <a:pPr marL="0" indent="0">
              <a:buNone/>
            </a:pPr>
            <a:r>
              <a:rPr lang="sr-Latn-RS" dirty="0" smtClean="0"/>
              <a:t>Hajde da vidimo konkretni primer sa kućnim ljubimcem:</a:t>
            </a:r>
            <a:endParaRPr lang="en-US" dirty="0" smtClean="0"/>
          </a:p>
          <a:p>
            <a:pPr marL="0" indent="0">
              <a:buNone/>
            </a:pPr>
            <a:endParaRPr lang="sr-Cyrl-RS" sz="2800" dirty="0" smtClean="0"/>
          </a:p>
        </p:txBody>
      </p:sp>
    </p:spTree>
    <p:extLst>
      <p:ext uri="{BB962C8B-B14F-4D97-AF65-F5344CB8AC3E}">
        <p14:creationId xmlns:p14="http://schemas.microsoft.com/office/powerpoint/2010/main" val="38267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892480" cy="64807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sr-Latn-RS" dirty="0">
                <a:solidFill>
                  <a:srgbClr val="00B050"/>
                </a:solidFill>
              </a:rPr>
              <a:t># Ovo je KLASA </a:t>
            </a:r>
            <a:r>
              <a:rPr lang="sr-Latn-RS" dirty="0" smtClean="0">
                <a:solidFill>
                  <a:srgbClr val="00B050"/>
                </a:solidFill>
              </a:rPr>
              <a:t>(recept, nacrt </a:t>
            </a:r>
            <a:r>
              <a:rPr lang="sr-Latn-RS" dirty="0">
                <a:solidFill>
                  <a:srgbClr val="00B050"/>
                </a:solidFill>
              </a:rPr>
              <a:t>za psa)</a:t>
            </a:r>
          </a:p>
          <a:p>
            <a:pPr marL="0" indent="0">
              <a:buNone/>
            </a:pPr>
            <a:r>
              <a:rPr lang="sr-Latn-RS" b="1" dirty="0"/>
              <a:t>class Pas:</a:t>
            </a:r>
          </a:p>
          <a:p>
            <a:pPr marL="0" indent="0">
              <a:buNone/>
            </a:pPr>
            <a:r>
              <a:rPr lang="sr-Latn-RS" b="1" dirty="0"/>
              <a:t>    def __init__(self, ime, rasa):</a:t>
            </a:r>
          </a:p>
          <a:p>
            <a:pPr marL="0" indent="0">
              <a:buNone/>
            </a:pPr>
            <a:r>
              <a:rPr lang="sr-Latn-RS" b="1" dirty="0"/>
              <a:t>        self.ime = ime        </a:t>
            </a:r>
            <a:r>
              <a:rPr lang="sr-Latn-RS" dirty="0">
                <a:solidFill>
                  <a:srgbClr val="00B050"/>
                </a:solidFill>
              </a:rPr>
              <a:t># Osobina: Ime</a:t>
            </a:r>
          </a:p>
          <a:p>
            <a:pPr marL="0" indent="0">
              <a:buNone/>
            </a:pPr>
            <a:r>
              <a:rPr lang="sr-Latn-RS" b="1" dirty="0"/>
              <a:t>        self.rasa = rasa      </a:t>
            </a:r>
            <a:r>
              <a:rPr lang="sr-Latn-RS" dirty="0">
                <a:solidFill>
                  <a:srgbClr val="00B050"/>
                </a:solidFill>
              </a:rPr>
              <a:t># Osobina: Rasa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/>
              <a:t>    </a:t>
            </a:r>
            <a:r>
              <a:rPr lang="sr-Latn-RS" b="1" dirty="0"/>
              <a:t>def laj(self):            </a:t>
            </a:r>
            <a:r>
              <a:rPr lang="sr-Latn-RS" dirty="0">
                <a:solidFill>
                  <a:srgbClr val="00B050"/>
                </a:solidFill>
              </a:rPr>
              <a:t># Veština: Lajanje</a:t>
            </a:r>
          </a:p>
          <a:p>
            <a:pPr marL="0" indent="0">
              <a:buNone/>
            </a:pPr>
            <a:r>
              <a:rPr lang="sr-Latn-RS" dirty="0"/>
              <a:t>        </a:t>
            </a:r>
            <a:r>
              <a:rPr lang="sr-Latn-RS" b="1" dirty="0"/>
              <a:t>print(f"{self.ime}, {self.rasa},  kaže: Av, av</a:t>
            </a:r>
            <a:r>
              <a:rPr lang="sr-Latn-RS" b="1" dirty="0" smtClean="0"/>
              <a:t>!")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>
                <a:solidFill>
                  <a:srgbClr val="00B050"/>
                </a:solidFill>
              </a:rPr>
              <a:t># Ovo su OBJEKTI (Pravi psi u igrici)</a:t>
            </a:r>
          </a:p>
          <a:p>
            <a:pPr marL="0" indent="0">
              <a:buNone/>
            </a:pPr>
            <a:r>
              <a:rPr lang="sr-Latn-RS" b="1" dirty="0"/>
              <a:t>moj_pas = Pas(ime="Bobi", rasa</a:t>
            </a:r>
            <a:r>
              <a:rPr lang="sr-Latn-RS" b="1" dirty="0" smtClean="0"/>
              <a:t>="Rotvajler")</a:t>
            </a:r>
            <a:endParaRPr lang="sr-Latn-RS" b="1" dirty="0"/>
          </a:p>
          <a:p>
            <a:pPr marL="0" indent="0">
              <a:buNone/>
            </a:pPr>
            <a:r>
              <a:rPr lang="sr-Latn-RS" b="1" dirty="0"/>
              <a:t>tvoj_pas = Pas(ime="Maza", rasa="Pudla")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>
                <a:solidFill>
                  <a:srgbClr val="00B050"/>
                </a:solidFill>
              </a:rPr>
              <a:t># Sada objekti mogu da koriste svoje veštine</a:t>
            </a:r>
          </a:p>
          <a:p>
            <a:pPr marL="0" indent="0">
              <a:buNone/>
            </a:pPr>
            <a:r>
              <a:rPr lang="sr-Latn-RS" b="1" dirty="0"/>
              <a:t>moj_pas.laj()</a:t>
            </a:r>
          </a:p>
          <a:p>
            <a:pPr marL="0" indent="0">
              <a:buNone/>
            </a:pPr>
            <a:r>
              <a:rPr lang="sr-Latn-RS" b="1" dirty="0"/>
              <a:t>tvoj_pas.laj()</a:t>
            </a:r>
            <a:endParaRPr lang="sr-Cyrl-RS" b="1" dirty="0" smtClean="0"/>
          </a:p>
        </p:txBody>
      </p:sp>
      <p:sp>
        <p:nvSpPr>
          <p:cNvPr id="2" name="Oval Callout 1"/>
          <p:cNvSpPr/>
          <p:nvPr/>
        </p:nvSpPr>
        <p:spPr>
          <a:xfrm>
            <a:off x="3635896" y="5661248"/>
            <a:ext cx="2448272" cy="1080120"/>
          </a:xfrm>
          <a:prstGeom prst="wedgeEllipseCallout">
            <a:avLst>
              <a:gd name="adj1" fmla="val -107465"/>
              <a:gd name="adj2" fmla="val -1637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dirty="0" smtClean="0"/>
              <a:t>Metodama i atributima pristupamo koristeći tačku.</a:t>
            </a:r>
            <a:endParaRPr lang="en-US" dirty="0"/>
          </a:p>
        </p:txBody>
      </p:sp>
      <p:sp>
        <p:nvSpPr>
          <p:cNvPr id="4" name="Oval Callout 3"/>
          <p:cNvSpPr/>
          <p:nvPr/>
        </p:nvSpPr>
        <p:spPr>
          <a:xfrm>
            <a:off x="5364088" y="0"/>
            <a:ext cx="3765065" cy="1340768"/>
          </a:xfrm>
          <a:prstGeom prst="wedgeEllipseCallout">
            <a:avLst>
              <a:gd name="adj1" fmla="val -100035"/>
              <a:gd name="adj2" fmla="val 1041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b="1" i="1" dirty="0" smtClean="0"/>
              <a:t>Pas</a:t>
            </a:r>
            <a:r>
              <a:rPr lang="sr-Latn-RS" dirty="0" smtClean="0"/>
              <a:t> </a:t>
            </a:r>
            <a:r>
              <a:rPr lang="en-US" dirty="0" smtClean="0"/>
              <a:t>je </a:t>
            </a:r>
            <a:r>
              <a:rPr lang="en-US" dirty="0" err="1" smtClean="0"/>
              <a:t>ime</a:t>
            </a:r>
            <a:r>
              <a:rPr lang="en-US" dirty="0" smtClean="0"/>
              <a:t> </a:t>
            </a:r>
            <a:r>
              <a:rPr lang="en-US" dirty="0" err="1" smtClean="0"/>
              <a:t>klase</a:t>
            </a:r>
            <a:r>
              <a:rPr lang="en-US" dirty="0" smtClean="0"/>
              <a:t>. </a:t>
            </a:r>
            <a:r>
              <a:rPr lang="sr-Latn-RS" dirty="0" smtClean="0"/>
              <a:t>Naziv velikim slovom odnosi </a:t>
            </a:r>
            <a:r>
              <a:rPr lang="sr-Latn-RS" dirty="0"/>
              <a:t> </a:t>
            </a:r>
            <a:r>
              <a:rPr lang="sr-Latn-RS" dirty="0" smtClean="0"/>
              <a:t>se na klasu. </a:t>
            </a:r>
            <a:r>
              <a:rPr lang="en-US" dirty="0" err="1" smtClean="0"/>
              <a:t>Telo</a:t>
            </a:r>
            <a:r>
              <a:rPr lang="en-US" dirty="0" smtClean="0"/>
              <a:t> </a:t>
            </a:r>
            <a:r>
              <a:rPr lang="en-US" dirty="0" err="1" smtClean="0"/>
              <a:t>kla</a:t>
            </a:r>
            <a:r>
              <a:rPr lang="sr-Latn-RS" dirty="0" smtClean="0"/>
              <a:t>s</a:t>
            </a:r>
            <a:r>
              <a:rPr lang="en-US" dirty="0" smtClean="0"/>
              <a:t>e je </a:t>
            </a:r>
            <a:r>
              <a:rPr lang="sr-Latn-RS" dirty="0"/>
              <a:t>uvučeno</a:t>
            </a:r>
            <a:r>
              <a:rPr lang="sr-Latn-RS" dirty="0" smtClean="0"/>
              <a:t>. </a:t>
            </a:r>
            <a:endParaRPr lang="en-US" dirty="0"/>
          </a:p>
        </p:txBody>
      </p:sp>
      <p:sp>
        <p:nvSpPr>
          <p:cNvPr id="5" name="Oval Callout 4"/>
          <p:cNvSpPr/>
          <p:nvPr/>
        </p:nvSpPr>
        <p:spPr>
          <a:xfrm>
            <a:off x="6138387" y="1427988"/>
            <a:ext cx="3258149" cy="1784987"/>
          </a:xfrm>
          <a:prstGeom prst="wedgeEllipseCallout">
            <a:avLst>
              <a:gd name="adj1" fmla="val -71753"/>
              <a:gd name="adj2" fmla="val -4877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__</a:t>
            </a:r>
            <a:r>
              <a:rPr lang="en-US" sz="1600" dirty="0" err="1"/>
              <a:t>init</a:t>
            </a:r>
            <a:r>
              <a:rPr lang="en-US" sz="1600" dirty="0"/>
              <a:t>__() je </a:t>
            </a:r>
            <a:r>
              <a:rPr lang="en-US" sz="1600" b="1" dirty="0" err="1"/>
              <a:t>posebna</a:t>
            </a:r>
            <a:r>
              <a:rPr lang="en-US" sz="1600" b="1" dirty="0"/>
              <a:t> </a:t>
            </a:r>
            <a:r>
              <a:rPr lang="en-US" sz="1600" b="1" dirty="0" err="1" smtClean="0"/>
              <a:t>metoda</a:t>
            </a:r>
            <a:r>
              <a:rPr lang="sr-Latn-RS" sz="1600" b="1" dirty="0" smtClean="0"/>
              <a:t>, </a:t>
            </a:r>
            <a:r>
              <a:rPr lang="fi-FI" sz="1600" b="1" dirty="0" smtClean="0"/>
              <a:t>automatski </a:t>
            </a:r>
            <a:r>
              <a:rPr lang="sr-Latn-RS" sz="1600" b="1" dirty="0" smtClean="0"/>
              <a:t>se </a:t>
            </a:r>
            <a:r>
              <a:rPr lang="fi-FI" sz="1600" b="1" dirty="0" smtClean="0"/>
              <a:t>pokreće </a:t>
            </a:r>
            <a:r>
              <a:rPr lang="fi-FI" sz="1600" b="1" dirty="0"/>
              <a:t>kada pravimo novi objekat</a:t>
            </a:r>
            <a:r>
              <a:rPr lang="fi-FI" sz="1600" dirty="0"/>
              <a:t> </a:t>
            </a:r>
            <a:r>
              <a:rPr lang="fi-FI" sz="1600" b="1" dirty="0"/>
              <a:t>neke </a:t>
            </a:r>
            <a:r>
              <a:rPr lang="fi-FI" sz="1600" b="1" dirty="0" smtClean="0"/>
              <a:t>klase</a:t>
            </a:r>
            <a:r>
              <a:rPr lang="sr-Latn-RS" sz="1600" b="1" dirty="0"/>
              <a:t>.</a:t>
            </a:r>
            <a:r>
              <a:rPr lang="sr-Latn-RS" sz="1600" dirty="0" smtClean="0"/>
              <a:t> Govori </a:t>
            </a:r>
            <a:r>
              <a:rPr lang="pl-PL" sz="1600" dirty="0" smtClean="0"/>
              <a:t>koje </a:t>
            </a:r>
            <a:r>
              <a:rPr lang="pl-PL" sz="1600" dirty="0"/>
              <a:t>podatke </a:t>
            </a:r>
            <a:r>
              <a:rPr lang="pl-PL" sz="1600" dirty="0" smtClean="0"/>
              <a:t>da objekat  </a:t>
            </a:r>
            <a:r>
              <a:rPr lang="pl-PL" sz="1600" dirty="0"/>
              <a:t>dobije na </a:t>
            </a:r>
            <a:r>
              <a:rPr lang="pl-PL" sz="1600" dirty="0" smtClean="0"/>
              <a:t>početku</a:t>
            </a:r>
            <a:r>
              <a:rPr lang="sr-Latn-RS" sz="1600" b="1" dirty="0"/>
              <a:t>.</a:t>
            </a:r>
            <a:endParaRPr lang="en-US" sz="1600" dirty="0"/>
          </a:p>
        </p:txBody>
      </p:sp>
      <p:sp>
        <p:nvSpPr>
          <p:cNvPr id="6" name="Oval Callout 5"/>
          <p:cNvSpPr/>
          <p:nvPr/>
        </p:nvSpPr>
        <p:spPr>
          <a:xfrm>
            <a:off x="6588224" y="3284984"/>
            <a:ext cx="2707917" cy="3456384"/>
          </a:xfrm>
          <a:prstGeom prst="wedgeEllipseCallout">
            <a:avLst>
              <a:gd name="adj1" fmla="val -59502"/>
              <a:gd name="adj2" fmla="val -2084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400" dirty="0" smtClean="0"/>
              <a:t>Kreiramo </a:t>
            </a:r>
            <a:r>
              <a:rPr lang="sr-Latn-RS" sz="1400" b="1" dirty="0" smtClean="0"/>
              <a:t>objekat</a:t>
            </a:r>
            <a:r>
              <a:rPr lang="sr-Latn-RS" sz="1400" dirty="0" smtClean="0"/>
              <a:t> (instancu). On je smešten u memoriji sa svojom adresom. Ova linija poziva metodu __init__() koja kreira instancu sa </a:t>
            </a:r>
            <a:r>
              <a:rPr lang="sr-Latn-RS" sz="1400" i="1" dirty="0" smtClean="0"/>
              <a:t>imenom</a:t>
            </a:r>
            <a:r>
              <a:rPr lang="sr-Latn-RS" sz="1400" dirty="0" smtClean="0"/>
              <a:t> i </a:t>
            </a:r>
            <a:r>
              <a:rPr lang="sr-Latn-RS" sz="1400" i="1" dirty="0" smtClean="0"/>
              <a:t>rasom</a:t>
            </a:r>
            <a:r>
              <a:rPr lang="sr-Latn-RS" sz="1400" dirty="0" smtClean="0"/>
              <a:t> i vraća u poziv, gde se sada napravljeni objekat dodeljuje promenljivoj </a:t>
            </a:r>
            <a:r>
              <a:rPr lang="sr-Latn-RS" sz="1400" i="1" dirty="0" smtClean="0"/>
              <a:t>moj_pas</a:t>
            </a:r>
            <a:r>
              <a:rPr lang="sr-Latn-RS" sz="1400" dirty="0" smtClean="0"/>
              <a:t>. </a:t>
            </a:r>
            <a:r>
              <a:rPr lang="sr-Latn-RS" sz="1400" b="1" dirty="0" smtClean="0"/>
              <a:t>Self</a:t>
            </a:r>
            <a:r>
              <a:rPr lang="sr-Latn-RS" sz="1400" dirty="0" smtClean="0"/>
              <a:t> je referenca, tj. pokazivač na tačno tu adresu objekta.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5489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80512" cy="66693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r-Latn-RS" sz="3800" b="1" dirty="0" smtClean="0"/>
              <a:t>Vežbanje: </a:t>
            </a:r>
            <a:r>
              <a:rPr lang="sr-Latn-RS" sz="3800" dirty="0" smtClean="0"/>
              <a:t>Probajte da dodate </a:t>
            </a:r>
            <a:r>
              <a:rPr lang="sr-Latn-RS" sz="3800" dirty="0"/>
              <a:t>novi atribut </a:t>
            </a:r>
            <a:r>
              <a:rPr lang="sr-Latn-RS" sz="3800" b="1" dirty="0" smtClean="0"/>
              <a:t>"</a:t>
            </a:r>
            <a:r>
              <a:rPr lang="en-GB" sz="3800" b="1" dirty="0" err="1" smtClean="0"/>
              <a:t>godine</a:t>
            </a:r>
            <a:r>
              <a:rPr lang="sr-Latn-RS" sz="3800" b="1" dirty="0" smtClean="0"/>
              <a:t>" </a:t>
            </a:r>
            <a:r>
              <a:rPr lang="sr-Latn-RS" sz="3800" dirty="0" smtClean="0"/>
              <a:t>i novu metodu </a:t>
            </a:r>
            <a:r>
              <a:rPr lang="en-GB" sz="3800" b="1" i="1" dirty="0" err="1" smtClean="0"/>
              <a:t>starost</a:t>
            </a:r>
            <a:r>
              <a:rPr lang="sr-Latn-RS" sz="3800" b="1" i="1" dirty="0" smtClean="0"/>
              <a:t>() </a:t>
            </a:r>
            <a:r>
              <a:rPr lang="sr-Latn-RS" sz="3800" dirty="0" smtClean="0"/>
              <a:t>koja će da ispiše  </a:t>
            </a:r>
            <a:r>
              <a:rPr lang="sr-Latn-RS" sz="3800" b="1" dirty="0" smtClean="0"/>
              <a:t>f"{</a:t>
            </a:r>
            <a:r>
              <a:rPr lang="sr-Latn-RS" sz="3800" b="1" dirty="0"/>
              <a:t>self.ime</a:t>
            </a:r>
            <a:r>
              <a:rPr lang="sr-Latn-RS" sz="3800" b="1" dirty="0" smtClean="0"/>
              <a:t>}  </a:t>
            </a:r>
            <a:r>
              <a:rPr lang="en-GB" sz="3800" b="1" dirty="0" err="1" smtClean="0"/>
              <a:t>ima</a:t>
            </a:r>
            <a:r>
              <a:rPr lang="en-GB" sz="3800" b="1" dirty="0" smtClean="0"/>
              <a:t> </a:t>
            </a:r>
            <a:r>
              <a:rPr lang="sr-Latn-RS" sz="3800" b="1" dirty="0" smtClean="0"/>
              <a:t>{self.</a:t>
            </a:r>
            <a:r>
              <a:rPr lang="en-GB" sz="3800" b="1" dirty="0" err="1" smtClean="0"/>
              <a:t>godine</a:t>
            </a:r>
            <a:r>
              <a:rPr lang="sr-Latn-RS" sz="3800" b="1" dirty="0" smtClean="0"/>
              <a:t>} </a:t>
            </a:r>
            <a:r>
              <a:rPr lang="en-GB" sz="3800" b="1" dirty="0" err="1" smtClean="0"/>
              <a:t>godina</a:t>
            </a:r>
            <a:r>
              <a:rPr lang="sr-Latn-RS" sz="3800" b="1" dirty="0" smtClean="0"/>
              <a:t>! “</a:t>
            </a:r>
            <a:endParaRPr lang="en-GB" sz="3800" b="1" dirty="0" smtClean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r>
              <a:rPr lang="en-US" b="1" dirty="0"/>
              <a:t>class Pas:</a:t>
            </a:r>
          </a:p>
          <a:p>
            <a:pPr marL="0" indent="0">
              <a:buNone/>
            </a:pPr>
            <a:r>
              <a:rPr lang="en-US" b="1" dirty="0"/>
              <a:t>    </a:t>
            </a:r>
            <a:r>
              <a:rPr lang="en-US" b="1" dirty="0" err="1"/>
              <a:t>def</a:t>
            </a:r>
            <a:r>
              <a:rPr lang="en-US" b="1" dirty="0"/>
              <a:t> __</a:t>
            </a:r>
            <a:r>
              <a:rPr lang="en-US" b="1" dirty="0" err="1"/>
              <a:t>init</a:t>
            </a:r>
            <a:r>
              <a:rPr lang="en-US" b="1" dirty="0"/>
              <a:t>__(self, </a:t>
            </a:r>
            <a:r>
              <a:rPr lang="en-US" b="1" dirty="0" err="1"/>
              <a:t>ime</a:t>
            </a:r>
            <a:r>
              <a:rPr lang="en-US" b="1" dirty="0"/>
              <a:t>, rasa, </a:t>
            </a:r>
            <a:r>
              <a:rPr lang="en-US" b="1" dirty="0" err="1"/>
              <a:t>godine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b="1" dirty="0"/>
              <a:t>        </a:t>
            </a:r>
            <a:r>
              <a:rPr lang="en-US" b="1" dirty="0" err="1"/>
              <a:t>self.ime</a:t>
            </a:r>
            <a:r>
              <a:rPr lang="en-US" b="1" dirty="0"/>
              <a:t> = </a:t>
            </a:r>
            <a:r>
              <a:rPr lang="en-US" b="1" dirty="0" err="1"/>
              <a:t>ime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        </a:t>
            </a:r>
            <a:r>
              <a:rPr lang="en-US" b="1" dirty="0" err="1"/>
              <a:t>self.rasa</a:t>
            </a:r>
            <a:r>
              <a:rPr lang="en-US" b="1" dirty="0"/>
              <a:t> = rasa</a:t>
            </a:r>
          </a:p>
          <a:p>
            <a:pPr marL="0" indent="0">
              <a:buNone/>
            </a:pPr>
            <a:r>
              <a:rPr lang="en-US" b="1" dirty="0"/>
              <a:t>        </a:t>
            </a:r>
            <a:r>
              <a:rPr lang="en-US" b="1" dirty="0" err="1"/>
              <a:t>self.godine</a:t>
            </a:r>
            <a:r>
              <a:rPr lang="en-US" b="1" dirty="0"/>
              <a:t> = </a:t>
            </a:r>
            <a:r>
              <a:rPr lang="en-US" b="1" dirty="0" err="1"/>
              <a:t>godine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    </a:t>
            </a: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b="1" dirty="0" err="1"/>
              <a:t>laj</a:t>
            </a:r>
            <a:r>
              <a:rPr lang="en-US" b="1" dirty="0"/>
              <a:t>(self):</a:t>
            </a:r>
          </a:p>
          <a:p>
            <a:pPr marL="0" indent="0">
              <a:buNone/>
            </a:pPr>
            <a:r>
              <a:rPr lang="en-US" b="1" dirty="0"/>
              <a:t>        print(f"{</a:t>
            </a:r>
            <a:r>
              <a:rPr lang="en-US" b="1" dirty="0" err="1"/>
              <a:t>self.ime</a:t>
            </a:r>
            <a:r>
              <a:rPr lang="en-US" b="1" dirty="0"/>
              <a:t>}, {</a:t>
            </a:r>
            <a:r>
              <a:rPr lang="en-US" b="1" dirty="0" err="1"/>
              <a:t>self.rasa</a:t>
            </a:r>
            <a:r>
              <a:rPr lang="en-US" b="1" dirty="0"/>
              <a:t>},  </a:t>
            </a:r>
            <a:r>
              <a:rPr lang="en-US" b="1" dirty="0" err="1"/>
              <a:t>kaže</a:t>
            </a:r>
            <a:r>
              <a:rPr lang="en-US" b="1" dirty="0"/>
              <a:t>: Av, </a:t>
            </a:r>
            <a:r>
              <a:rPr lang="en-US" b="1" dirty="0" err="1"/>
              <a:t>av</a:t>
            </a:r>
            <a:r>
              <a:rPr lang="en-US" b="1" dirty="0"/>
              <a:t>!")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    </a:t>
            </a: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b="1" dirty="0" err="1"/>
              <a:t>starost</a:t>
            </a:r>
            <a:r>
              <a:rPr lang="en-US" b="1" dirty="0"/>
              <a:t>(self):</a:t>
            </a:r>
          </a:p>
          <a:p>
            <a:pPr marL="0" indent="0">
              <a:buNone/>
            </a:pPr>
            <a:r>
              <a:rPr lang="en-US" b="1" dirty="0"/>
              <a:t>        print(f"{</a:t>
            </a:r>
            <a:r>
              <a:rPr lang="en-US" b="1" dirty="0" err="1"/>
              <a:t>self.ime</a:t>
            </a:r>
            <a:r>
              <a:rPr lang="en-US" b="1" dirty="0"/>
              <a:t>}  </a:t>
            </a:r>
            <a:r>
              <a:rPr lang="en-US" b="1" dirty="0" err="1"/>
              <a:t>ima</a:t>
            </a:r>
            <a:r>
              <a:rPr lang="en-US" b="1" dirty="0"/>
              <a:t> {</a:t>
            </a:r>
            <a:r>
              <a:rPr lang="en-US" b="1" dirty="0" err="1"/>
              <a:t>self.godine</a:t>
            </a:r>
            <a:r>
              <a:rPr lang="en-US" b="1" dirty="0"/>
              <a:t>} </a:t>
            </a:r>
            <a:r>
              <a:rPr lang="en-US" b="1" dirty="0" err="1"/>
              <a:t>godina</a:t>
            </a:r>
            <a:r>
              <a:rPr lang="en-US" b="1" dirty="0"/>
              <a:t>!")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 err="1"/>
              <a:t>moj_pas</a:t>
            </a:r>
            <a:r>
              <a:rPr lang="en-US" b="1" dirty="0"/>
              <a:t> = Pas(</a:t>
            </a:r>
            <a:r>
              <a:rPr lang="en-US" b="1" dirty="0" err="1"/>
              <a:t>ime</a:t>
            </a:r>
            <a:r>
              <a:rPr lang="en-US" b="1" dirty="0"/>
              <a:t>="</a:t>
            </a:r>
            <a:r>
              <a:rPr lang="en-US" b="1" dirty="0" err="1"/>
              <a:t>Bobi</a:t>
            </a:r>
            <a:r>
              <a:rPr lang="en-US" b="1" dirty="0"/>
              <a:t>", rasa="</a:t>
            </a:r>
            <a:r>
              <a:rPr lang="en-US" b="1" dirty="0" err="1"/>
              <a:t>Rotvajler</a:t>
            </a:r>
            <a:r>
              <a:rPr lang="en-US" b="1" dirty="0"/>
              <a:t>", </a:t>
            </a:r>
            <a:r>
              <a:rPr lang="en-US" b="1" dirty="0" err="1"/>
              <a:t>godine</a:t>
            </a:r>
            <a:r>
              <a:rPr lang="en-US" b="1" dirty="0"/>
              <a:t> =4)</a:t>
            </a:r>
          </a:p>
          <a:p>
            <a:pPr marL="0" indent="0">
              <a:buNone/>
            </a:pPr>
            <a:r>
              <a:rPr lang="en-US" b="1" dirty="0" err="1"/>
              <a:t>tvoj_pas</a:t>
            </a:r>
            <a:r>
              <a:rPr lang="en-US" b="1" dirty="0"/>
              <a:t> = Pas(</a:t>
            </a:r>
            <a:r>
              <a:rPr lang="en-US" b="1" dirty="0" err="1"/>
              <a:t>ime</a:t>
            </a:r>
            <a:r>
              <a:rPr lang="en-US" b="1" dirty="0"/>
              <a:t>="</a:t>
            </a:r>
            <a:r>
              <a:rPr lang="en-US" b="1" dirty="0" err="1"/>
              <a:t>Maza</a:t>
            </a:r>
            <a:r>
              <a:rPr lang="en-US" b="1" dirty="0"/>
              <a:t>", rasa="</a:t>
            </a:r>
            <a:r>
              <a:rPr lang="en-US" b="1" dirty="0" err="1"/>
              <a:t>Pudla</a:t>
            </a:r>
            <a:r>
              <a:rPr lang="en-US" b="1" dirty="0"/>
              <a:t>", </a:t>
            </a:r>
            <a:r>
              <a:rPr lang="en-US" b="1" dirty="0" err="1"/>
              <a:t>godine</a:t>
            </a:r>
            <a:r>
              <a:rPr lang="en-US" b="1" dirty="0"/>
              <a:t>=3)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 err="1"/>
              <a:t>moj_pas.laj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 err="1"/>
              <a:t>moj_pas.starost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 err="1"/>
              <a:t>tvoj_pas.laj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 err="1"/>
              <a:t>tvoj_pas.starost</a:t>
            </a:r>
            <a:r>
              <a:rPr lang="en-US" b="1" dirty="0"/>
              <a:t>()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60189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80512" cy="666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sz="3400" dirty="0" smtClean="0"/>
              <a:t>Uverimo se još jednom da je klasa novi tip koji mi definišemo. Python ima ugrađenu f-ju </a:t>
            </a:r>
            <a:r>
              <a:rPr lang="sr-Latn-RS" sz="3400" b="1" dirty="0" smtClean="0"/>
              <a:t>type() </a:t>
            </a:r>
            <a:r>
              <a:rPr lang="sr-Latn-RS" sz="3400" dirty="0" smtClean="0"/>
              <a:t>koja vraća podatak, kog tipa je neki objekat. Na primer:</a:t>
            </a:r>
          </a:p>
          <a:p>
            <a:pPr marL="0" indent="0">
              <a:buNone/>
            </a:pPr>
            <a:r>
              <a:rPr lang="sr-Latn-RS" sz="3400" b="1" dirty="0" smtClean="0"/>
              <a:t>x = 10</a:t>
            </a:r>
          </a:p>
          <a:p>
            <a:pPr marL="0" indent="0">
              <a:buNone/>
            </a:pPr>
            <a:r>
              <a:rPr lang="sr-Latn-RS" sz="3400" b="1" dirty="0" smtClean="0"/>
              <a:t>print(type(x))  # Daje rezultat </a:t>
            </a:r>
            <a:r>
              <a:rPr lang="en-US" sz="3400" b="1" dirty="0"/>
              <a:t>&lt;class </a:t>
            </a:r>
            <a:r>
              <a:rPr lang="en-US" b="1" dirty="0"/>
              <a:t>'</a:t>
            </a:r>
            <a:r>
              <a:rPr lang="en-US" b="1" dirty="0" err="1"/>
              <a:t>int</a:t>
            </a:r>
            <a:r>
              <a:rPr lang="en-US" b="1" dirty="0" smtClean="0"/>
              <a:t>'&gt;</a:t>
            </a:r>
            <a:endParaRPr lang="sr-Latn-RS" b="1" dirty="0" smtClean="0"/>
          </a:p>
          <a:p>
            <a:pPr marL="0" indent="0">
              <a:buNone/>
            </a:pPr>
            <a:endParaRPr lang="sr-Latn-RS" sz="3800" dirty="0" smtClean="0"/>
          </a:p>
          <a:p>
            <a:pPr marL="0" indent="0">
              <a:buNone/>
            </a:pPr>
            <a:endParaRPr lang="en-GB" sz="3800" b="1" dirty="0" smtClean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2" name="Rounded Rectangular Callout 1"/>
          <p:cNvSpPr/>
          <p:nvPr/>
        </p:nvSpPr>
        <p:spPr>
          <a:xfrm>
            <a:off x="5508104" y="1556792"/>
            <a:ext cx="3707904" cy="792088"/>
          </a:xfrm>
          <a:prstGeom prst="wedgeRoundRectCallout">
            <a:avLst>
              <a:gd name="adj1" fmla="val 3403"/>
              <a:gd name="adj2" fmla="val 7324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700" dirty="0" smtClean="0"/>
              <a:t>Govori nam da je </a:t>
            </a:r>
            <a:r>
              <a:rPr lang="sr-Latn-RS" sz="1700" b="1" dirty="0" smtClean="0"/>
              <a:t>x</a:t>
            </a:r>
            <a:r>
              <a:rPr lang="sr-Latn-RS" sz="1700" dirty="0" smtClean="0"/>
              <a:t> objekat klase </a:t>
            </a:r>
            <a:r>
              <a:rPr lang="sr-Latn-RS" sz="1700" b="1" dirty="0" smtClean="0"/>
              <a:t>int</a:t>
            </a:r>
            <a:r>
              <a:rPr lang="sr-Latn-RS" sz="1700" dirty="0" smtClean="0"/>
              <a:t>. Dakle x = 1 je kreiranje (instanciranje) objekta klase int.</a:t>
            </a:r>
            <a:endParaRPr lang="en-US" sz="17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47" y="3140968"/>
            <a:ext cx="5847708" cy="3419276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9821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400" b="1" dirty="0" smtClean="0"/>
              <a:t>Domaći zadatak.</a:t>
            </a:r>
            <a:endParaRPr lang="en-GB" sz="2400" b="1" dirty="0" smtClean="0"/>
          </a:p>
          <a:p>
            <a:r>
              <a:rPr lang="sr-Latn-RS" sz="2400" dirty="0" smtClean="0"/>
              <a:t>Kreirati klasu </a:t>
            </a:r>
            <a:r>
              <a:rPr lang="sr-Latn-RS" sz="2400" b="1" dirty="0" smtClean="0"/>
              <a:t>Auto</a:t>
            </a:r>
            <a:r>
              <a:rPr lang="sr-Latn-RS" sz="2400" dirty="0" smtClean="0"/>
              <a:t>. </a:t>
            </a:r>
            <a:endParaRPr lang="en-GB" sz="2400" dirty="0" smtClean="0"/>
          </a:p>
          <a:p>
            <a:r>
              <a:rPr lang="sr-Latn-RS" sz="2400" b="1" i="1" dirty="0" smtClean="0"/>
              <a:t>__init__ </a:t>
            </a:r>
            <a:r>
              <a:rPr lang="sr-Latn-RS" sz="2400" dirty="0" smtClean="0"/>
              <a:t>čuva 2 atributa</a:t>
            </a:r>
            <a:r>
              <a:rPr lang="en-US" sz="2400" dirty="0" smtClean="0"/>
              <a:t>:</a:t>
            </a:r>
            <a:r>
              <a:rPr lang="sr-Latn-RS" sz="2400" dirty="0" smtClean="0"/>
              <a:t> </a:t>
            </a:r>
            <a:r>
              <a:rPr lang="sr-Latn-RS" sz="2400" b="1" dirty="0" smtClean="0"/>
              <a:t>proizvodjac </a:t>
            </a:r>
            <a:r>
              <a:rPr lang="sr-Latn-RS" sz="2400" dirty="0" smtClean="0"/>
              <a:t>(može biti na primer Pežo, Ford...)</a:t>
            </a:r>
            <a:r>
              <a:rPr lang="en-GB" sz="2400" b="1" dirty="0" smtClean="0"/>
              <a:t>, </a:t>
            </a:r>
            <a:r>
              <a:rPr lang="sr-Latn-RS" sz="2400" b="1" dirty="0" smtClean="0"/>
              <a:t>model</a:t>
            </a:r>
            <a:r>
              <a:rPr lang="en-GB" sz="2400" b="1" dirty="0" smtClean="0"/>
              <a:t> </a:t>
            </a:r>
            <a:r>
              <a:rPr lang="en-GB" sz="2400" dirty="0" smtClean="0"/>
              <a:t>(</a:t>
            </a:r>
            <a:r>
              <a:rPr lang="sr-Latn-RS" sz="2400" dirty="0" smtClean="0"/>
              <a:t>može biti na primer 308, Focus...</a:t>
            </a:r>
            <a:r>
              <a:rPr lang="en-GB" sz="2400" dirty="0" smtClean="0"/>
              <a:t>)</a:t>
            </a:r>
            <a:r>
              <a:rPr lang="sr-Latn-RS" sz="2400" dirty="0" smtClean="0"/>
              <a:t>.</a:t>
            </a:r>
          </a:p>
          <a:p>
            <a:r>
              <a:rPr lang="sr-Latn-RS" sz="2400" dirty="0" smtClean="0"/>
              <a:t>Metoda </a:t>
            </a:r>
            <a:r>
              <a:rPr lang="sr-Latn-RS" sz="2400" b="1" i="1" dirty="0" smtClean="0"/>
              <a:t>opisi_auto</a:t>
            </a:r>
            <a:r>
              <a:rPr lang="sr-Latn-RS" sz="2400" dirty="0" smtClean="0"/>
              <a:t> štampa prethodne 2 informacije</a:t>
            </a:r>
            <a:r>
              <a:rPr lang="en-GB" sz="2400" dirty="0" smtClean="0"/>
              <a:t> (</a:t>
            </a:r>
            <a:r>
              <a:rPr lang="en-GB" sz="2400" dirty="0" err="1" smtClean="0"/>
              <a:t>na</a:t>
            </a:r>
            <a:r>
              <a:rPr lang="en-GB" sz="2400" dirty="0" smtClean="0"/>
              <a:t> primer: </a:t>
            </a:r>
            <a:r>
              <a:rPr lang="sr-Latn-RS" sz="2400" i="1" dirty="0" smtClean="0"/>
              <a:t>„Auto </a:t>
            </a:r>
            <a:r>
              <a:rPr lang="en-US" sz="2400" i="1" dirty="0" smtClean="0"/>
              <a:t>je</a:t>
            </a:r>
            <a:r>
              <a:rPr lang="sr-Latn-RS" sz="2400" i="1" dirty="0" smtClean="0"/>
              <a:t> </a:t>
            </a:r>
            <a:r>
              <a:rPr lang="en-GB" sz="2400" i="1" dirty="0" err="1" smtClean="0"/>
              <a:t>Pe</a:t>
            </a:r>
            <a:r>
              <a:rPr lang="sr-Latn-RS" sz="2400" i="1" dirty="0" smtClean="0"/>
              <a:t>žo, model 308“</a:t>
            </a:r>
            <a:r>
              <a:rPr lang="en-US" sz="2400" dirty="0" smtClean="0"/>
              <a:t>)</a:t>
            </a:r>
            <a:r>
              <a:rPr lang="en-GB" sz="2400" dirty="0" smtClean="0"/>
              <a:t>.</a:t>
            </a:r>
          </a:p>
          <a:p>
            <a:r>
              <a:rPr lang="en-GB" sz="2400" dirty="0" smtClean="0"/>
              <a:t>M</a:t>
            </a:r>
            <a:r>
              <a:rPr lang="sr-Latn-RS" sz="2400" dirty="0" smtClean="0"/>
              <a:t>etoda </a:t>
            </a:r>
            <a:r>
              <a:rPr lang="sr-Latn-RS" sz="2400" b="1" i="1" dirty="0" smtClean="0"/>
              <a:t>godiste</a:t>
            </a:r>
            <a:r>
              <a:rPr lang="sr-Latn-RS" sz="2400" dirty="0" smtClean="0"/>
              <a:t> prima promenljivu </a:t>
            </a:r>
            <a:r>
              <a:rPr lang="sr-Latn-RS" sz="2400" b="1" dirty="0" smtClean="0"/>
              <a:t>godina</a:t>
            </a:r>
            <a:r>
              <a:rPr lang="sr-Latn-RS" sz="2400" dirty="0" smtClean="0"/>
              <a:t> i štampa koliko godina ima auto. Na primer: „Auto ima </a:t>
            </a:r>
            <a:r>
              <a:rPr lang="en-GB" sz="2400" dirty="0" smtClean="0"/>
              <a:t>{</a:t>
            </a:r>
            <a:r>
              <a:rPr lang="sr-Latn-RS" sz="2400" dirty="0" smtClean="0"/>
              <a:t>202</a:t>
            </a:r>
            <a:r>
              <a:rPr lang="en-US" sz="2400" dirty="0" smtClean="0"/>
              <a:t>6</a:t>
            </a:r>
            <a:r>
              <a:rPr lang="sr-Latn-RS" sz="2400" dirty="0" smtClean="0"/>
              <a:t>-godina</a:t>
            </a:r>
            <a:r>
              <a:rPr lang="en-GB" sz="2400" dirty="0" smtClean="0"/>
              <a:t>}</a:t>
            </a:r>
            <a:r>
              <a:rPr lang="sr-Latn-RS" sz="2400" dirty="0" smtClean="0"/>
              <a:t> godina“. </a:t>
            </a:r>
          </a:p>
          <a:p>
            <a:r>
              <a:rPr lang="sr-Latn-RS" sz="2400" dirty="0" smtClean="0"/>
              <a:t>Kreirati 2 instance: </a:t>
            </a:r>
            <a:r>
              <a:rPr lang="sr-Latn-RS" sz="2400" b="1" i="1" dirty="0" smtClean="0"/>
              <a:t>moj_auto</a:t>
            </a:r>
            <a:r>
              <a:rPr lang="sr-Latn-RS" sz="2400" dirty="0" smtClean="0"/>
              <a:t> i </a:t>
            </a:r>
            <a:r>
              <a:rPr lang="sr-Latn-RS" sz="2400" b="1" i="1" dirty="0" smtClean="0"/>
              <a:t>komsijin_auto</a:t>
            </a:r>
            <a:r>
              <a:rPr lang="sr-Latn-RS" sz="2400" dirty="0" smtClean="0"/>
              <a:t>, a zatim se koriste ove  2 metode. Ali tako da te program najpre pita da uneseš 3 podatka (</a:t>
            </a:r>
            <a:r>
              <a:rPr lang="sr-Latn-RS" sz="2400" i="1" dirty="0" smtClean="0"/>
              <a:t>proizvodjac</a:t>
            </a:r>
            <a:r>
              <a:rPr lang="sr-Latn-RS" sz="2400" dirty="0" smtClean="0"/>
              <a:t>, </a:t>
            </a:r>
            <a:r>
              <a:rPr lang="sr-Latn-RS" sz="2400" i="1" dirty="0" smtClean="0"/>
              <a:t>model</a:t>
            </a:r>
            <a:r>
              <a:rPr lang="sr-Latn-RS" sz="2400" dirty="0" smtClean="0"/>
              <a:t> i </a:t>
            </a:r>
            <a:r>
              <a:rPr lang="sr-Latn-RS" sz="2400" i="1" dirty="0" smtClean="0"/>
              <a:t>godina</a:t>
            </a:r>
            <a:r>
              <a:rPr lang="sr-Latn-RS" sz="2400" dirty="0" smtClean="0"/>
              <a:t> kada je auto proizveden) za </a:t>
            </a:r>
            <a:r>
              <a:rPr lang="sr-Latn-RS" sz="2400" i="1" dirty="0" smtClean="0"/>
              <a:t>moj_auto,</a:t>
            </a:r>
            <a:r>
              <a:rPr lang="sr-Latn-RS" sz="2400" dirty="0" smtClean="0"/>
              <a:t> ali i za </a:t>
            </a:r>
            <a:r>
              <a:rPr lang="sr-Latn-RS" sz="2400" i="1" dirty="0" smtClean="0"/>
              <a:t>komsijin_auto </a:t>
            </a:r>
            <a:r>
              <a:rPr lang="sr-Latn-RS" sz="2400" dirty="0" smtClean="0"/>
              <a:t>i to pre njihovih instanciranja</a:t>
            </a:r>
            <a:r>
              <a:rPr lang="en-GB" sz="2400" dirty="0" smtClean="0"/>
              <a:t>:</a:t>
            </a:r>
          </a:p>
          <a:p>
            <a:pPr marL="0" indent="0">
              <a:buNone/>
            </a:pPr>
            <a:r>
              <a:rPr lang="en-US" sz="2400" dirty="0" smtClean="0"/>
              <a:t>	"Koji </a:t>
            </a:r>
            <a:r>
              <a:rPr lang="en-US" sz="2400" dirty="0"/>
              <a:t>je </a:t>
            </a:r>
            <a:r>
              <a:rPr lang="en-US" sz="2400" dirty="0" err="1"/>
              <a:t>proizvodjac</a:t>
            </a:r>
            <a:r>
              <a:rPr lang="en-US" sz="2400" dirty="0"/>
              <a:t> </a:t>
            </a:r>
            <a:r>
              <a:rPr lang="en-US" sz="2400" dirty="0" err="1"/>
              <a:t>automobila</a:t>
            </a:r>
            <a:r>
              <a:rPr lang="en-US" sz="2400" dirty="0"/>
              <a:t>? </a:t>
            </a:r>
            <a:r>
              <a:rPr lang="en-US" sz="2400" dirty="0" smtClean="0"/>
              <a:t>"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	"Koji </a:t>
            </a:r>
            <a:r>
              <a:rPr lang="en-US" sz="2400" dirty="0"/>
              <a:t>je model </a:t>
            </a:r>
            <a:r>
              <a:rPr lang="en-US" sz="2400" dirty="0" err="1"/>
              <a:t>automobila</a:t>
            </a:r>
            <a:r>
              <a:rPr lang="en-US" sz="2400" dirty="0"/>
              <a:t>? </a:t>
            </a:r>
            <a:r>
              <a:rPr lang="en-US" sz="2400" dirty="0" smtClean="0"/>
              <a:t>"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"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en-US" sz="2400" dirty="0" err="1" smtClean="0"/>
              <a:t>godine</a:t>
            </a:r>
            <a:r>
              <a:rPr lang="en-US" sz="2400" dirty="0" smtClean="0"/>
              <a:t> je auto </a:t>
            </a:r>
            <a:r>
              <a:rPr lang="en-US" sz="2400" dirty="0" err="1" smtClean="0"/>
              <a:t>proizveden</a:t>
            </a:r>
            <a:r>
              <a:rPr lang="en-US" sz="2400" dirty="0" smtClean="0"/>
              <a:t>? "</a:t>
            </a:r>
            <a:endParaRPr lang="sr-Latn-RS" sz="2400" dirty="0" smtClean="0"/>
          </a:p>
          <a:p>
            <a:pPr marL="0" indent="0">
              <a:buNone/>
            </a:pPr>
            <a:endParaRPr lang="sr-Latn-RS" sz="2400" dirty="0" smtClean="0"/>
          </a:p>
          <a:p>
            <a:pPr marL="0" indent="0">
              <a:buNone/>
            </a:pPr>
            <a:endParaRPr lang="sr-Latn-RS" sz="2000" b="1" dirty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416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1800" b="1" dirty="0" smtClean="0"/>
              <a:t>Rešenje domaćeg zadatka:</a:t>
            </a:r>
            <a:endParaRPr lang="en-GB" sz="1800" b="1" dirty="0" smtClean="0"/>
          </a:p>
          <a:p>
            <a:pPr marL="0" indent="0">
              <a:buNone/>
            </a:pPr>
            <a:r>
              <a:rPr lang="en-US" sz="1300" b="1" dirty="0"/>
              <a:t>class Auto:</a:t>
            </a:r>
          </a:p>
          <a:p>
            <a:pPr marL="0" indent="0">
              <a:buNone/>
            </a:pPr>
            <a:r>
              <a:rPr lang="en-US" sz="1300" b="1" dirty="0"/>
              <a:t>    """</a:t>
            </a:r>
            <a:r>
              <a:rPr lang="en-US" sz="1300" b="1" dirty="0" err="1"/>
              <a:t>Klasa</a:t>
            </a:r>
            <a:r>
              <a:rPr lang="en-US" sz="1300" b="1" dirty="0"/>
              <a:t> </a:t>
            </a:r>
            <a:r>
              <a:rPr lang="en-US" sz="1300" b="1" dirty="0" err="1"/>
              <a:t>koja</a:t>
            </a:r>
            <a:r>
              <a:rPr lang="en-US" sz="1300" b="1" dirty="0"/>
              <a:t> </a:t>
            </a:r>
            <a:r>
              <a:rPr lang="en-US" sz="1300" b="1" dirty="0" err="1"/>
              <a:t>predstavlja</a:t>
            </a:r>
            <a:r>
              <a:rPr lang="en-US" sz="1300" b="1" dirty="0"/>
              <a:t> </a:t>
            </a:r>
            <a:r>
              <a:rPr lang="en-US" sz="1300" b="1" dirty="0" err="1"/>
              <a:t>automobil</a:t>
            </a:r>
            <a:r>
              <a:rPr lang="en-US" sz="1300" b="1" dirty="0"/>
              <a:t>."""</a:t>
            </a:r>
          </a:p>
          <a:p>
            <a:pPr marL="0" indent="0">
              <a:buNone/>
            </a:pPr>
            <a:r>
              <a:rPr lang="en-US" sz="1300" b="1" dirty="0"/>
              <a:t>    </a:t>
            </a:r>
            <a:r>
              <a:rPr lang="en-US" sz="1300" b="1" dirty="0" err="1"/>
              <a:t>def</a:t>
            </a:r>
            <a:r>
              <a:rPr lang="en-US" sz="1300" b="1" dirty="0"/>
              <a:t> __</a:t>
            </a:r>
            <a:r>
              <a:rPr lang="en-US" sz="1300" b="1" dirty="0" err="1"/>
              <a:t>init</a:t>
            </a:r>
            <a:r>
              <a:rPr lang="en-US" sz="1300" b="1" dirty="0"/>
              <a:t>__(self, </a:t>
            </a:r>
            <a:r>
              <a:rPr lang="en-US" sz="1300" b="1" dirty="0" err="1"/>
              <a:t>proizvodjac</a:t>
            </a:r>
            <a:r>
              <a:rPr lang="en-US" sz="1300" b="1" dirty="0"/>
              <a:t>, model):</a:t>
            </a:r>
          </a:p>
          <a:p>
            <a:pPr marL="0" indent="0">
              <a:buNone/>
            </a:pPr>
            <a:r>
              <a:rPr lang="en-US" sz="1300" b="1" dirty="0"/>
              <a:t>        """</a:t>
            </a:r>
            <a:r>
              <a:rPr lang="en-US" sz="1300" b="1" dirty="0" err="1" smtClean="0"/>
              <a:t>Ini</a:t>
            </a:r>
            <a:r>
              <a:rPr lang="sr-Latn-RS" sz="1300" b="1" dirty="0" smtClean="0"/>
              <a:t>ci</a:t>
            </a:r>
            <a:r>
              <a:rPr lang="en-US" sz="1300" b="1" dirty="0" err="1" smtClean="0"/>
              <a:t>aliz</a:t>
            </a:r>
            <a:r>
              <a:rPr lang="sr-Latn-RS" sz="1300" b="1" dirty="0" smtClean="0"/>
              <a:t>acija atributa </a:t>
            </a:r>
            <a:r>
              <a:rPr lang="en-US" sz="1300" b="1" dirty="0" err="1" smtClean="0"/>
              <a:t>koji</a:t>
            </a:r>
            <a:r>
              <a:rPr lang="en-US" sz="1300" b="1" dirty="0" smtClean="0"/>
              <a:t> </a:t>
            </a:r>
            <a:r>
              <a:rPr lang="en-US" sz="1300" b="1" dirty="0" err="1" smtClean="0"/>
              <a:t>opisuju</a:t>
            </a:r>
            <a:r>
              <a:rPr lang="en-US" sz="1300" b="1" dirty="0" smtClean="0"/>
              <a:t> </a:t>
            </a:r>
            <a:r>
              <a:rPr lang="sr-Latn-RS" sz="1300" b="1" dirty="0" smtClean="0"/>
              <a:t>auto</a:t>
            </a:r>
            <a:r>
              <a:rPr lang="en-US" sz="1300" b="1" dirty="0" smtClean="0"/>
              <a:t>."""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/>
              <a:t>        </a:t>
            </a:r>
            <a:r>
              <a:rPr lang="en-US" sz="1300" b="1" dirty="0" err="1"/>
              <a:t>self.proizvodjac</a:t>
            </a:r>
            <a:r>
              <a:rPr lang="en-US" sz="1300" b="1" dirty="0"/>
              <a:t> = </a:t>
            </a:r>
            <a:r>
              <a:rPr lang="en-US" sz="1300" b="1" dirty="0" err="1"/>
              <a:t>proizvodjac</a:t>
            </a:r>
            <a:endParaRPr lang="en-US" sz="1300" b="1" dirty="0"/>
          </a:p>
          <a:p>
            <a:pPr marL="0" indent="0">
              <a:buNone/>
            </a:pPr>
            <a:r>
              <a:rPr lang="en-US" sz="1300" b="1" dirty="0"/>
              <a:t>        </a:t>
            </a:r>
            <a:r>
              <a:rPr lang="en-US" sz="1300" b="1" dirty="0" err="1"/>
              <a:t>self.model</a:t>
            </a:r>
            <a:r>
              <a:rPr lang="en-US" sz="1300" b="1" dirty="0"/>
              <a:t> = model</a:t>
            </a:r>
          </a:p>
          <a:p>
            <a:pPr marL="0" indent="0">
              <a:buNone/>
            </a:pPr>
            <a:r>
              <a:rPr lang="en-US" sz="1300" b="1" dirty="0"/>
              <a:t>        </a:t>
            </a:r>
          </a:p>
          <a:p>
            <a:pPr marL="0" indent="0">
              <a:buNone/>
            </a:pPr>
            <a:r>
              <a:rPr lang="en-US" sz="1300" b="1" dirty="0"/>
              <a:t>    </a:t>
            </a:r>
            <a:r>
              <a:rPr lang="en-US" sz="1300" b="1" dirty="0" err="1"/>
              <a:t>def</a:t>
            </a:r>
            <a:r>
              <a:rPr lang="en-US" sz="1300" b="1" dirty="0"/>
              <a:t> </a:t>
            </a:r>
            <a:r>
              <a:rPr lang="en-US" sz="1300" b="1" dirty="0" err="1"/>
              <a:t>opisi_auto</a:t>
            </a:r>
            <a:r>
              <a:rPr lang="en-US" sz="1300" b="1" dirty="0"/>
              <a:t>(self):</a:t>
            </a:r>
          </a:p>
          <a:p>
            <a:pPr marL="0" indent="0">
              <a:buNone/>
            </a:pPr>
            <a:r>
              <a:rPr lang="en-US" sz="1300" b="1" dirty="0"/>
              <a:t>        """</a:t>
            </a:r>
            <a:r>
              <a:rPr lang="en-US" sz="1300" b="1" dirty="0" err="1"/>
              <a:t>Prikazuje</a:t>
            </a:r>
            <a:r>
              <a:rPr lang="en-US" sz="1300" b="1" dirty="0"/>
              <a:t> </a:t>
            </a:r>
            <a:r>
              <a:rPr lang="en-US" sz="1300" b="1" dirty="0" err="1"/>
              <a:t>osnovne</a:t>
            </a:r>
            <a:r>
              <a:rPr lang="en-US" sz="1300" b="1" dirty="0"/>
              <a:t> </a:t>
            </a:r>
            <a:r>
              <a:rPr lang="en-US" sz="1300" b="1" dirty="0" err="1"/>
              <a:t>podatke</a:t>
            </a:r>
            <a:r>
              <a:rPr lang="en-US" sz="1300" b="1" dirty="0"/>
              <a:t> </a:t>
            </a:r>
            <a:r>
              <a:rPr lang="en-US" sz="1300" b="1" dirty="0" err="1"/>
              <a:t>automobila</a:t>
            </a:r>
            <a:r>
              <a:rPr lang="en-US" sz="1300" b="1" dirty="0"/>
              <a:t>."""</a:t>
            </a:r>
          </a:p>
          <a:p>
            <a:pPr marL="0" indent="0">
              <a:buNone/>
            </a:pPr>
            <a:r>
              <a:rPr lang="en-US" sz="1300" b="1" dirty="0"/>
              <a:t>        print(f" Auto je  {</a:t>
            </a:r>
            <a:r>
              <a:rPr lang="en-US" sz="1300" b="1" dirty="0" err="1"/>
              <a:t>self.proizvodjac</a:t>
            </a:r>
            <a:r>
              <a:rPr lang="en-US" sz="1300" b="1" dirty="0"/>
              <a:t>}  , model {</a:t>
            </a:r>
            <a:r>
              <a:rPr lang="en-US" sz="1300" b="1" dirty="0" err="1"/>
              <a:t>self.model</a:t>
            </a:r>
            <a:r>
              <a:rPr lang="en-US" sz="1300" b="1" dirty="0"/>
              <a:t>} ")</a:t>
            </a:r>
          </a:p>
          <a:p>
            <a:pPr marL="0" indent="0">
              <a:buNone/>
            </a:pPr>
            <a:r>
              <a:rPr lang="en-US" sz="1300" b="1" dirty="0"/>
              <a:t/>
            </a:r>
            <a:br>
              <a:rPr lang="en-US" sz="1300" b="1" dirty="0"/>
            </a:br>
            <a:r>
              <a:rPr lang="en-US" sz="1300" b="1" dirty="0"/>
              <a:t>    </a:t>
            </a:r>
            <a:r>
              <a:rPr lang="en-US" sz="1300" b="1" dirty="0" err="1"/>
              <a:t>def</a:t>
            </a:r>
            <a:r>
              <a:rPr lang="en-US" sz="1300" b="1" dirty="0"/>
              <a:t> </a:t>
            </a:r>
            <a:r>
              <a:rPr lang="en-US" sz="1300" b="1" dirty="0" err="1"/>
              <a:t>godiste</a:t>
            </a:r>
            <a:r>
              <a:rPr lang="en-US" sz="1300" b="1" dirty="0"/>
              <a:t>(self, </a:t>
            </a:r>
            <a:r>
              <a:rPr lang="en-US" sz="1300" b="1" dirty="0" err="1"/>
              <a:t>godina</a:t>
            </a:r>
            <a:r>
              <a:rPr lang="en-US" sz="1300" b="1" dirty="0"/>
              <a:t>):</a:t>
            </a:r>
          </a:p>
          <a:p>
            <a:pPr marL="0" indent="0">
              <a:buNone/>
            </a:pPr>
            <a:r>
              <a:rPr lang="en-US" sz="1300" b="1" dirty="0"/>
              <a:t>        """</a:t>
            </a:r>
            <a:r>
              <a:rPr lang="en-US" sz="1300" b="1" dirty="0" err="1"/>
              <a:t>Prikazuje</a:t>
            </a:r>
            <a:r>
              <a:rPr lang="en-US" sz="1300" b="1" dirty="0"/>
              <a:t> </a:t>
            </a:r>
            <a:r>
              <a:rPr lang="en-US" sz="1300" b="1" dirty="0" err="1"/>
              <a:t>godiste</a:t>
            </a:r>
            <a:r>
              <a:rPr lang="en-US" sz="1300" b="1" dirty="0"/>
              <a:t> </a:t>
            </a:r>
            <a:r>
              <a:rPr lang="en-US" sz="1300" b="1" dirty="0" err="1"/>
              <a:t>automobila</a:t>
            </a:r>
            <a:r>
              <a:rPr lang="en-US" sz="1300" b="1" dirty="0"/>
              <a:t>."""</a:t>
            </a:r>
          </a:p>
          <a:p>
            <a:pPr marL="0" indent="0">
              <a:buNone/>
            </a:pPr>
            <a:r>
              <a:rPr lang="en-US" sz="1300" b="1" dirty="0"/>
              <a:t>        print(</a:t>
            </a:r>
            <a:r>
              <a:rPr lang="en-US" sz="1300" b="1" dirty="0" err="1"/>
              <a:t>f"Auto</a:t>
            </a:r>
            <a:r>
              <a:rPr lang="en-US" sz="1300" b="1" dirty="0"/>
              <a:t> </a:t>
            </a:r>
            <a:r>
              <a:rPr lang="en-US" sz="1300" b="1" dirty="0" err="1"/>
              <a:t>ima</a:t>
            </a:r>
            <a:r>
              <a:rPr lang="en-US" sz="1300" b="1" dirty="0"/>
              <a:t> {</a:t>
            </a:r>
            <a:r>
              <a:rPr lang="en-US" sz="1300" b="1" dirty="0" smtClean="0"/>
              <a:t>2026 </a:t>
            </a:r>
            <a:r>
              <a:rPr lang="en-US" sz="1300" b="1" dirty="0"/>
              <a:t>- </a:t>
            </a:r>
            <a:r>
              <a:rPr lang="en-US" sz="1300" b="1" dirty="0" err="1"/>
              <a:t>godina</a:t>
            </a:r>
            <a:r>
              <a:rPr lang="en-US" sz="1300" b="1" dirty="0"/>
              <a:t>}  </a:t>
            </a:r>
            <a:r>
              <a:rPr lang="en-US" sz="1300" b="1" dirty="0" err="1"/>
              <a:t>godina</a:t>
            </a:r>
            <a:r>
              <a:rPr lang="en-US" sz="1300" b="1" dirty="0"/>
              <a:t>.")</a:t>
            </a:r>
          </a:p>
          <a:p>
            <a:pPr marL="0" indent="0">
              <a:buNone/>
            </a:pPr>
            <a:r>
              <a:rPr lang="en-US" sz="1300" b="1" dirty="0"/>
              <a:t/>
            </a:r>
            <a:br>
              <a:rPr lang="en-US" sz="1300" b="1" dirty="0"/>
            </a:br>
            <a:r>
              <a:rPr lang="en-US" sz="1300" b="1" dirty="0" err="1"/>
              <a:t>proizvodjac</a:t>
            </a:r>
            <a:r>
              <a:rPr lang="en-US" sz="1300" b="1" dirty="0"/>
              <a:t> = input("Koji je </a:t>
            </a:r>
            <a:r>
              <a:rPr lang="en-US" sz="1300" b="1" dirty="0" err="1"/>
              <a:t>proizvodjac</a:t>
            </a:r>
            <a:r>
              <a:rPr lang="en-US" sz="1300" b="1" dirty="0"/>
              <a:t> </a:t>
            </a:r>
            <a:r>
              <a:rPr lang="en-US" sz="1300" b="1" dirty="0" err="1"/>
              <a:t>automobila</a:t>
            </a:r>
            <a:r>
              <a:rPr lang="en-US" sz="1300" b="1" dirty="0"/>
              <a:t>? ")</a:t>
            </a:r>
          </a:p>
          <a:p>
            <a:pPr marL="0" indent="0">
              <a:buNone/>
            </a:pPr>
            <a:r>
              <a:rPr lang="en-US" sz="1300" b="1" dirty="0"/>
              <a:t>model = input("Koji je model </a:t>
            </a:r>
            <a:r>
              <a:rPr lang="en-US" sz="1300" b="1" dirty="0" err="1"/>
              <a:t>automobila</a:t>
            </a:r>
            <a:r>
              <a:rPr lang="en-US" sz="1300" b="1" dirty="0"/>
              <a:t>? ")</a:t>
            </a:r>
          </a:p>
          <a:p>
            <a:pPr marL="0" indent="0">
              <a:buNone/>
            </a:pPr>
            <a:r>
              <a:rPr lang="en-US" sz="1300" b="1" dirty="0" err="1"/>
              <a:t>godina</a:t>
            </a:r>
            <a:r>
              <a:rPr lang="en-US" sz="1300" b="1" dirty="0"/>
              <a:t> = </a:t>
            </a:r>
            <a:r>
              <a:rPr lang="en-US" sz="1300" b="1" dirty="0" err="1"/>
              <a:t>int</a:t>
            </a:r>
            <a:r>
              <a:rPr lang="en-US" sz="1300" b="1" dirty="0"/>
              <a:t>(input("</a:t>
            </a:r>
            <a:r>
              <a:rPr lang="en-US" sz="1300" b="1" dirty="0" err="1"/>
              <a:t>Koje</a:t>
            </a:r>
            <a:r>
              <a:rPr lang="en-US" sz="1300" b="1" dirty="0"/>
              <a:t> </a:t>
            </a:r>
            <a:r>
              <a:rPr lang="en-US" sz="1300" b="1" dirty="0" err="1"/>
              <a:t>godine</a:t>
            </a:r>
            <a:r>
              <a:rPr lang="en-US" sz="1300" b="1" dirty="0"/>
              <a:t> je auto </a:t>
            </a:r>
            <a:r>
              <a:rPr lang="en-US" sz="1300" b="1" dirty="0" err="1"/>
              <a:t>proizveden</a:t>
            </a:r>
            <a:r>
              <a:rPr lang="en-US" sz="1300" b="1" dirty="0"/>
              <a:t>?  "))</a:t>
            </a:r>
          </a:p>
          <a:p>
            <a:pPr marL="0" indent="0">
              <a:buNone/>
            </a:pPr>
            <a:r>
              <a:rPr lang="en-US" sz="1300" b="1" dirty="0" err="1"/>
              <a:t>moj_auto</a:t>
            </a:r>
            <a:r>
              <a:rPr lang="en-US" sz="1300" b="1" dirty="0"/>
              <a:t> = Auto(</a:t>
            </a:r>
            <a:r>
              <a:rPr lang="en-US" sz="1300" b="1" dirty="0" err="1"/>
              <a:t>proizvodjac</a:t>
            </a:r>
            <a:r>
              <a:rPr lang="en-US" sz="1300" b="1" dirty="0"/>
              <a:t>, model)</a:t>
            </a:r>
          </a:p>
          <a:p>
            <a:pPr marL="0" indent="0">
              <a:buNone/>
            </a:pPr>
            <a:r>
              <a:rPr lang="en-US" sz="1300" b="1" dirty="0" err="1"/>
              <a:t>moj_auto.opisi_auto</a:t>
            </a:r>
            <a:r>
              <a:rPr lang="en-US" sz="1300" b="1" dirty="0"/>
              <a:t>()</a:t>
            </a:r>
          </a:p>
          <a:p>
            <a:pPr marL="0" indent="0">
              <a:buNone/>
            </a:pPr>
            <a:r>
              <a:rPr lang="en-US" sz="1300" b="1" dirty="0" err="1"/>
              <a:t>moj_auto.godiste</a:t>
            </a:r>
            <a:r>
              <a:rPr lang="en-US" sz="1300" b="1" dirty="0"/>
              <a:t>(</a:t>
            </a:r>
            <a:r>
              <a:rPr lang="en-US" sz="1300" b="1" dirty="0" err="1"/>
              <a:t>godina</a:t>
            </a:r>
            <a:r>
              <a:rPr lang="en-US" sz="1300" b="1" dirty="0"/>
              <a:t>)</a:t>
            </a:r>
          </a:p>
          <a:p>
            <a:pPr marL="0" indent="0">
              <a:buNone/>
            </a:pPr>
            <a:r>
              <a:rPr lang="en-US" sz="1300" b="1" dirty="0"/>
              <a:t/>
            </a:r>
            <a:br>
              <a:rPr lang="en-US" sz="1300" b="1" dirty="0"/>
            </a:br>
            <a:r>
              <a:rPr lang="en-US" sz="1300" b="1" dirty="0" err="1"/>
              <a:t>proizvodjac</a:t>
            </a:r>
            <a:r>
              <a:rPr lang="en-US" sz="1300" b="1" dirty="0"/>
              <a:t> = input("Koji je </a:t>
            </a:r>
            <a:r>
              <a:rPr lang="en-US" sz="1300" b="1" dirty="0" err="1"/>
              <a:t>proizvodjac</a:t>
            </a:r>
            <a:r>
              <a:rPr lang="en-US" sz="1300" b="1" dirty="0"/>
              <a:t> </a:t>
            </a:r>
            <a:r>
              <a:rPr lang="en-US" sz="1300" b="1" dirty="0" err="1"/>
              <a:t>automobila</a:t>
            </a:r>
            <a:r>
              <a:rPr lang="en-US" sz="1300" b="1" dirty="0"/>
              <a:t>? ")</a:t>
            </a:r>
          </a:p>
          <a:p>
            <a:pPr marL="0" indent="0">
              <a:buNone/>
            </a:pPr>
            <a:r>
              <a:rPr lang="en-US" sz="1300" b="1" dirty="0"/>
              <a:t>model = input("Koji je model </a:t>
            </a:r>
            <a:r>
              <a:rPr lang="en-US" sz="1300" b="1" dirty="0" err="1"/>
              <a:t>automobila</a:t>
            </a:r>
            <a:r>
              <a:rPr lang="en-US" sz="1300" b="1" dirty="0"/>
              <a:t>? ")</a:t>
            </a:r>
          </a:p>
          <a:p>
            <a:pPr marL="0" indent="0">
              <a:buNone/>
            </a:pPr>
            <a:r>
              <a:rPr lang="en-US" sz="1300" b="1" dirty="0" err="1"/>
              <a:t>godina</a:t>
            </a:r>
            <a:r>
              <a:rPr lang="en-US" sz="1300" b="1" dirty="0"/>
              <a:t> = </a:t>
            </a:r>
            <a:r>
              <a:rPr lang="en-US" sz="1300" b="1" dirty="0" err="1"/>
              <a:t>int</a:t>
            </a:r>
            <a:r>
              <a:rPr lang="en-US" sz="1300" b="1" dirty="0"/>
              <a:t>(input("</a:t>
            </a:r>
            <a:r>
              <a:rPr lang="en-US" sz="1300" b="1" dirty="0" err="1"/>
              <a:t>Koje</a:t>
            </a:r>
            <a:r>
              <a:rPr lang="en-US" sz="1300" b="1" dirty="0"/>
              <a:t> </a:t>
            </a:r>
            <a:r>
              <a:rPr lang="en-US" sz="1300" b="1" dirty="0" err="1"/>
              <a:t>godine</a:t>
            </a:r>
            <a:r>
              <a:rPr lang="en-US" sz="1300" b="1" dirty="0"/>
              <a:t> je auto </a:t>
            </a:r>
            <a:r>
              <a:rPr lang="en-US" sz="1300" b="1" dirty="0" err="1"/>
              <a:t>proizveden</a:t>
            </a:r>
            <a:r>
              <a:rPr lang="en-US" sz="1300" b="1" dirty="0"/>
              <a:t>?  "))</a:t>
            </a:r>
          </a:p>
          <a:p>
            <a:pPr marL="0" indent="0">
              <a:buNone/>
            </a:pPr>
            <a:r>
              <a:rPr lang="en-US" sz="1300" b="1" dirty="0" err="1"/>
              <a:t>komsijin_auto</a:t>
            </a:r>
            <a:r>
              <a:rPr lang="en-US" sz="1300" b="1" dirty="0"/>
              <a:t> = Auto(</a:t>
            </a:r>
            <a:r>
              <a:rPr lang="en-US" sz="1300" b="1" dirty="0" err="1"/>
              <a:t>proizvodjac</a:t>
            </a:r>
            <a:r>
              <a:rPr lang="en-US" sz="1300" b="1" dirty="0"/>
              <a:t>, model)</a:t>
            </a:r>
          </a:p>
          <a:p>
            <a:pPr marL="0" indent="0">
              <a:buNone/>
            </a:pPr>
            <a:r>
              <a:rPr lang="en-US" sz="1300" b="1" dirty="0" err="1"/>
              <a:t>komsijin_auto.opisi_auto</a:t>
            </a:r>
            <a:r>
              <a:rPr lang="en-US" sz="1300" b="1" dirty="0"/>
              <a:t>()</a:t>
            </a:r>
          </a:p>
          <a:p>
            <a:pPr marL="0" indent="0">
              <a:buNone/>
            </a:pPr>
            <a:r>
              <a:rPr lang="en-US" sz="1300" b="1" dirty="0" err="1"/>
              <a:t>komsijin_auto.godiste</a:t>
            </a:r>
            <a:r>
              <a:rPr lang="en-US" sz="1300" b="1" dirty="0"/>
              <a:t>(</a:t>
            </a:r>
            <a:r>
              <a:rPr lang="en-US" sz="1300" b="1" dirty="0" err="1"/>
              <a:t>godina</a:t>
            </a:r>
            <a:r>
              <a:rPr lang="en-US" sz="1300" b="1" dirty="0" smtClean="0"/>
              <a:t>)</a:t>
            </a:r>
            <a:endParaRPr lang="en-US" sz="1300" b="1" dirty="0"/>
          </a:p>
        </p:txBody>
      </p:sp>
    </p:spTree>
    <p:extLst>
      <p:ext uri="{BB962C8B-B14F-4D97-AF65-F5344CB8AC3E}">
        <p14:creationId xmlns:p14="http://schemas.microsoft.com/office/powerpoint/2010/main" val="240339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 smtClean="0"/>
              <a:t>Klase</a:t>
            </a:r>
            <a:r>
              <a:rPr lang="en-GB" dirty="0" smtClean="0"/>
              <a:t> – </a:t>
            </a:r>
            <a:r>
              <a:rPr lang="sr-Latn-RS" dirty="0" smtClean="0"/>
              <a:t>Čas 2.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136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418058"/>
          </a:xfrm>
        </p:spPr>
        <p:txBody>
          <a:bodyPr>
            <a:noAutofit/>
          </a:bodyPr>
          <a:lstStyle/>
          <a:p>
            <a:r>
              <a:rPr lang="sr-Latn-RS" sz="2500" b="1" dirty="0" smtClean="0"/>
              <a:t>Mal</a:t>
            </a:r>
            <a:r>
              <a:rPr lang="en-GB" sz="2500" b="1" dirty="0" smtClean="0"/>
              <a:t>e</a:t>
            </a:r>
            <a:r>
              <a:rPr lang="sr-Latn-RS" sz="2500" b="1" dirty="0" smtClean="0"/>
              <a:t> varijant</a:t>
            </a:r>
            <a:r>
              <a:rPr lang="en-GB" sz="2500" b="1" dirty="0" smtClean="0"/>
              <a:t>e</a:t>
            </a:r>
            <a:r>
              <a:rPr lang="sr-Latn-RS" sz="2500" b="1" dirty="0" smtClean="0"/>
              <a:t> sa unosom</a:t>
            </a:r>
            <a:endParaRPr lang="en-US" sz="2500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07504" y="620688"/>
            <a:ext cx="4388296" cy="6120680"/>
          </a:xfrm>
          <a:ln>
            <a:solidFill>
              <a:schemeClr val="tx2"/>
            </a:solidFill>
          </a:ln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800" b="1" dirty="0"/>
              <a:t>class Pas:</a:t>
            </a:r>
          </a:p>
          <a:p>
            <a:pPr marL="0" indent="0">
              <a:buNone/>
            </a:pPr>
            <a:r>
              <a:rPr lang="en-US" sz="3800" b="1" dirty="0"/>
              <a:t>    </a:t>
            </a:r>
            <a:r>
              <a:rPr lang="en-US" sz="3800" b="1" dirty="0" err="1"/>
              <a:t>def</a:t>
            </a:r>
            <a:r>
              <a:rPr lang="en-US" sz="3800" b="1" dirty="0"/>
              <a:t> __</a:t>
            </a:r>
            <a:r>
              <a:rPr lang="en-US" sz="3800" b="1" dirty="0" err="1"/>
              <a:t>init</a:t>
            </a:r>
            <a:r>
              <a:rPr lang="en-US" sz="3800" b="1" dirty="0"/>
              <a:t>__(self, </a:t>
            </a:r>
            <a:r>
              <a:rPr lang="en-US" sz="3800" b="1" dirty="0" err="1"/>
              <a:t>ime</a:t>
            </a:r>
            <a:r>
              <a:rPr lang="en-US" sz="3800" b="1" dirty="0"/>
              <a:t>, rasa, </a:t>
            </a:r>
            <a:r>
              <a:rPr lang="en-US" sz="3800" b="1" dirty="0" err="1"/>
              <a:t>godine</a:t>
            </a:r>
            <a:r>
              <a:rPr lang="en-US" sz="3800" b="1" dirty="0"/>
              <a:t>):</a:t>
            </a:r>
          </a:p>
          <a:p>
            <a:pPr marL="0" indent="0">
              <a:buNone/>
            </a:pPr>
            <a:r>
              <a:rPr lang="en-US" sz="3800" b="1" dirty="0"/>
              <a:t>        </a:t>
            </a:r>
            <a:r>
              <a:rPr lang="en-US" sz="3800" b="1" dirty="0" err="1"/>
              <a:t>self.ime</a:t>
            </a:r>
            <a:r>
              <a:rPr lang="en-US" sz="3800" b="1" dirty="0"/>
              <a:t> = </a:t>
            </a:r>
            <a:r>
              <a:rPr lang="en-US" sz="3800" b="1" dirty="0" err="1"/>
              <a:t>ime</a:t>
            </a:r>
            <a:endParaRPr lang="en-US" sz="3800" b="1" dirty="0"/>
          </a:p>
          <a:p>
            <a:pPr marL="0" indent="0">
              <a:buNone/>
            </a:pPr>
            <a:r>
              <a:rPr lang="en-US" sz="3800" b="1" dirty="0"/>
              <a:t>        </a:t>
            </a:r>
            <a:r>
              <a:rPr lang="en-US" sz="3800" b="1" dirty="0" err="1"/>
              <a:t>self.rasa</a:t>
            </a:r>
            <a:r>
              <a:rPr lang="en-US" sz="3800" b="1" dirty="0"/>
              <a:t> = rasa</a:t>
            </a:r>
          </a:p>
          <a:p>
            <a:pPr marL="0" indent="0">
              <a:buNone/>
            </a:pPr>
            <a:r>
              <a:rPr lang="en-US" sz="3800" b="1" dirty="0"/>
              <a:t>        </a:t>
            </a:r>
            <a:r>
              <a:rPr lang="en-US" sz="3800" b="1" dirty="0" err="1"/>
              <a:t>self.godine</a:t>
            </a:r>
            <a:r>
              <a:rPr lang="en-US" sz="3800" b="1" dirty="0"/>
              <a:t> = </a:t>
            </a:r>
            <a:r>
              <a:rPr lang="en-US" sz="3800" b="1" dirty="0" err="1"/>
              <a:t>godine</a:t>
            </a:r>
            <a:endParaRPr lang="en-US" sz="3800" b="1" dirty="0"/>
          </a:p>
          <a:p>
            <a:pPr marL="0" indent="0">
              <a:buNone/>
            </a:pPr>
            <a:r>
              <a:rPr lang="en-US" sz="3800" b="1" dirty="0"/>
              <a:t/>
            </a:r>
            <a:br>
              <a:rPr lang="en-US" sz="3800" b="1" dirty="0"/>
            </a:br>
            <a:r>
              <a:rPr lang="en-US" sz="3800" b="1" dirty="0"/>
              <a:t>    </a:t>
            </a:r>
            <a:r>
              <a:rPr lang="en-US" sz="3800" b="1" dirty="0" err="1"/>
              <a:t>def</a:t>
            </a:r>
            <a:r>
              <a:rPr lang="en-US" sz="3800" b="1" dirty="0"/>
              <a:t> </a:t>
            </a:r>
            <a:r>
              <a:rPr lang="en-US" sz="3800" b="1" dirty="0" err="1"/>
              <a:t>laj</a:t>
            </a:r>
            <a:r>
              <a:rPr lang="en-US" sz="3800" b="1" dirty="0"/>
              <a:t>(self):</a:t>
            </a:r>
          </a:p>
          <a:p>
            <a:pPr marL="0" indent="0">
              <a:buNone/>
            </a:pPr>
            <a:r>
              <a:rPr lang="en-US" sz="3800" b="1" dirty="0"/>
              <a:t>        print(f"{</a:t>
            </a:r>
            <a:r>
              <a:rPr lang="en-US" sz="3800" b="1" dirty="0" err="1"/>
              <a:t>self.ime</a:t>
            </a:r>
            <a:r>
              <a:rPr lang="en-US" sz="3800" b="1" dirty="0"/>
              <a:t>}, {</a:t>
            </a:r>
            <a:r>
              <a:rPr lang="en-US" sz="3800" b="1" dirty="0" err="1"/>
              <a:t>self.rasa</a:t>
            </a:r>
            <a:r>
              <a:rPr lang="en-US" sz="3800" b="1" dirty="0"/>
              <a:t>},  </a:t>
            </a:r>
            <a:r>
              <a:rPr lang="en-US" sz="3800" b="1" dirty="0" err="1"/>
              <a:t>kaže</a:t>
            </a:r>
            <a:r>
              <a:rPr lang="en-US" sz="3800" b="1" dirty="0"/>
              <a:t>: Av, </a:t>
            </a:r>
            <a:r>
              <a:rPr lang="en-US" sz="3800" b="1" dirty="0" err="1"/>
              <a:t>av</a:t>
            </a:r>
            <a:r>
              <a:rPr lang="en-US" sz="3800" b="1" dirty="0"/>
              <a:t>!")</a:t>
            </a:r>
          </a:p>
          <a:p>
            <a:pPr marL="0" indent="0">
              <a:buNone/>
            </a:pPr>
            <a:r>
              <a:rPr lang="en-US" sz="3800" b="1" dirty="0"/>
              <a:t/>
            </a:r>
            <a:br>
              <a:rPr lang="en-US" sz="3800" b="1" dirty="0"/>
            </a:br>
            <a:r>
              <a:rPr lang="en-US" sz="3800" b="1" dirty="0"/>
              <a:t>    </a:t>
            </a:r>
            <a:r>
              <a:rPr lang="en-US" sz="3800" b="1" dirty="0" err="1"/>
              <a:t>def</a:t>
            </a:r>
            <a:r>
              <a:rPr lang="en-US" sz="3800" b="1" dirty="0"/>
              <a:t> </a:t>
            </a:r>
            <a:r>
              <a:rPr lang="en-US" sz="3800" b="1" dirty="0" err="1"/>
              <a:t>starost</a:t>
            </a:r>
            <a:r>
              <a:rPr lang="en-US" sz="3800" b="1" dirty="0"/>
              <a:t>(self):</a:t>
            </a:r>
          </a:p>
          <a:p>
            <a:pPr marL="0" indent="0">
              <a:buNone/>
            </a:pPr>
            <a:r>
              <a:rPr lang="en-US" sz="3800" b="1" dirty="0"/>
              <a:t>        print(f"{</a:t>
            </a:r>
            <a:r>
              <a:rPr lang="en-US" sz="3800" b="1" dirty="0" err="1"/>
              <a:t>self.ime</a:t>
            </a:r>
            <a:r>
              <a:rPr lang="en-US" sz="3800" b="1" dirty="0"/>
              <a:t>}  </a:t>
            </a:r>
            <a:r>
              <a:rPr lang="en-US" sz="3800" b="1" dirty="0" err="1"/>
              <a:t>ima</a:t>
            </a:r>
            <a:r>
              <a:rPr lang="en-US" sz="3800" b="1" dirty="0"/>
              <a:t> {</a:t>
            </a:r>
            <a:r>
              <a:rPr lang="en-US" sz="3800" b="1" dirty="0" err="1"/>
              <a:t>self.godine</a:t>
            </a:r>
            <a:r>
              <a:rPr lang="en-US" sz="3800" b="1" dirty="0"/>
              <a:t>} </a:t>
            </a:r>
            <a:r>
              <a:rPr lang="en-US" sz="3800" b="1" dirty="0" err="1"/>
              <a:t>godina</a:t>
            </a:r>
            <a:r>
              <a:rPr lang="en-US" sz="3800" b="1" dirty="0"/>
              <a:t>!")</a:t>
            </a:r>
          </a:p>
          <a:p>
            <a:pPr marL="0" indent="0">
              <a:buNone/>
            </a:pPr>
            <a:r>
              <a:rPr lang="en-US" sz="3800" b="1" dirty="0"/>
              <a:t/>
            </a:r>
            <a:br>
              <a:rPr lang="en-US" sz="3800" b="1" dirty="0"/>
            </a:br>
            <a:r>
              <a:rPr lang="en-US" sz="3800" b="1" dirty="0" err="1" smtClean="0"/>
              <a:t>def</a:t>
            </a:r>
            <a:r>
              <a:rPr lang="en-US" sz="3800" b="1" dirty="0" smtClean="0"/>
              <a:t> </a:t>
            </a:r>
            <a:r>
              <a:rPr lang="en-US" sz="3800" b="1" dirty="0" err="1" smtClean="0"/>
              <a:t>unos</a:t>
            </a:r>
            <a:r>
              <a:rPr lang="en-US" sz="3800" b="1" dirty="0" smtClean="0"/>
              <a:t>():</a:t>
            </a:r>
            <a:r>
              <a:rPr lang="sr-Latn-RS" sz="3800" b="1" dirty="0" smtClean="0"/>
              <a:t>  </a:t>
            </a:r>
            <a:r>
              <a:rPr lang="en-GB" sz="3000" b="1" dirty="0">
                <a:solidFill>
                  <a:srgbClr val="00B050"/>
                </a:solidFill>
              </a:rPr>
              <a:t># </a:t>
            </a:r>
            <a:r>
              <a:rPr lang="sr-Latn-RS" sz="3000" b="1" dirty="0" smtClean="0">
                <a:solidFill>
                  <a:srgbClr val="00B050"/>
                </a:solidFill>
              </a:rPr>
              <a:t>Mogli smo bez f-je, ali nije u duhu programiranja</a:t>
            </a:r>
            <a:endParaRPr lang="en-US" sz="3000" b="1" dirty="0" smtClean="0"/>
          </a:p>
          <a:p>
            <a:pPr marL="0" indent="0">
              <a:buNone/>
            </a:pPr>
            <a:r>
              <a:rPr lang="en-US" sz="3800" b="1" dirty="0" smtClean="0"/>
              <a:t>    </a:t>
            </a:r>
            <a:r>
              <a:rPr lang="en-US" sz="3800" b="1" dirty="0" err="1" smtClean="0"/>
              <a:t>ime</a:t>
            </a:r>
            <a:r>
              <a:rPr lang="en-US" sz="3800" b="1" dirty="0" smtClean="0"/>
              <a:t> = input("</a:t>
            </a:r>
            <a:r>
              <a:rPr lang="en-US" sz="3800" b="1" dirty="0" err="1" smtClean="0"/>
              <a:t>Unesite</a:t>
            </a:r>
            <a:r>
              <a:rPr lang="en-US" sz="3800" b="1" dirty="0" smtClean="0"/>
              <a:t> </a:t>
            </a:r>
            <a:r>
              <a:rPr lang="en-US" sz="3800" b="1" dirty="0" err="1" smtClean="0"/>
              <a:t>ime</a:t>
            </a:r>
            <a:r>
              <a:rPr lang="en-US" sz="3800" b="1" dirty="0" smtClean="0"/>
              <a:t> </a:t>
            </a:r>
            <a:r>
              <a:rPr lang="en-US" sz="3800" b="1" dirty="0" err="1" smtClean="0"/>
              <a:t>psa</a:t>
            </a:r>
            <a:r>
              <a:rPr lang="en-US" sz="3800" b="1" dirty="0" smtClean="0"/>
              <a:t>: ")</a:t>
            </a:r>
          </a:p>
          <a:p>
            <a:pPr marL="0" indent="0">
              <a:buNone/>
            </a:pPr>
            <a:r>
              <a:rPr lang="en-US" sz="3800" b="1" dirty="0"/>
              <a:t>    rasa = input("</a:t>
            </a:r>
            <a:r>
              <a:rPr lang="en-US" sz="3800" b="1" dirty="0" err="1"/>
              <a:t>Unesite</a:t>
            </a:r>
            <a:r>
              <a:rPr lang="en-US" sz="3800" b="1" dirty="0"/>
              <a:t> </a:t>
            </a:r>
            <a:r>
              <a:rPr lang="en-US" sz="3800" b="1" dirty="0" err="1"/>
              <a:t>rasu</a:t>
            </a:r>
            <a:r>
              <a:rPr lang="en-US" sz="3800" b="1" dirty="0"/>
              <a:t> </a:t>
            </a:r>
            <a:r>
              <a:rPr lang="en-US" sz="3800" b="1" dirty="0" err="1"/>
              <a:t>psa</a:t>
            </a:r>
            <a:r>
              <a:rPr lang="en-US" sz="3800" b="1" dirty="0"/>
              <a:t>: ")</a:t>
            </a:r>
          </a:p>
          <a:p>
            <a:pPr marL="0" indent="0">
              <a:buNone/>
            </a:pPr>
            <a:r>
              <a:rPr lang="en-US" sz="3800" b="1" dirty="0"/>
              <a:t>    </a:t>
            </a:r>
            <a:r>
              <a:rPr lang="en-US" sz="3800" b="1" dirty="0" err="1"/>
              <a:t>godine</a:t>
            </a:r>
            <a:r>
              <a:rPr lang="en-US" sz="3800" b="1" dirty="0"/>
              <a:t> = </a:t>
            </a:r>
            <a:r>
              <a:rPr lang="en-US" sz="3800" b="1" dirty="0" err="1"/>
              <a:t>int</a:t>
            </a:r>
            <a:r>
              <a:rPr lang="en-US" sz="3800" b="1" dirty="0"/>
              <a:t>(input("</a:t>
            </a:r>
            <a:r>
              <a:rPr lang="en-US" sz="3800" b="1" dirty="0" err="1"/>
              <a:t>Unesite</a:t>
            </a:r>
            <a:r>
              <a:rPr lang="en-US" sz="3800" b="1" dirty="0"/>
              <a:t> </a:t>
            </a:r>
            <a:r>
              <a:rPr lang="en-US" sz="3800" b="1" dirty="0" err="1"/>
              <a:t>godine</a:t>
            </a:r>
            <a:r>
              <a:rPr lang="en-US" sz="3800" b="1" dirty="0"/>
              <a:t> </a:t>
            </a:r>
            <a:r>
              <a:rPr lang="en-US" sz="3800" b="1" dirty="0" err="1"/>
              <a:t>psa</a:t>
            </a:r>
            <a:r>
              <a:rPr lang="en-US" sz="3800" b="1" dirty="0"/>
              <a:t>: "))</a:t>
            </a:r>
          </a:p>
          <a:p>
            <a:pPr marL="0" indent="0">
              <a:buNone/>
            </a:pPr>
            <a:r>
              <a:rPr lang="en-US" sz="3800" b="1" dirty="0"/>
              <a:t>    return (</a:t>
            </a:r>
            <a:r>
              <a:rPr lang="en-US" sz="3800" b="1" dirty="0" err="1"/>
              <a:t>ime</a:t>
            </a:r>
            <a:r>
              <a:rPr lang="en-US" sz="3800" b="1" dirty="0"/>
              <a:t>, rasa, </a:t>
            </a:r>
            <a:r>
              <a:rPr lang="en-US" sz="3800" b="1" dirty="0" err="1"/>
              <a:t>godine</a:t>
            </a:r>
            <a:r>
              <a:rPr lang="en-US" sz="3800" b="1" dirty="0" smtClean="0"/>
              <a:t>)</a:t>
            </a:r>
            <a:r>
              <a:rPr lang="sr-Latn-RS" sz="3800" b="1" dirty="0" smtClean="0"/>
              <a:t>   </a:t>
            </a:r>
            <a:r>
              <a:rPr lang="en-GB" sz="3800" b="1" dirty="0" smtClean="0">
                <a:solidFill>
                  <a:srgbClr val="00B050"/>
                </a:solidFill>
              </a:rPr>
              <a:t># </a:t>
            </a:r>
            <a:r>
              <a:rPr lang="sr-Latn-RS" sz="3800" b="1" dirty="0" smtClean="0">
                <a:solidFill>
                  <a:srgbClr val="00B050"/>
                </a:solidFill>
              </a:rPr>
              <a:t>V</a:t>
            </a:r>
            <a:r>
              <a:rPr lang="en-GB" sz="3800" b="1" dirty="0" err="1" smtClean="0">
                <a:solidFill>
                  <a:srgbClr val="00B050"/>
                </a:solidFill>
              </a:rPr>
              <a:t>ra</a:t>
            </a:r>
            <a:r>
              <a:rPr lang="sr-Latn-RS" sz="3800" b="1" dirty="0">
                <a:solidFill>
                  <a:srgbClr val="00B050"/>
                </a:solidFill>
              </a:rPr>
              <a:t>ć</a:t>
            </a:r>
            <a:r>
              <a:rPr lang="en-GB" sz="3800" b="1" dirty="0" smtClean="0">
                <a:solidFill>
                  <a:srgbClr val="00B050"/>
                </a:solidFill>
              </a:rPr>
              <a:t>a </a:t>
            </a:r>
            <a:r>
              <a:rPr lang="en-GB" sz="3800" b="1" dirty="0" err="1" smtClean="0">
                <a:solidFill>
                  <a:srgbClr val="00B050"/>
                </a:solidFill>
              </a:rPr>
              <a:t>torku</a:t>
            </a:r>
            <a:endParaRPr lang="en-US" sz="3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3800" b="1" dirty="0"/>
              <a:t/>
            </a:r>
            <a:br>
              <a:rPr lang="en-US" sz="3800" b="1" dirty="0"/>
            </a:br>
            <a:r>
              <a:rPr lang="en-US" sz="3800" b="1" dirty="0" err="1"/>
              <a:t>moj_pas</a:t>
            </a:r>
            <a:r>
              <a:rPr lang="en-US" sz="3800" b="1" dirty="0"/>
              <a:t> = Pas</a:t>
            </a:r>
            <a:r>
              <a:rPr lang="en-US" sz="3800" b="1" dirty="0" smtClean="0"/>
              <a:t>(</a:t>
            </a:r>
            <a:r>
              <a:rPr lang="sr-Latn-RS" sz="3800" b="1" dirty="0" smtClean="0"/>
              <a:t>*</a:t>
            </a:r>
            <a:r>
              <a:rPr lang="en-US" sz="3800" b="1" dirty="0" err="1" smtClean="0"/>
              <a:t>unos</a:t>
            </a:r>
            <a:r>
              <a:rPr lang="en-US" sz="3800" b="1" dirty="0" smtClean="0"/>
              <a:t>())</a:t>
            </a:r>
            <a:r>
              <a:rPr lang="sr-Latn-RS" sz="3800" b="1" dirty="0" smtClean="0"/>
              <a:t>    </a:t>
            </a:r>
            <a:r>
              <a:rPr lang="en-GB" sz="3500" b="1" dirty="0" smtClean="0">
                <a:solidFill>
                  <a:srgbClr val="00B050"/>
                </a:solidFill>
              </a:rPr>
              <a:t># </a:t>
            </a:r>
            <a:r>
              <a:rPr lang="sr-Latn-RS" sz="3500" b="1" dirty="0" smtClean="0">
                <a:solidFill>
                  <a:srgbClr val="00B050"/>
                </a:solidFill>
              </a:rPr>
              <a:t>Raspakuje </a:t>
            </a:r>
            <a:r>
              <a:rPr lang="en-GB" sz="3500" b="1" dirty="0" err="1" smtClean="0">
                <a:solidFill>
                  <a:srgbClr val="00B050"/>
                </a:solidFill>
              </a:rPr>
              <a:t>torku</a:t>
            </a:r>
            <a:r>
              <a:rPr lang="sr-Latn-RS" sz="3500" b="1" dirty="0" smtClean="0">
                <a:solidFill>
                  <a:srgbClr val="00B050"/>
                </a:solidFill>
              </a:rPr>
              <a:t> jer </a:t>
            </a:r>
            <a:endParaRPr lang="en-US" sz="3800" b="1" dirty="0"/>
          </a:p>
          <a:p>
            <a:pPr marL="0" indent="0">
              <a:buNone/>
            </a:pPr>
            <a:r>
              <a:rPr lang="en-US" sz="3800" b="1" dirty="0" err="1"/>
              <a:t>tvoj_pas</a:t>
            </a:r>
            <a:r>
              <a:rPr lang="en-US" sz="3800" b="1" dirty="0"/>
              <a:t> = Pas</a:t>
            </a:r>
            <a:r>
              <a:rPr lang="en-US" sz="3800" b="1" dirty="0" smtClean="0"/>
              <a:t>(</a:t>
            </a:r>
            <a:r>
              <a:rPr lang="sr-Latn-RS" sz="3800" b="1" dirty="0" smtClean="0"/>
              <a:t>*</a:t>
            </a:r>
            <a:r>
              <a:rPr lang="en-US" sz="3800" b="1" dirty="0" err="1" smtClean="0"/>
              <a:t>unos</a:t>
            </a:r>
            <a:r>
              <a:rPr lang="en-US" sz="3800" b="1" dirty="0" smtClean="0"/>
              <a:t>())</a:t>
            </a:r>
            <a:r>
              <a:rPr lang="en-GB" sz="3800" b="1" dirty="0">
                <a:solidFill>
                  <a:srgbClr val="00B050"/>
                </a:solidFill>
              </a:rPr>
              <a:t> </a:t>
            </a:r>
            <a:r>
              <a:rPr lang="sr-Latn-RS" sz="3800" b="1" dirty="0" smtClean="0">
                <a:solidFill>
                  <a:srgbClr val="00B050"/>
                </a:solidFill>
              </a:rPr>
              <a:t>   </a:t>
            </a:r>
            <a:r>
              <a:rPr lang="en-GB" sz="3500" b="1" dirty="0" smtClean="0">
                <a:solidFill>
                  <a:srgbClr val="00B050"/>
                </a:solidFill>
              </a:rPr>
              <a:t># </a:t>
            </a:r>
            <a:r>
              <a:rPr lang="sr-Latn-RS" sz="3500" b="1" dirty="0" smtClean="0">
                <a:solidFill>
                  <a:srgbClr val="00B050"/>
                </a:solidFill>
              </a:rPr>
              <a:t>__init__() očekuje 3 param.</a:t>
            </a:r>
            <a:endParaRPr lang="en-US" sz="3500" b="1" dirty="0"/>
          </a:p>
          <a:p>
            <a:pPr marL="0" indent="0">
              <a:buNone/>
            </a:pPr>
            <a:r>
              <a:rPr lang="en-US" sz="3800" b="1" dirty="0"/>
              <a:t/>
            </a:r>
            <a:br>
              <a:rPr lang="en-US" sz="3800" b="1" dirty="0"/>
            </a:br>
            <a:r>
              <a:rPr lang="en-US" sz="3800" b="1" dirty="0" err="1"/>
              <a:t>moj_pas.laj</a:t>
            </a:r>
            <a:r>
              <a:rPr lang="en-US" sz="3800" b="1" dirty="0"/>
              <a:t>()</a:t>
            </a:r>
          </a:p>
          <a:p>
            <a:pPr marL="0" indent="0">
              <a:buNone/>
            </a:pPr>
            <a:r>
              <a:rPr lang="en-US" sz="3800" b="1" dirty="0" err="1"/>
              <a:t>moj_pas.starost</a:t>
            </a:r>
            <a:r>
              <a:rPr lang="en-US" sz="3800" b="1" dirty="0"/>
              <a:t>()</a:t>
            </a:r>
          </a:p>
          <a:p>
            <a:pPr marL="0" indent="0">
              <a:buNone/>
            </a:pPr>
            <a:r>
              <a:rPr lang="en-US" sz="3800" b="1" dirty="0" err="1"/>
              <a:t>tvoj_pas.laj</a:t>
            </a:r>
            <a:r>
              <a:rPr lang="en-US" sz="3800" b="1" dirty="0"/>
              <a:t>()</a:t>
            </a:r>
          </a:p>
          <a:p>
            <a:pPr marL="0" indent="0">
              <a:buNone/>
            </a:pPr>
            <a:r>
              <a:rPr lang="en-US" sz="3800" b="1" dirty="0" err="1"/>
              <a:t>tvoj_pas.starost</a:t>
            </a:r>
            <a:r>
              <a:rPr lang="en-US" sz="3800" b="1" dirty="0" smtClean="0"/>
              <a:t>()</a:t>
            </a:r>
            <a:endParaRPr lang="en-US" sz="38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572000" y="620688"/>
            <a:ext cx="4572000" cy="6120680"/>
          </a:xfrm>
          <a:ln>
            <a:solidFill>
              <a:schemeClr val="tx2"/>
            </a:solidFill>
          </a:ln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sz="3800" b="1" dirty="0" err="1" smtClean="0">
                <a:solidFill>
                  <a:srgbClr val="0070C0"/>
                </a:solidFill>
              </a:rPr>
              <a:t>Moglo</a:t>
            </a:r>
            <a:r>
              <a:rPr lang="en-GB" sz="3800" b="1" dirty="0" smtClean="0">
                <a:solidFill>
                  <a:srgbClr val="0070C0"/>
                </a:solidFill>
              </a:rPr>
              <a:t> je i </a:t>
            </a:r>
            <a:r>
              <a:rPr lang="en-GB" sz="3800" b="1" dirty="0" err="1" smtClean="0">
                <a:solidFill>
                  <a:srgbClr val="0070C0"/>
                </a:solidFill>
              </a:rPr>
              <a:t>ovako</a:t>
            </a:r>
            <a:r>
              <a:rPr lang="en-GB" sz="3800" b="1" dirty="0" smtClean="0">
                <a:solidFill>
                  <a:srgbClr val="0070C0"/>
                </a:solidFill>
              </a:rPr>
              <a:t>:</a:t>
            </a:r>
          </a:p>
          <a:p>
            <a:pPr marL="0" indent="0">
              <a:buNone/>
            </a:pPr>
            <a:endParaRPr lang="en-GB" sz="3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sr-Latn-RS" sz="3800" b="1" dirty="0" smtClean="0">
                <a:solidFill>
                  <a:srgbClr val="0070C0"/>
                </a:solidFill>
              </a:rPr>
              <a:t>podaci = unos()</a:t>
            </a:r>
            <a:endParaRPr lang="en-US" sz="38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3800" b="1" dirty="0" err="1" smtClean="0">
                <a:solidFill>
                  <a:srgbClr val="0070C0"/>
                </a:solidFill>
              </a:rPr>
              <a:t>moj_pas</a:t>
            </a:r>
            <a:r>
              <a:rPr lang="en-US" sz="3800" b="1" dirty="0" smtClean="0">
                <a:solidFill>
                  <a:srgbClr val="0070C0"/>
                </a:solidFill>
              </a:rPr>
              <a:t> = Pas(</a:t>
            </a:r>
            <a:r>
              <a:rPr lang="sr-Latn-RS" sz="3800" b="1" dirty="0" smtClean="0">
                <a:solidFill>
                  <a:srgbClr val="0070C0"/>
                </a:solidFill>
              </a:rPr>
              <a:t>podaci</a:t>
            </a:r>
            <a:r>
              <a:rPr lang="en-GB" sz="3800" b="1" dirty="0" smtClean="0">
                <a:solidFill>
                  <a:srgbClr val="0070C0"/>
                </a:solidFill>
              </a:rPr>
              <a:t>[0],</a:t>
            </a:r>
            <a:r>
              <a:rPr lang="en-GB" sz="3800" b="1" dirty="0" err="1" smtClean="0">
                <a:solidFill>
                  <a:srgbClr val="0070C0"/>
                </a:solidFill>
              </a:rPr>
              <a:t>podaci</a:t>
            </a:r>
            <a:r>
              <a:rPr lang="en-GB" sz="3800" b="1" dirty="0" smtClean="0">
                <a:solidFill>
                  <a:srgbClr val="0070C0"/>
                </a:solidFill>
              </a:rPr>
              <a:t>[1], </a:t>
            </a:r>
            <a:r>
              <a:rPr lang="en-GB" sz="3800" b="1" dirty="0" err="1" smtClean="0">
                <a:solidFill>
                  <a:srgbClr val="0070C0"/>
                </a:solidFill>
              </a:rPr>
              <a:t>podaci</a:t>
            </a:r>
            <a:r>
              <a:rPr lang="en-GB" sz="3800" b="1" dirty="0" smtClean="0">
                <a:solidFill>
                  <a:srgbClr val="0070C0"/>
                </a:solidFill>
              </a:rPr>
              <a:t>[2])</a:t>
            </a:r>
          </a:p>
          <a:p>
            <a:pPr marL="0" indent="0">
              <a:buNone/>
            </a:pPr>
            <a:endParaRPr lang="sr-Latn-RS" sz="3800" b="1" dirty="0" smtClean="0"/>
          </a:p>
          <a:p>
            <a:pPr marL="0" indent="0">
              <a:buNone/>
            </a:pPr>
            <a:endParaRPr lang="sr-Latn-RS" sz="3800" b="1" dirty="0"/>
          </a:p>
          <a:p>
            <a:pPr marL="0" indent="0">
              <a:buNone/>
            </a:pPr>
            <a:endParaRPr lang="sr-Latn-RS" sz="3800" b="1" dirty="0" smtClean="0"/>
          </a:p>
          <a:p>
            <a:pPr marL="0" indent="0">
              <a:buNone/>
            </a:pPr>
            <a:r>
              <a:rPr lang="en-GB" sz="3800" b="1" dirty="0" err="1" smtClean="0">
                <a:solidFill>
                  <a:srgbClr val="7030A0"/>
                </a:solidFill>
              </a:rPr>
              <a:t>Moglo</a:t>
            </a:r>
            <a:r>
              <a:rPr lang="en-GB" sz="3800" b="1" dirty="0" smtClean="0">
                <a:solidFill>
                  <a:srgbClr val="7030A0"/>
                </a:solidFill>
              </a:rPr>
              <a:t> je </a:t>
            </a:r>
            <a:r>
              <a:rPr lang="en-GB" sz="3800" b="1" dirty="0" err="1" smtClean="0">
                <a:solidFill>
                  <a:srgbClr val="7030A0"/>
                </a:solidFill>
              </a:rPr>
              <a:t>jo</a:t>
            </a:r>
            <a:r>
              <a:rPr lang="sr-Latn-RS" sz="3800" b="1" dirty="0" smtClean="0">
                <a:solidFill>
                  <a:srgbClr val="7030A0"/>
                </a:solidFill>
              </a:rPr>
              <a:t>š i ovako:</a:t>
            </a:r>
          </a:p>
          <a:p>
            <a:pPr marL="0" indent="0">
              <a:buNone/>
            </a:pPr>
            <a:endParaRPr lang="sr-Latn-RS" sz="38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7030A0"/>
                </a:solidFill>
              </a:rPr>
              <a:t>class Pas: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7030A0"/>
                </a:solidFill>
              </a:rPr>
              <a:t>    </a:t>
            </a:r>
            <a:r>
              <a:rPr lang="en-US" sz="3800" b="1" dirty="0" err="1">
                <a:solidFill>
                  <a:srgbClr val="7030A0"/>
                </a:solidFill>
              </a:rPr>
              <a:t>def</a:t>
            </a:r>
            <a:r>
              <a:rPr lang="en-US" sz="3800" b="1" dirty="0">
                <a:solidFill>
                  <a:srgbClr val="7030A0"/>
                </a:solidFill>
              </a:rPr>
              <a:t> __</a:t>
            </a:r>
            <a:r>
              <a:rPr lang="en-US" sz="3800" b="1" dirty="0" err="1">
                <a:solidFill>
                  <a:srgbClr val="7030A0"/>
                </a:solidFill>
              </a:rPr>
              <a:t>init</a:t>
            </a:r>
            <a:r>
              <a:rPr lang="en-US" sz="3800" b="1" dirty="0">
                <a:solidFill>
                  <a:srgbClr val="7030A0"/>
                </a:solidFill>
              </a:rPr>
              <a:t>__(self, </a:t>
            </a:r>
            <a:r>
              <a:rPr lang="sr-Latn-RS" sz="3800" b="1" dirty="0" smtClean="0">
                <a:solidFill>
                  <a:srgbClr val="7030A0"/>
                </a:solidFill>
              </a:rPr>
              <a:t>*podaci</a:t>
            </a:r>
            <a:r>
              <a:rPr lang="en-US" sz="3800" b="1" dirty="0" smtClean="0">
                <a:solidFill>
                  <a:srgbClr val="7030A0"/>
                </a:solidFill>
              </a:rPr>
              <a:t>):</a:t>
            </a:r>
            <a:endParaRPr lang="en-US" sz="3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7030A0"/>
                </a:solidFill>
              </a:rPr>
              <a:t>        </a:t>
            </a:r>
            <a:r>
              <a:rPr lang="en-US" sz="3800" b="1" dirty="0" err="1">
                <a:solidFill>
                  <a:srgbClr val="7030A0"/>
                </a:solidFill>
              </a:rPr>
              <a:t>self.ime</a:t>
            </a:r>
            <a:r>
              <a:rPr lang="en-US" sz="3800" b="1" dirty="0">
                <a:solidFill>
                  <a:srgbClr val="7030A0"/>
                </a:solidFill>
              </a:rPr>
              <a:t> = </a:t>
            </a:r>
            <a:r>
              <a:rPr lang="sr-Latn-RS" sz="3800" b="1" dirty="0">
                <a:solidFill>
                  <a:srgbClr val="7030A0"/>
                </a:solidFill>
              </a:rPr>
              <a:t>podaci</a:t>
            </a:r>
            <a:r>
              <a:rPr lang="en-GB" sz="3800" b="1" dirty="0">
                <a:solidFill>
                  <a:srgbClr val="7030A0"/>
                </a:solidFill>
              </a:rPr>
              <a:t>[0</a:t>
            </a:r>
            <a:r>
              <a:rPr lang="en-GB" sz="3800" b="1" dirty="0" smtClean="0">
                <a:solidFill>
                  <a:srgbClr val="7030A0"/>
                </a:solidFill>
              </a:rPr>
              <a:t>]</a:t>
            </a:r>
            <a:endParaRPr lang="en-US" sz="3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7030A0"/>
                </a:solidFill>
              </a:rPr>
              <a:t>        </a:t>
            </a:r>
            <a:r>
              <a:rPr lang="en-US" sz="3800" b="1" dirty="0" err="1">
                <a:solidFill>
                  <a:srgbClr val="7030A0"/>
                </a:solidFill>
              </a:rPr>
              <a:t>self.rasa</a:t>
            </a:r>
            <a:r>
              <a:rPr lang="en-US" sz="3800" b="1" dirty="0">
                <a:solidFill>
                  <a:srgbClr val="7030A0"/>
                </a:solidFill>
              </a:rPr>
              <a:t> = </a:t>
            </a:r>
            <a:r>
              <a:rPr lang="sr-Latn-RS" sz="3800" b="1" dirty="0">
                <a:solidFill>
                  <a:srgbClr val="7030A0"/>
                </a:solidFill>
              </a:rPr>
              <a:t>podaci</a:t>
            </a:r>
            <a:r>
              <a:rPr lang="en-GB" sz="3800" b="1" dirty="0" smtClean="0">
                <a:solidFill>
                  <a:srgbClr val="7030A0"/>
                </a:solidFill>
              </a:rPr>
              <a:t>[</a:t>
            </a:r>
            <a:r>
              <a:rPr lang="sr-Latn-RS" sz="3800" b="1" dirty="0" smtClean="0">
                <a:solidFill>
                  <a:srgbClr val="7030A0"/>
                </a:solidFill>
              </a:rPr>
              <a:t>1</a:t>
            </a:r>
            <a:r>
              <a:rPr lang="en-GB" sz="3800" b="1" dirty="0" smtClean="0">
                <a:solidFill>
                  <a:srgbClr val="7030A0"/>
                </a:solidFill>
              </a:rPr>
              <a:t>]</a:t>
            </a:r>
            <a:endParaRPr lang="en-US" sz="3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7030A0"/>
                </a:solidFill>
              </a:rPr>
              <a:t>        </a:t>
            </a:r>
            <a:r>
              <a:rPr lang="en-US" sz="3800" b="1" dirty="0" err="1">
                <a:solidFill>
                  <a:srgbClr val="7030A0"/>
                </a:solidFill>
              </a:rPr>
              <a:t>self.godine</a:t>
            </a:r>
            <a:r>
              <a:rPr lang="en-US" sz="3800" b="1" dirty="0">
                <a:solidFill>
                  <a:srgbClr val="7030A0"/>
                </a:solidFill>
              </a:rPr>
              <a:t> = </a:t>
            </a:r>
            <a:r>
              <a:rPr lang="sr-Latn-RS" sz="3800" b="1" dirty="0">
                <a:solidFill>
                  <a:srgbClr val="7030A0"/>
                </a:solidFill>
              </a:rPr>
              <a:t>podaci</a:t>
            </a:r>
            <a:r>
              <a:rPr lang="en-GB" sz="3800" b="1" dirty="0" smtClean="0">
                <a:solidFill>
                  <a:srgbClr val="7030A0"/>
                </a:solidFill>
              </a:rPr>
              <a:t>[</a:t>
            </a:r>
            <a:r>
              <a:rPr lang="sr-Latn-RS" sz="3800" b="1" dirty="0" smtClean="0">
                <a:solidFill>
                  <a:srgbClr val="7030A0"/>
                </a:solidFill>
              </a:rPr>
              <a:t>2</a:t>
            </a:r>
            <a:r>
              <a:rPr lang="en-GB" sz="3800" b="1" dirty="0" smtClean="0">
                <a:solidFill>
                  <a:srgbClr val="7030A0"/>
                </a:solidFill>
              </a:rPr>
              <a:t>]</a:t>
            </a:r>
            <a:endParaRPr lang="sr-Latn-RS" sz="3800" b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sr-Latn-RS" sz="3800" b="1" dirty="0" smtClean="0">
                <a:solidFill>
                  <a:srgbClr val="7030A0"/>
                </a:solidFill>
              </a:rPr>
              <a:t>...</a:t>
            </a:r>
            <a:endParaRPr lang="en-US" sz="3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3800" b="1" dirty="0" err="1">
                <a:solidFill>
                  <a:srgbClr val="7030A0"/>
                </a:solidFill>
              </a:rPr>
              <a:t>moj_pas</a:t>
            </a:r>
            <a:r>
              <a:rPr lang="en-US" sz="3800" b="1" dirty="0">
                <a:solidFill>
                  <a:srgbClr val="7030A0"/>
                </a:solidFill>
              </a:rPr>
              <a:t> = Pas(</a:t>
            </a:r>
            <a:r>
              <a:rPr lang="sr-Latn-RS" sz="3800" b="1" dirty="0">
                <a:solidFill>
                  <a:srgbClr val="7030A0"/>
                </a:solidFill>
              </a:rPr>
              <a:t>*</a:t>
            </a:r>
            <a:r>
              <a:rPr lang="en-US" sz="3800" b="1" dirty="0" err="1">
                <a:solidFill>
                  <a:srgbClr val="7030A0"/>
                </a:solidFill>
              </a:rPr>
              <a:t>unos</a:t>
            </a:r>
            <a:r>
              <a:rPr lang="en-US" sz="3800" b="1" dirty="0">
                <a:solidFill>
                  <a:srgbClr val="7030A0"/>
                </a:solidFill>
              </a:rPr>
              <a:t>())</a:t>
            </a:r>
          </a:p>
          <a:p>
            <a:pPr marL="0" indent="0">
              <a:buNone/>
            </a:pPr>
            <a:r>
              <a:rPr lang="en-US" sz="3800" b="1" dirty="0" err="1">
                <a:solidFill>
                  <a:srgbClr val="7030A0"/>
                </a:solidFill>
              </a:rPr>
              <a:t>tvoj_pas</a:t>
            </a:r>
            <a:r>
              <a:rPr lang="en-US" sz="3800" b="1" dirty="0">
                <a:solidFill>
                  <a:srgbClr val="7030A0"/>
                </a:solidFill>
              </a:rPr>
              <a:t> = Pas(</a:t>
            </a:r>
            <a:r>
              <a:rPr lang="sr-Latn-RS" sz="3800" b="1" dirty="0">
                <a:solidFill>
                  <a:srgbClr val="7030A0"/>
                </a:solidFill>
              </a:rPr>
              <a:t>*</a:t>
            </a:r>
            <a:r>
              <a:rPr lang="en-US" sz="3800" b="1" dirty="0" err="1">
                <a:solidFill>
                  <a:srgbClr val="7030A0"/>
                </a:solidFill>
              </a:rPr>
              <a:t>unos</a:t>
            </a:r>
            <a:r>
              <a:rPr lang="en-US" sz="3800" b="1" dirty="0">
                <a:solidFill>
                  <a:srgbClr val="7030A0"/>
                </a:solidFill>
              </a:rPr>
              <a:t>())</a:t>
            </a:r>
          </a:p>
          <a:p>
            <a:pPr marL="0" indent="0">
              <a:buNone/>
            </a:pPr>
            <a:endParaRPr lang="sr-Latn-RS" sz="3800" b="1" dirty="0" smtClean="0"/>
          </a:p>
          <a:p>
            <a:pPr marL="0" indent="0">
              <a:buNone/>
            </a:pPr>
            <a:r>
              <a:rPr lang="sr-Latn-RS" sz="3800" dirty="0"/>
              <a:t>Ako pozovete </a:t>
            </a:r>
            <a:r>
              <a:rPr lang="sr-Latn-RS" sz="3800" b="1" dirty="0">
                <a:solidFill>
                  <a:srgbClr val="7030A0"/>
                </a:solidFill>
              </a:rPr>
              <a:t>Pas(unos()) </a:t>
            </a:r>
            <a:r>
              <a:rPr lang="sr-Latn-RS" sz="3800" b="1" dirty="0"/>
              <a:t>bez zvezdice </a:t>
            </a:r>
            <a:r>
              <a:rPr lang="sr-Latn-RS" sz="3800" dirty="0"/>
              <a:t>u pozivu: </a:t>
            </a:r>
            <a:r>
              <a:rPr lang="sr-Latn-RS" sz="3800" dirty="0" smtClean="0"/>
              <a:t>funkcija </a:t>
            </a:r>
            <a:r>
              <a:rPr lang="sr-Latn-RS" sz="3800" b="1" dirty="0">
                <a:solidFill>
                  <a:srgbClr val="7030A0"/>
                </a:solidFill>
              </a:rPr>
              <a:t>unos() </a:t>
            </a:r>
            <a:r>
              <a:rPr lang="sr-Latn-RS" sz="3800" dirty="0"/>
              <a:t>šalje jedan objekat (torku). </a:t>
            </a:r>
            <a:br>
              <a:rPr lang="sr-Latn-RS" sz="3800" dirty="0"/>
            </a:br>
            <a:r>
              <a:rPr lang="sr-Latn-RS" sz="3800" dirty="0" smtClean="0"/>
              <a:t>Unutar </a:t>
            </a:r>
            <a:r>
              <a:rPr lang="sr-Latn-RS" sz="3800" b="1" dirty="0">
                <a:solidFill>
                  <a:srgbClr val="7030A0"/>
                </a:solidFill>
              </a:rPr>
              <a:t>__init__(self, *podaci)</a:t>
            </a:r>
            <a:r>
              <a:rPr lang="sr-Latn-RS" sz="3800" dirty="0"/>
              <a:t>,</a:t>
            </a:r>
            <a:r>
              <a:rPr lang="sr-Latn-RS" sz="3800" b="1" dirty="0"/>
              <a:t> </a:t>
            </a:r>
            <a:r>
              <a:rPr lang="sr-Latn-RS" sz="3800" dirty="0" smtClean="0"/>
              <a:t>promenljiva podaci </a:t>
            </a:r>
            <a:r>
              <a:rPr lang="sr-Latn-RS" sz="3800" dirty="0"/>
              <a:t>će postati "torka unutar torke" ((ime, rasa, godine</a:t>
            </a:r>
            <a:r>
              <a:rPr lang="sr-Latn-RS" sz="3800" dirty="0" smtClean="0"/>
              <a:t>)). </a:t>
            </a:r>
            <a:r>
              <a:rPr lang="sr-Latn-RS" sz="3800" dirty="0"/>
              <a:t>Da biste pristupili imenu, morali </a:t>
            </a:r>
            <a:r>
              <a:rPr lang="sr-Latn-RS" sz="3800" dirty="0" smtClean="0"/>
              <a:t>bi da kucate </a:t>
            </a:r>
            <a:br>
              <a:rPr lang="sr-Latn-RS" sz="3800" dirty="0" smtClean="0"/>
            </a:br>
            <a:r>
              <a:rPr lang="sr-Latn-RS" sz="3800" b="1" dirty="0" smtClean="0">
                <a:solidFill>
                  <a:srgbClr val="7030A0"/>
                </a:solidFill>
              </a:rPr>
              <a:t>self.ime </a:t>
            </a:r>
            <a:r>
              <a:rPr lang="sr-Latn-RS" sz="3800" b="1" dirty="0">
                <a:solidFill>
                  <a:srgbClr val="7030A0"/>
                </a:solidFill>
              </a:rPr>
              <a:t>= podaci[0][0</a:t>
            </a:r>
            <a:r>
              <a:rPr lang="sr-Latn-RS" sz="3800" b="1" dirty="0" smtClean="0">
                <a:solidFill>
                  <a:srgbClr val="7030A0"/>
                </a:solidFill>
              </a:rPr>
              <a:t>]</a:t>
            </a:r>
            <a:endParaRPr lang="sr-Latn-RS" sz="3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sr-Latn-RS" sz="3800" dirty="0" smtClean="0"/>
              <a:t>Zato je bolje da </a:t>
            </a:r>
            <a:r>
              <a:rPr lang="sr-Latn-RS" sz="3800" dirty="0"/>
              <a:t>koristite </a:t>
            </a:r>
            <a:r>
              <a:rPr lang="sr-Latn-RS" sz="3800" b="1" dirty="0"/>
              <a:t>*</a:t>
            </a:r>
            <a:r>
              <a:rPr lang="sr-Latn-RS" sz="3800" dirty="0"/>
              <a:t> pri pozivu funkcije </a:t>
            </a:r>
            <a:r>
              <a:rPr lang="sr-Latn-RS" sz="3800" b="1" dirty="0">
                <a:solidFill>
                  <a:srgbClr val="7030A0"/>
                </a:solidFill>
              </a:rPr>
              <a:t>Pas(*unos())</a:t>
            </a:r>
            <a:r>
              <a:rPr lang="sr-Latn-RS" sz="3800" dirty="0"/>
              <a:t>.</a:t>
            </a:r>
            <a:r>
              <a:rPr lang="sr-Latn-RS" sz="3800" b="1" dirty="0">
                <a:solidFill>
                  <a:srgbClr val="7030A0"/>
                </a:solidFill>
              </a:rPr>
              <a:t> </a:t>
            </a:r>
            <a:r>
              <a:rPr lang="sr-Latn-RS" sz="3800" dirty="0"/>
              <a:t>To se naziva </a:t>
            </a:r>
            <a:r>
              <a:rPr lang="sr-Latn-RS" sz="3800" b="1" dirty="0"/>
              <a:t>unpacking (raspakivanje)</a:t>
            </a:r>
            <a:r>
              <a:rPr lang="sr-Latn-RS" sz="3800" dirty="0"/>
              <a:t> na strani pozivaoca i </a:t>
            </a:r>
            <a:r>
              <a:rPr lang="sr-Latn-RS" sz="3800" b="1" dirty="0"/>
              <a:t>packing (pakovanje) </a:t>
            </a:r>
            <a:r>
              <a:rPr lang="sr-Latn-RS" sz="3800" dirty="0"/>
              <a:t>na strani funkcije.</a:t>
            </a:r>
            <a:endParaRPr lang="sr-Latn-RS" sz="3800" dirty="0" smtClean="0"/>
          </a:p>
        </p:txBody>
      </p:sp>
      <p:sp>
        <p:nvSpPr>
          <p:cNvPr id="7" name="Rounded Rectangular Callout 6"/>
          <p:cNvSpPr/>
          <p:nvPr/>
        </p:nvSpPr>
        <p:spPr>
          <a:xfrm>
            <a:off x="2699792" y="5589240"/>
            <a:ext cx="1512168" cy="1080120"/>
          </a:xfrm>
          <a:prstGeom prst="wedgeRoundRectCallout">
            <a:avLst>
              <a:gd name="adj1" fmla="val -53960"/>
              <a:gd name="adj2" fmla="val -7884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dirty="0" smtClean="0"/>
              <a:t>Najbolji  je ovaj način.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111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216008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000" b="1" u="sng" dirty="0" smtClean="0"/>
              <a:t>Pitanje: </a:t>
            </a:r>
            <a:r>
              <a:rPr lang="en-US" sz="2000" b="1" dirty="0" err="1" smtClean="0"/>
              <a:t>Koja</a:t>
            </a:r>
            <a:r>
              <a:rPr lang="en-US" sz="2000" b="1" dirty="0" smtClean="0"/>
              <a:t> </a:t>
            </a:r>
            <a:r>
              <a:rPr lang="en-US" sz="2000" b="1" dirty="0"/>
              <a:t>je </a:t>
            </a:r>
            <a:r>
              <a:rPr lang="en-US" sz="2000" b="1" dirty="0" err="1"/>
              <a:t>prednost</a:t>
            </a:r>
            <a:r>
              <a:rPr lang="en-US" sz="2000" b="1" dirty="0"/>
              <a:t> </a:t>
            </a:r>
            <a:r>
              <a:rPr lang="en-US" sz="2000" b="1" dirty="0" err="1"/>
              <a:t>što</a:t>
            </a:r>
            <a:r>
              <a:rPr lang="en-US" sz="2000" b="1" dirty="0"/>
              <a:t> </a:t>
            </a:r>
            <a:r>
              <a:rPr lang="en-US" sz="2000" b="1" dirty="0" err="1"/>
              <a:t>pri</a:t>
            </a:r>
            <a:r>
              <a:rPr lang="en-US" sz="2000" b="1" dirty="0"/>
              <a:t> </a:t>
            </a:r>
            <a:r>
              <a:rPr lang="en-US" sz="2000" b="1" dirty="0" err="1"/>
              <a:t>pozivu</a:t>
            </a:r>
            <a:r>
              <a:rPr lang="en-US" sz="2000" b="1" dirty="0"/>
              <a:t> </a:t>
            </a:r>
            <a:r>
              <a:rPr lang="en-US" sz="2000" b="1" dirty="0" err="1"/>
              <a:t>funkcije</a:t>
            </a:r>
            <a:r>
              <a:rPr lang="en-US" sz="2000" b="1" dirty="0"/>
              <a:t> </a:t>
            </a:r>
            <a:r>
              <a:rPr lang="en-US" sz="2000" b="1" dirty="0" err="1"/>
              <a:t>radimo</a:t>
            </a:r>
            <a:r>
              <a:rPr lang="en-US" sz="2000" b="1" dirty="0"/>
              <a:t> </a:t>
            </a:r>
            <a:r>
              <a:rPr lang="en-US" sz="2000" b="1" dirty="0" err="1"/>
              <a:t>raspakivanje</a:t>
            </a:r>
            <a:r>
              <a:rPr lang="en-US" sz="2000" b="1" dirty="0"/>
              <a:t>, a u </a:t>
            </a:r>
            <a:r>
              <a:rPr lang="en-US" sz="2000" b="1" dirty="0" err="1"/>
              <a:t>definiciji</a:t>
            </a:r>
            <a:r>
              <a:rPr lang="en-US" sz="2000" b="1" dirty="0"/>
              <a:t> </a:t>
            </a:r>
            <a:r>
              <a:rPr lang="en-US" sz="2000" b="1" dirty="0" err="1"/>
              <a:t>funkcije</a:t>
            </a:r>
            <a:r>
              <a:rPr lang="en-US" sz="2000" b="1" dirty="0"/>
              <a:t> </a:t>
            </a:r>
            <a:r>
              <a:rPr lang="en-US" sz="2000" b="1" dirty="0" err="1"/>
              <a:t>pakovanje</a:t>
            </a:r>
            <a:r>
              <a:rPr lang="en-US" sz="2000" b="1" dirty="0"/>
              <a:t>? </a:t>
            </a:r>
            <a:r>
              <a:rPr lang="en-US" sz="2000" b="1" dirty="0" err="1"/>
              <a:t>Zar</a:t>
            </a:r>
            <a:r>
              <a:rPr lang="en-US" sz="2000" b="1" dirty="0"/>
              <a:t> </a:t>
            </a:r>
            <a:r>
              <a:rPr lang="en-US" sz="2000" b="1" dirty="0" err="1"/>
              <a:t>nije</a:t>
            </a:r>
            <a:r>
              <a:rPr lang="en-US" sz="2000" b="1" dirty="0"/>
              <a:t> </a:t>
            </a:r>
            <a:r>
              <a:rPr lang="en-US" sz="2000" b="1" dirty="0" err="1"/>
              <a:t>jedostavnije</a:t>
            </a:r>
            <a:r>
              <a:rPr lang="en-US" sz="2000" b="1" dirty="0"/>
              <a:t> </a:t>
            </a:r>
            <a:r>
              <a:rPr lang="en-US" sz="2000" b="1" dirty="0" err="1"/>
              <a:t>pri</a:t>
            </a:r>
            <a:r>
              <a:rPr lang="en-US" sz="2000" b="1" dirty="0"/>
              <a:t> </a:t>
            </a:r>
            <a:r>
              <a:rPr lang="en-US" sz="2000" b="1" dirty="0" err="1"/>
              <a:t>pozivu</a:t>
            </a:r>
            <a:r>
              <a:rPr lang="en-US" sz="2000" b="1" dirty="0"/>
              <a:t> </a:t>
            </a:r>
            <a:r>
              <a:rPr lang="en-US" sz="2000" b="1" dirty="0" err="1"/>
              <a:t>funkcije</a:t>
            </a:r>
            <a:r>
              <a:rPr lang="en-US" sz="2000" b="1" dirty="0"/>
              <a:t> </a:t>
            </a:r>
            <a:r>
              <a:rPr lang="en-US" sz="2000" b="1" dirty="0" err="1"/>
              <a:t>ostaviti</a:t>
            </a:r>
            <a:r>
              <a:rPr lang="en-US" sz="2000" b="1" dirty="0"/>
              <a:t> argument da </a:t>
            </a:r>
            <a:r>
              <a:rPr lang="en-US" sz="2000" b="1" dirty="0" err="1"/>
              <a:t>bude</a:t>
            </a:r>
            <a:r>
              <a:rPr lang="en-US" sz="2000" b="1" dirty="0"/>
              <a:t> </a:t>
            </a:r>
            <a:r>
              <a:rPr lang="en-US" sz="2000" b="1" dirty="0" err="1"/>
              <a:t>ono</a:t>
            </a:r>
            <a:r>
              <a:rPr lang="en-US" sz="2000" b="1" dirty="0"/>
              <a:t> </a:t>
            </a:r>
            <a:r>
              <a:rPr lang="en-US" sz="2000" b="1" dirty="0" err="1"/>
              <a:t>što</a:t>
            </a:r>
            <a:r>
              <a:rPr lang="en-US" sz="2000" b="1" dirty="0"/>
              <a:t> </a:t>
            </a:r>
            <a:r>
              <a:rPr lang="en-US" sz="2000" b="1" dirty="0" err="1"/>
              <a:t>jeste</a:t>
            </a:r>
            <a:r>
              <a:rPr lang="en-US" sz="2000" b="1" dirty="0"/>
              <a:t> (</a:t>
            </a:r>
            <a:r>
              <a:rPr lang="en-US" sz="2000" b="1" dirty="0" err="1"/>
              <a:t>na</a:t>
            </a:r>
            <a:r>
              <a:rPr lang="en-US" sz="2000" b="1" dirty="0"/>
              <a:t> primer </a:t>
            </a:r>
            <a:r>
              <a:rPr lang="en-US" sz="2000" b="1" dirty="0" err="1"/>
              <a:t>torka</a:t>
            </a:r>
            <a:r>
              <a:rPr lang="en-US" sz="2000" b="1" dirty="0"/>
              <a:t>), a u </a:t>
            </a:r>
            <a:r>
              <a:rPr lang="en-US" sz="2000" b="1" dirty="0" err="1"/>
              <a:t>funkciji</a:t>
            </a:r>
            <a:r>
              <a:rPr lang="en-US" sz="2000" b="1" dirty="0"/>
              <a:t> </a:t>
            </a:r>
            <a:r>
              <a:rPr lang="en-US" sz="2000" b="1" dirty="0" err="1"/>
              <a:t>pristupati</a:t>
            </a:r>
            <a:r>
              <a:rPr lang="en-US" sz="2000" b="1" dirty="0"/>
              <a:t> </a:t>
            </a:r>
            <a:r>
              <a:rPr lang="en-US" sz="2000" b="1" dirty="0" err="1"/>
              <a:t>elementima</a:t>
            </a:r>
            <a:r>
              <a:rPr lang="en-US" sz="2000" b="1" dirty="0"/>
              <a:t> (</a:t>
            </a:r>
            <a:r>
              <a:rPr lang="en-US" sz="2000" b="1" dirty="0" err="1"/>
              <a:t>torke</a:t>
            </a:r>
            <a:r>
              <a:rPr lang="en-US" sz="2000" b="1" dirty="0"/>
              <a:t>) </a:t>
            </a:r>
            <a:r>
              <a:rPr lang="en-US" sz="2000" b="1" dirty="0" err="1"/>
              <a:t>preko</a:t>
            </a:r>
            <a:r>
              <a:rPr lang="en-US" sz="2000" b="1" dirty="0"/>
              <a:t> </a:t>
            </a:r>
            <a:r>
              <a:rPr lang="en-US" sz="2000" b="1" dirty="0" err="1"/>
              <a:t>indeksa</a:t>
            </a:r>
            <a:r>
              <a:rPr lang="en-US" sz="2000" b="1" dirty="0" smtClean="0"/>
              <a:t>?</a:t>
            </a:r>
            <a:endParaRPr lang="sr-Latn-RS" sz="2000" b="1" dirty="0" smtClean="0"/>
          </a:p>
          <a:p>
            <a:pPr marL="0" indent="0">
              <a:buNone/>
            </a:pPr>
            <a:r>
              <a:rPr lang="sr-Latn-RS" sz="1600" b="1" dirty="0"/>
              <a:t>def __init__(self, podaci):</a:t>
            </a:r>
          </a:p>
          <a:p>
            <a:pPr marL="0" indent="0">
              <a:buNone/>
            </a:pPr>
            <a:r>
              <a:rPr lang="sr-Latn-RS" sz="1600" b="1" dirty="0"/>
              <a:t>        self.ime = podaci[0]</a:t>
            </a:r>
          </a:p>
          <a:p>
            <a:pPr marL="0" indent="0">
              <a:buNone/>
            </a:pPr>
            <a:r>
              <a:rPr lang="sr-Latn-RS" sz="1600" b="1" dirty="0"/>
              <a:t>        self.rasa = podaci[1]</a:t>
            </a:r>
          </a:p>
          <a:p>
            <a:pPr marL="0" indent="0">
              <a:buNone/>
            </a:pPr>
            <a:r>
              <a:rPr lang="sr-Latn-RS" sz="1600" b="1" dirty="0"/>
              <a:t>      </a:t>
            </a:r>
            <a:r>
              <a:rPr lang="sr-Latn-RS" sz="1600" b="1" dirty="0" smtClean="0"/>
              <a:t>  </a:t>
            </a:r>
            <a:r>
              <a:rPr lang="sr-Latn-RS" sz="1600" b="1" dirty="0"/>
              <a:t>self.godine = podaci[2</a:t>
            </a:r>
            <a:r>
              <a:rPr lang="sr-Latn-RS" sz="1600" b="1" dirty="0" smtClean="0"/>
              <a:t>]</a:t>
            </a:r>
          </a:p>
          <a:p>
            <a:pPr marL="0" indent="0">
              <a:buNone/>
            </a:pPr>
            <a:r>
              <a:rPr lang="sr-Latn-RS" sz="800" b="1" dirty="0" smtClean="0"/>
              <a:t>.......</a:t>
            </a:r>
          </a:p>
          <a:p>
            <a:pPr marL="0" indent="0">
              <a:buNone/>
            </a:pPr>
            <a:r>
              <a:rPr lang="en-US" sz="1600" b="1" dirty="0" err="1"/>
              <a:t>def</a:t>
            </a:r>
            <a:r>
              <a:rPr lang="en-US" sz="1600" b="1" dirty="0"/>
              <a:t> </a:t>
            </a:r>
            <a:r>
              <a:rPr lang="en-US" sz="1600" b="1" dirty="0" err="1"/>
              <a:t>unos</a:t>
            </a:r>
            <a:r>
              <a:rPr lang="en-US" sz="1600" b="1" dirty="0"/>
              <a:t>():</a:t>
            </a:r>
            <a:r>
              <a:rPr lang="sr-Latn-RS" sz="1600" b="1" dirty="0"/>
              <a:t> </a:t>
            </a:r>
            <a:r>
              <a:rPr lang="sr-Latn-RS" sz="1600" b="1" dirty="0" smtClean="0"/>
              <a:t>....</a:t>
            </a:r>
          </a:p>
          <a:p>
            <a:pPr marL="0" indent="0">
              <a:buNone/>
            </a:pPr>
            <a:r>
              <a:rPr lang="sr-Latn-RS" sz="1600" b="1" dirty="0"/>
              <a:t> </a:t>
            </a:r>
            <a:r>
              <a:rPr lang="sr-Latn-RS" sz="1600" b="1" dirty="0" smtClean="0"/>
              <a:t>   return </a:t>
            </a:r>
            <a:r>
              <a:rPr lang="sr-Latn-RS" sz="1600" b="1" dirty="0"/>
              <a:t>(ime, rasa, godine) </a:t>
            </a:r>
            <a:endParaRPr lang="sr-Latn-RS" sz="1600" b="1" dirty="0" smtClean="0"/>
          </a:p>
          <a:p>
            <a:pPr marL="0" indent="0">
              <a:buNone/>
            </a:pPr>
            <a:r>
              <a:rPr lang="sr-Latn-RS" sz="1600" b="1" dirty="0" smtClean="0"/>
              <a:t>moj_pas </a:t>
            </a:r>
            <a:r>
              <a:rPr lang="sr-Latn-RS" sz="1600" b="1" dirty="0"/>
              <a:t>= Pas(unos</a:t>
            </a:r>
            <a:r>
              <a:rPr lang="sr-Latn-RS" sz="1600" b="1" dirty="0" smtClean="0"/>
              <a:t>())</a:t>
            </a:r>
          </a:p>
          <a:p>
            <a:pPr marL="0" indent="0">
              <a:buNone/>
            </a:pPr>
            <a:endParaRPr lang="sr-Latn-RS" sz="2000" b="1" dirty="0" smtClean="0"/>
          </a:p>
        </p:txBody>
      </p:sp>
      <p:sp>
        <p:nvSpPr>
          <p:cNvPr id="2" name="Rectangle 1"/>
          <p:cNvSpPr/>
          <p:nvPr/>
        </p:nvSpPr>
        <p:spPr>
          <a:xfrm>
            <a:off x="3851920" y="980728"/>
            <a:ext cx="4968552" cy="2520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1. </a:t>
            </a:r>
            <a:r>
              <a:rPr lang="en-US" b="1" dirty="0" err="1" smtClean="0"/>
              <a:t>Čitljivost</a:t>
            </a:r>
            <a:r>
              <a:rPr lang="en-US" b="1" dirty="0" smtClean="0"/>
              <a:t> </a:t>
            </a:r>
            <a:r>
              <a:rPr lang="en-US" b="1" dirty="0"/>
              <a:t>i </a:t>
            </a:r>
            <a:r>
              <a:rPr lang="en-US" b="1" dirty="0" err="1"/>
              <a:t>namera</a:t>
            </a:r>
            <a:r>
              <a:rPr lang="en-US" b="1" dirty="0"/>
              <a:t> (</a:t>
            </a:r>
            <a:r>
              <a:rPr lang="en-US" b="1" dirty="0" smtClean="0"/>
              <a:t>Intent)</a:t>
            </a:r>
            <a:r>
              <a:rPr lang="sr-Latn-RS" b="1" dirty="0" smtClean="0"/>
              <a:t>: </a:t>
            </a:r>
            <a:r>
              <a:rPr lang="en-US" dirty="0" err="1" smtClean="0"/>
              <a:t>Kada</a:t>
            </a:r>
            <a:r>
              <a:rPr lang="en-US" dirty="0" smtClean="0"/>
              <a:t> </a:t>
            </a:r>
            <a:r>
              <a:rPr lang="en-US" dirty="0" err="1"/>
              <a:t>koristiš</a:t>
            </a:r>
            <a:r>
              <a:rPr lang="en-US" dirty="0"/>
              <a:t> </a:t>
            </a:r>
            <a:r>
              <a:rPr lang="en-US" dirty="0" err="1"/>
              <a:t>raspakivanje</a:t>
            </a:r>
            <a:r>
              <a:rPr lang="en-US" dirty="0"/>
              <a:t>,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 "</a:t>
            </a:r>
            <a:r>
              <a:rPr lang="en-US" dirty="0" err="1"/>
              <a:t>samoopisujući</a:t>
            </a:r>
            <a:r>
              <a:rPr lang="en-US" dirty="0"/>
              <a:t>".</a:t>
            </a:r>
          </a:p>
          <a:p>
            <a:r>
              <a:rPr lang="en-US" b="1" dirty="0" err="1" smtClean="0"/>
              <a:t>Pristup</a:t>
            </a:r>
            <a:r>
              <a:rPr lang="en-US" b="1" dirty="0" smtClean="0"/>
              <a:t> </a:t>
            </a:r>
            <a:r>
              <a:rPr lang="en-US" b="1" dirty="0" err="1"/>
              <a:t>preko</a:t>
            </a:r>
            <a:r>
              <a:rPr lang="en-US" b="1" dirty="0"/>
              <a:t> </a:t>
            </a:r>
            <a:r>
              <a:rPr lang="en-US" b="1" dirty="0" err="1"/>
              <a:t>indeksa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 smtClean="0"/>
              <a:t>Šta</a:t>
            </a:r>
            <a:r>
              <a:rPr lang="en-US" dirty="0" smtClean="0"/>
              <a:t> </a:t>
            </a:r>
            <a:r>
              <a:rPr lang="en-US" dirty="0"/>
              <a:t>je </a:t>
            </a:r>
            <a:r>
              <a:rPr lang="en-US" dirty="0" err="1"/>
              <a:t>podaci</a:t>
            </a:r>
            <a:r>
              <a:rPr lang="en-US" dirty="0"/>
              <a:t>[0]? To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. </a:t>
            </a:r>
            <a:r>
              <a:rPr lang="en-US" dirty="0" err="1"/>
              <a:t>Moras</a:t>
            </a:r>
            <a:r>
              <a:rPr lang="en-US" dirty="0"/>
              <a:t> da </a:t>
            </a:r>
            <a:r>
              <a:rPr lang="en-US" dirty="0" err="1"/>
              <a:t>pamtiš</a:t>
            </a:r>
            <a:r>
              <a:rPr lang="en-US" dirty="0"/>
              <a:t> </a:t>
            </a:r>
            <a:r>
              <a:rPr lang="en-US" dirty="0" err="1"/>
              <a:t>redosled</a:t>
            </a:r>
            <a:r>
              <a:rPr lang="en-US" dirty="0"/>
              <a:t>.</a:t>
            </a:r>
          </a:p>
          <a:p>
            <a:r>
              <a:rPr lang="en-US" b="1" dirty="0" err="1" smtClean="0"/>
              <a:t>Raspakivanje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funkcija</a:t>
            </a:r>
            <a:r>
              <a:rPr lang="en-US" dirty="0"/>
              <a:t>(*</a:t>
            </a:r>
            <a:r>
              <a:rPr lang="en-US" dirty="0" err="1"/>
              <a:t>podaci</a:t>
            </a:r>
            <a:r>
              <a:rPr lang="en-US" dirty="0"/>
              <a:t>). </a:t>
            </a:r>
            <a:r>
              <a:rPr lang="en-US" dirty="0" err="1"/>
              <a:t>Ovim</a:t>
            </a:r>
            <a:r>
              <a:rPr lang="en-US" dirty="0"/>
              <a:t> </a:t>
            </a:r>
            <a:r>
              <a:rPr lang="en-US" dirty="0" err="1"/>
              <a:t>jasno</a:t>
            </a:r>
            <a:r>
              <a:rPr lang="en-US" dirty="0"/>
              <a:t> </a:t>
            </a:r>
            <a:r>
              <a:rPr lang="en-US" dirty="0" err="1"/>
              <a:t>poručuješ</a:t>
            </a:r>
            <a:r>
              <a:rPr lang="en-US" dirty="0"/>
              <a:t>: "Ova </a:t>
            </a:r>
            <a:r>
              <a:rPr lang="en-US" dirty="0" err="1"/>
              <a:t>torka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objekat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pojedinačnih</a:t>
            </a:r>
            <a:r>
              <a:rPr lang="en-US" dirty="0"/>
              <a:t> </a:t>
            </a:r>
            <a:r>
              <a:rPr lang="en-US" dirty="0" err="1"/>
              <a:t>argumenata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šaljem</a:t>
            </a:r>
            <a:r>
              <a:rPr lang="en-US" dirty="0"/>
              <a:t> </a:t>
            </a:r>
            <a:r>
              <a:rPr lang="en-US" dirty="0" err="1"/>
              <a:t>funkciji</a:t>
            </a:r>
            <a:r>
              <a:rPr lang="en-US" dirty="0" smtClean="0"/>
              <a:t>".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9512" y="3501008"/>
            <a:ext cx="8856984" cy="33843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2. </a:t>
            </a:r>
            <a:r>
              <a:rPr lang="en-US" b="1" dirty="0" err="1"/>
              <a:t>Fleksibilnost</a:t>
            </a:r>
            <a:r>
              <a:rPr lang="en-US" b="1" dirty="0"/>
              <a:t> (</a:t>
            </a:r>
            <a:r>
              <a:rPr lang="en-US" b="1" dirty="0" err="1"/>
              <a:t>Univerzalni</a:t>
            </a:r>
            <a:r>
              <a:rPr lang="en-US" b="1" dirty="0"/>
              <a:t> </a:t>
            </a:r>
            <a:r>
              <a:rPr lang="en-US" b="1" dirty="0" err="1"/>
              <a:t>interfejs</a:t>
            </a:r>
            <a:r>
              <a:rPr lang="en-US" b="1" dirty="0"/>
              <a:t>)</a:t>
            </a:r>
            <a:r>
              <a:rPr lang="sr-Latn-RS" b="1" dirty="0"/>
              <a:t>: </a:t>
            </a:r>
            <a:r>
              <a:rPr lang="en-US" dirty="0" err="1"/>
              <a:t>Zamisli</a:t>
            </a:r>
            <a:r>
              <a:rPr lang="en-US" dirty="0"/>
              <a:t> da </a:t>
            </a:r>
            <a:r>
              <a:rPr lang="en-US" dirty="0" err="1"/>
              <a:t>pišeš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sabira</a:t>
            </a:r>
            <a:r>
              <a:rPr lang="en-US" dirty="0"/>
              <a:t> </a:t>
            </a:r>
            <a:r>
              <a:rPr lang="en-US" dirty="0" err="1"/>
              <a:t>brojeve</a:t>
            </a:r>
            <a:r>
              <a:rPr lang="en-US" dirty="0"/>
              <a:t>.</a:t>
            </a:r>
          </a:p>
          <a:p>
            <a:r>
              <a:rPr lang="en-US" b="1" dirty="0" err="1" smtClean="0"/>
              <a:t>Bez</a:t>
            </a:r>
            <a:r>
              <a:rPr lang="en-US" b="1" dirty="0" smtClean="0"/>
              <a:t> </a:t>
            </a:r>
            <a:r>
              <a:rPr lang="en-US" b="1" dirty="0" err="1"/>
              <a:t>pakovanja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mora</a:t>
            </a:r>
            <a:r>
              <a:rPr lang="en-US" dirty="0"/>
              <a:t> da </a:t>
            </a:r>
            <a:r>
              <a:rPr lang="en-US" dirty="0" err="1"/>
              <a:t>primi</a:t>
            </a:r>
            <a:r>
              <a:rPr lang="en-US" dirty="0"/>
              <a:t> </a:t>
            </a:r>
            <a:r>
              <a:rPr lang="en-US" b="1" i="1" dirty="0" err="1"/>
              <a:t>jedan</a:t>
            </a:r>
            <a:r>
              <a:rPr lang="en-US" dirty="0"/>
              <a:t> argument (</a:t>
            </a:r>
            <a:r>
              <a:rPr lang="en-US" dirty="0" err="1"/>
              <a:t>listu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torku</a:t>
            </a:r>
            <a:r>
              <a:rPr lang="en-US" dirty="0"/>
              <a:t>).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želiš</a:t>
            </a:r>
            <a:r>
              <a:rPr lang="en-US" dirty="0"/>
              <a:t> da </a:t>
            </a:r>
            <a:r>
              <a:rPr lang="en-US" dirty="0" err="1"/>
              <a:t>sabereš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, </a:t>
            </a:r>
            <a:r>
              <a:rPr lang="en-US" dirty="0" err="1"/>
              <a:t>moraš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staviti</a:t>
            </a:r>
            <a:r>
              <a:rPr lang="en-US" dirty="0"/>
              <a:t> u </a:t>
            </a:r>
            <a:r>
              <a:rPr lang="en-US" dirty="0" err="1"/>
              <a:t>zagrade</a:t>
            </a:r>
            <a:r>
              <a:rPr lang="en-US" dirty="0"/>
              <a:t>: </a:t>
            </a:r>
            <a:r>
              <a:rPr lang="en-US" dirty="0" err="1"/>
              <a:t>saberi</a:t>
            </a:r>
            <a:r>
              <a:rPr lang="en-US" dirty="0"/>
              <a:t>((1, 2)).</a:t>
            </a:r>
          </a:p>
          <a:p>
            <a:r>
              <a:rPr lang="en-US" b="1" dirty="0" smtClean="0"/>
              <a:t>Sa </a:t>
            </a:r>
            <a:r>
              <a:rPr lang="en-US" b="1" dirty="0" err="1"/>
              <a:t>pakovanjem</a:t>
            </a:r>
            <a:r>
              <a:rPr lang="en-US" b="1" dirty="0"/>
              <a:t> (*</a:t>
            </a:r>
            <a:r>
              <a:rPr lang="en-US" b="1" dirty="0" err="1"/>
              <a:t>args</a:t>
            </a:r>
            <a:r>
              <a:rPr lang="en-US" b="1" dirty="0"/>
              <a:t>):</a:t>
            </a:r>
            <a:r>
              <a:rPr lang="en-US" dirty="0"/>
              <a:t> 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prihvata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argumenata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: </a:t>
            </a:r>
            <a:endParaRPr lang="sr-Latn-RS" dirty="0" smtClean="0"/>
          </a:p>
          <a:p>
            <a:r>
              <a:rPr lang="en-US" dirty="0" err="1" smtClean="0"/>
              <a:t>saberi</a:t>
            </a:r>
            <a:r>
              <a:rPr lang="en-US" dirty="0" smtClean="0"/>
              <a:t>(1,</a:t>
            </a:r>
            <a:r>
              <a:rPr lang="sr-Latn-RS" dirty="0" smtClean="0"/>
              <a:t> </a:t>
            </a:r>
            <a:r>
              <a:rPr lang="en-US" dirty="0" smtClean="0"/>
              <a:t>2</a:t>
            </a:r>
            <a:r>
              <a:rPr lang="en-US" dirty="0"/>
              <a:t>) </a:t>
            </a:r>
            <a:r>
              <a:rPr lang="en-US" dirty="0" err="1"/>
              <a:t>ili</a:t>
            </a:r>
            <a:r>
              <a:rPr lang="en-US" dirty="0"/>
              <a:t> </a:t>
            </a:r>
            <a:r>
              <a:rPr lang="en-US" dirty="0" err="1"/>
              <a:t>saberi</a:t>
            </a:r>
            <a:r>
              <a:rPr lang="en-US" dirty="0"/>
              <a:t>(1, 2, 3, 4, 5).</a:t>
            </a:r>
            <a:r>
              <a:rPr lang="sr-Latn-RS" dirty="0"/>
              <a:t> </a:t>
            </a:r>
            <a:r>
              <a:rPr lang="en-US" dirty="0"/>
              <a:t>To </a:t>
            </a:r>
            <a:r>
              <a:rPr lang="en-US" dirty="0" err="1"/>
              <a:t>omogućava</a:t>
            </a:r>
            <a:r>
              <a:rPr lang="en-US" dirty="0"/>
              <a:t> da </a:t>
            </a:r>
            <a:r>
              <a:rPr lang="en-US" dirty="0" err="1"/>
              <a:t>tvoja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u </a:t>
            </a:r>
            <a:r>
              <a:rPr lang="en-US" dirty="0" err="1"/>
              <a:t>oba</a:t>
            </a:r>
            <a:r>
              <a:rPr lang="en-US" dirty="0"/>
              <a:t> </a:t>
            </a:r>
            <a:r>
              <a:rPr lang="en-US" dirty="0" err="1"/>
              <a:t>slučaja</a:t>
            </a:r>
            <a:r>
              <a:rPr lang="en-US" dirty="0"/>
              <a:t> – i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imaš</a:t>
            </a:r>
            <a:r>
              <a:rPr lang="en-US" dirty="0"/>
              <a:t> </a:t>
            </a:r>
            <a:r>
              <a:rPr lang="en-US" dirty="0" err="1"/>
              <a:t>spremnu</a:t>
            </a:r>
            <a:r>
              <a:rPr lang="en-US" dirty="0"/>
              <a:t> </a:t>
            </a:r>
            <a:r>
              <a:rPr lang="en-US" dirty="0" err="1"/>
              <a:t>torku</a:t>
            </a:r>
            <a:r>
              <a:rPr lang="en-US" dirty="0"/>
              <a:t> (</a:t>
            </a:r>
            <a:r>
              <a:rPr lang="en-US" dirty="0" err="1"/>
              <a:t>koristiš</a:t>
            </a:r>
            <a:r>
              <a:rPr lang="en-US" dirty="0"/>
              <a:t> * 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pozivu</a:t>
            </a:r>
            <a:r>
              <a:rPr lang="en-US" dirty="0"/>
              <a:t>) i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ručno</a:t>
            </a:r>
            <a:r>
              <a:rPr lang="en-US" dirty="0"/>
              <a:t> </a:t>
            </a:r>
            <a:r>
              <a:rPr lang="en-US" dirty="0" err="1"/>
              <a:t>unosiš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.</a:t>
            </a:r>
          </a:p>
          <a:p>
            <a:r>
              <a:rPr lang="en-US" b="1" dirty="0"/>
              <a:t>3. </a:t>
            </a:r>
            <a:r>
              <a:rPr lang="en-US" b="1" dirty="0" err="1" smtClean="0"/>
              <a:t>Izbegavanje</a:t>
            </a:r>
            <a:r>
              <a:rPr lang="en-US" b="1" dirty="0" smtClean="0"/>
              <a:t> </a:t>
            </a:r>
            <a:r>
              <a:rPr lang="en-US" b="1" dirty="0"/>
              <a:t>"Magic Numbers"</a:t>
            </a:r>
          </a:p>
          <a:p>
            <a:r>
              <a:rPr lang="en-US" dirty="0" err="1"/>
              <a:t>Pristupanje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indeksa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 </a:t>
            </a:r>
            <a:r>
              <a:rPr lang="en-US" dirty="0" err="1"/>
              <a:t>args</a:t>
            </a:r>
            <a:r>
              <a:rPr lang="en-US" dirty="0"/>
              <a:t>[2]) u </a:t>
            </a:r>
            <a:r>
              <a:rPr lang="en-US" dirty="0" err="1"/>
              <a:t>programiranju</a:t>
            </a:r>
            <a:r>
              <a:rPr lang="en-US" dirty="0"/>
              <a:t> se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naziva</a:t>
            </a:r>
            <a:r>
              <a:rPr lang="en-US" dirty="0"/>
              <a:t> </a:t>
            </a:r>
            <a:r>
              <a:rPr lang="en-US" dirty="0" err="1"/>
              <a:t>korišćenjem</a:t>
            </a:r>
            <a:r>
              <a:rPr lang="en-US" dirty="0"/>
              <a:t> "</a:t>
            </a:r>
            <a:r>
              <a:rPr lang="en-US" dirty="0" err="1"/>
              <a:t>magičnih</a:t>
            </a:r>
            <a:r>
              <a:rPr lang="en-US" dirty="0"/>
              <a:t> </a:t>
            </a:r>
            <a:r>
              <a:rPr lang="en-US" dirty="0" err="1"/>
              <a:t>brojeva</a:t>
            </a:r>
            <a:r>
              <a:rPr lang="en-US" dirty="0"/>
              <a:t>" i </a:t>
            </a:r>
            <a:r>
              <a:rPr lang="en-US" dirty="0" err="1"/>
              <a:t>smatra</a:t>
            </a:r>
            <a:r>
              <a:rPr lang="en-US" dirty="0"/>
              <a:t> se </a:t>
            </a:r>
            <a:r>
              <a:rPr lang="en-US" dirty="0" err="1"/>
              <a:t>lošom</a:t>
            </a:r>
            <a:r>
              <a:rPr lang="en-US" dirty="0"/>
              <a:t> </a:t>
            </a:r>
            <a:r>
              <a:rPr lang="en-US" dirty="0" err="1"/>
              <a:t>praksom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sr-Latn-RS" b="1" dirty="0" smtClean="0"/>
              <a:t>Ne koristimo raspakuj/pakuj </a:t>
            </a:r>
            <a:r>
              <a:rPr lang="sr-Latn-RS" dirty="0"/>
              <a:t>k</a:t>
            </a:r>
            <a:r>
              <a:rPr lang="sv-SE" dirty="0" smtClean="0"/>
              <a:t>ada </a:t>
            </a:r>
            <a:r>
              <a:rPr lang="sv-SE" dirty="0"/>
              <a:t>torka predstavlja </a:t>
            </a:r>
            <a:r>
              <a:rPr lang="sv-SE" b="1" dirty="0" smtClean="0"/>
              <a:t>jedinstven</a:t>
            </a:r>
            <a:r>
              <a:rPr lang="sr-Latn-RS" b="1" dirty="0" smtClean="0"/>
              <a:t>i</a:t>
            </a:r>
            <a:r>
              <a:rPr lang="sv-SE" b="1" dirty="0" smtClean="0"/>
              <a:t> entitet</a:t>
            </a:r>
            <a:r>
              <a:rPr lang="sr-Latn-RS" b="1" dirty="0" smtClean="0"/>
              <a:t> </a:t>
            </a:r>
            <a:r>
              <a:rPr lang="sr-Latn-RS" dirty="0" smtClean="0">
                <a:cs typeface="Arial" pitchFamily="34" charset="0"/>
              </a:rPr>
              <a:t>i</a:t>
            </a:r>
            <a:r>
              <a:rPr lang="sr-Latn-RS" sz="1600" dirty="0" smtClean="0">
                <a:cs typeface="Arial" pitchFamily="34" charset="0"/>
              </a:rPr>
              <a:t> 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ada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funkcija 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treba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samo 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prosle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di parametar (torku)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dalje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vi-VN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89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216008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000" b="1" dirty="0" smtClean="0"/>
              <a:t>Vrednosti </a:t>
            </a:r>
            <a:r>
              <a:rPr lang="sr-Latn-RS" sz="2000" b="1" dirty="0" smtClean="0"/>
              <a:t>atributa (rad sa atributima)</a:t>
            </a:r>
            <a:endParaRPr lang="en-US" sz="2000" b="1" dirty="0"/>
          </a:p>
          <a:p>
            <a:pPr marL="0" indent="0">
              <a:buNone/>
            </a:pPr>
            <a:r>
              <a:rPr lang="sr-Latn-RS" sz="2000" dirty="0" smtClean="0"/>
              <a:t>1. Možemo odmah </a:t>
            </a:r>
            <a:r>
              <a:rPr lang="sr-Latn-RS" sz="2000" b="1" dirty="0" smtClean="0"/>
              <a:t>postaviti</a:t>
            </a:r>
            <a:r>
              <a:rPr lang="sr-Latn-RS" sz="2000" dirty="0" smtClean="0"/>
              <a:t> vrednost atributa (podrazumevana vrednost):</a:t>
            </a:r>
          </a:p>
          <a:p>
            <a:pPr marL="0" indent="0">
              <a:buNone/>
            </a:pPr>
            <a:r>
              <a:rPr lang="en-US" sz="2000" b="1" dirty="0"/>
              <a:t>class Pas:</a:t>
            </a:r>
          </a:p>
          <a:p>
            <a:pPr marL="0" indent="0">
              <a:buNone/>
            </a:pPr>
            <a:r>
              <a:rPr lang="en-US" sz="2000" b="1" dirty="0"/>
              <a:t>    </a:t>
            </a:r>
            <a:r>
              <a:rPr lang="en-US" sz="2000" b="1" dirty="0" err="1"/>
              <a:t>def</a:t>
            </a:r>
            <a:r>
              <a:rPr lang="en-US" sz="2000" b="1" dirty="0"/>
              <a:t> __</a:t>
            </a:r>
            <a:r>
              <a:rPr lang="en-US" sz="2000" b="1" dirty="0" err="1"/>
              <a:t>init</a:t>
            </a:r>
            <a:r>
              <a:rPr lang="en-US" sz="2000" b="1" dirty="0"/>
              <a:t>__(self, </a:t>
            </a:r>
            <a:r>
              <a:rPr lang="en-US" sz="2000" b="1" dirty="0" err="1"/>
              <a:t>ime</a:t>
            </a:r>
            <a:r>
              <a:rPr lang="en-US" sz="2000" b="1" dirty="0"/>
              <a:t>, </a:t>
            </a:r>
            <a:r>
              <a:rPr lang="en-US" sz="2000" b="1" dirty="0" smtClean="0"/>
              <a:t>rasa):</a:t>
            </a:r>
            <a:r>
              <a:rPr lang="sr-Latn-RS" sz="2000" b="1" dirty="0" smtClean="0"/>
              <a:t> </a:t>
            </a:r>
            <a:r>
              <a:rPr lang="en-US" sz="2000" b="1" dirty="0" smtClean="0"/>
              <a:t>    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sr-Latn-RS" sz="2000" b="1" dirty="0" smtClean="0">
                <a:solidFill>
                  <a:srgbClr val="00B050"/>
                </a:solidFill>
              </a:rPr>
              <a:t>Čak i</a:t>
            </a:r>
            <a:r>
              <a:rPr lang="en-GB" sz="2000" b="1" dirty="0" err="1" smtClean="0">
                <a:solidFill>
                  <a:srgbClr val="00B050"/>
                </a:solidFill>
              </a:rPr>
              <a:t>ako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dodamo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param</a:t>
            </a:r>
            <a:r>
              <a:rPr lang="en-GB" sz="2000" b="1" dirty="0" smtClean="0">
                <a:solidFill>
                  <a:srgbClr val="00B050"/>
                </a:solidFill>
              </a:rPr>
              <a:t>. </a:t>
            </a:r>
            <a:r>
              <a:rPr lang="en-GB" sz="2000" b="1" dirty="0" err="1" smtClean="0">
                <a:solidFill>
                  <a:srgbClr val="00B050"/>
                </a:solidFill>
              </a:rPr>
              <a:t>te</a:t>
            </a:r>
            <a:r>
              <a:rPr lang="sr-Latn-RS" sz="2000" b="1" dirty="0" smtClean="0">
                <a:solidFill>
                  <a:srgbClr val="00B050"/>
                </a:solidFill>
              </a:rPr>
              <a:t>z</a:t>
            </a:r>
            <a:r>
              <a:rPr lang="en-GB" sz="2000" b="1" dirty="0" err="1" smtClean="0">
                <a:solidFill>
                  <a:srgbClr val="00B050"/>
                </a:solidFill>
              </a:rPr>
              <a:t>ina</a:t>
            </a:r>
            <a:r>
              <a:rPr lang="sr-Latn-RS" sz="2000" b="1" dirty="0" smtClean="0">
                <a:solidFill>
                  <a:srgbClr val="00B050"/>
                </a:solidFill>
              </a:rPr>
              <a:t>, ona ostaje 35.</a:t>
            </a: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b="1" dirty="0"/>
              <a:t>        </a:t>
            </a:r>
            <a:r>
              <a:rPr lang="en-US" sz="2000" b="1" dirty="0" err="1"/>
              <a:t>self.ime</a:t>
            </a:r>
            <a:r>
              <a:rPr lang="en-US" sz="2000" b="1" dirty="0"/>
              <a:t> = </a:t>
            </a:r>
            <a:r>
              <a:rPr lang="en-US" sz="2000" b="1" dirty="0" err="1"/>
              <a:t>ime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        </a:t>
            </a:r>
            <a:r>
              <a:rPr lang="en-US" sz="2000" b="1" dirty="0" err="1"/>
              <a:t>self.rasa</a:t>
            </a:r>
            <a:r>
              <a:rPr lang="en-US" sz="2000" b="1" dirty="0"/>
              <a:t> = rasa</a:t>
            </a:r>
          </a:p>
          <a:p>
            <a:pPr marL="0" indent="0">
              <a:buNone/>
            </a:pPr>
            <a:r>
              <a:rPr lang="en-US" sz="2000" b="1" dirty="0"/>
              <a:t>        </a:t>
            </a:r>
            <a:r>
              <a:rPr lang="en-US" sz="2000" b="1" dirty="0" err="1"/>
              <a:t>self.godine</a:t>
            </a:r>
            <a:r>
              <a:rPr lang="en-US" sz="2000" b="1" dirty="0"/>
              <a:t> = </a:t>
            </a:r>
            <a:r>
              <a:rPr lang="en-US" sz="2000" b="1" dirty="0" err="1" smtClean="0"/>
              <a:t>godine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      </a:t>
            </a:r>
            <a:r>
              <a:rPr lang="sr-Latn-RS" sz="2000" b="1" dirty="0" smtClean="0"/>
              <a:t> </a:t>
            </a:r>
            <a:r>
              <a:rPr lang="en-US" sz="2000" b="1" dirty="0" smtClean="0"/>
              <a:t> self.</a:t>
            </a:r>
            <a:r>
              <a:rPr lang="sr-Latn-RS" sz="2000" b="1" dirty="0" smtClean="0"/>
              <a:t>tezina</a:t>
            </a:r>
            <a:r>
              <a:rPr lang="en-US" sz="2000" b="1" dirty="0" smtClean="0"/>
              <a:t> </a:t>
            </a:r>
            <a:r>
              <a:rPr lang="en-US" sz="2000" b="1" dirty="0"/>
              <a:t>= </a:t>
            </a:r>
            <a:r>
              <a:rPr lang="sr-Latn-RS" sz="2000" b="1" dirty="0" smtClean="0"/>
              <a:t>35</a:t>
            </a:r>
          </a:p>
          <a:p>
            <a:pPr marL="0" indent="0">
              <a:buNone/>
            </a:pPr>
            <a:r>
              <a:rPr lang="sr-Latn-RS" sz="1600" b="1" dirty="0" smtClean="0"/>
              <a:t>...</a:t>
            </a:r>
            <a:endParaRPr lang="en-US" sz="1600" b="1" dirty="0"/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sr-Latn-RS" sz="2000" b="1" dirty="0"/>
              <a:t> </a:t>
            </a:r>
            <a:r>
              <a:rPr lang="sr-Latn-RS" sz="2000" b="1" dirty="0" smtClean="0"/>
              <a:t>  </a:t>
            </a:r>
            <a:r>
              <a:rPr lang="en-US" sz="2000" b="1" dirty="0" err="1" smtClean="0"/>
              <a:t>def</a:t>
            </a:r>
            <a:r>
              <a:rPr lang="en-US" sz="2000" b="1" dirty="0" smtClean="0"/>
              <a:t> </a:t>
            </a:r>
            <a:r>
              <a:rPr lang="en-US" sz="2000" b="1" dirty="0" err="1"/>
              <a:t>tezi</a:t>
            </a:r>
            <a:r>
              <a:rPr lang="en-US" sz="2000" b="1" dirty="0"/>
              <a:t>(self</a:t>
            </a:r>
            <a:r>
              <a:rPr lang="en-US" sz="2000" b="1" dirty="0" smtClean="0"/>
              <a:t>):</a:t>
            </a:r>
            <a:endParaRPr lang="sr-Latn-RS" sz="2000" b="1" dirty="0" smtClean="0"/>
          </a:p>
          <a:p>
            <a:pPr marL="0" indent="0">
              <a:buNone/>
            </a:pPr>
            <a:r>
              <a:rPr lang="en-US" sz="2000" b="1" dirty="0" smtClean="0"/>
              <a:t>        </a:t>
            </a:r>
            <a:r>
              <a:rPr lang="en-US" sz="2000" b="1" dirty="0"/>
              <a:t>print(f"{</a:t>
            </a:r>
            <a:r>
              <a:rPr lang="en-US" sz="2000" b="1" dirty="0" err="1"/>
              <a:t>self.ime</a:t>
            </a:r>
            <a:r>
              <a:rPr lang="en-US" sz="2000" b="1" dirty="0"/>
              <a:t>}  </a:t>
            </a:r>
            <a:r>
              <a:rPr lang="en-US" sz="2000" b="1" dirty="0" err="1"/>
              <a:t>teži</a:t>
            </a:r>
            <a:r>
              <a:rPr lang="en-US" sz="2000" b="1" dirty="0"/>
              <a:t> {</a:t>
            </a:r>
            <a:r>
              <a:rPr lang="en-US" sz="2000" b="1" dirty="0" err="1"/>
              <a:t>self.tezina</a:t>
            </a:r>
            <a:r>
              <a:rPr lang="en-US" sz="2000" b="1" dirty="0"/>
              <a:t>} kg</a:t>
            </a:r>
            <a:r>
              <a:rPr lang="en-US" sz="2000" b="1" dirty="0" smtClean="0"/>
              <a:t>!")</a:t>
            </a:r>
            <a:endParaRPr lang="sr-Latn-RS" sz="2000" b="1" dirty="0" smtClean="0"/>
          </a:p>
          <a:p>
            <a:pPr marL="0" indent="0">
              <a:buNone/>
            </a:pPr>
            <a:r>
              <a:rPr lang="sr-Latn-RS" sz="1600" b="1" dirty="0" smtClean="0"/>
              <a:t>...</a:t>
            </a:r>
          </a:p>
          <a:p>
            <a:pPr marL="0" indent="0">
              <a:buNone/>
            </a:pPr>
            <a:r>
              <a:rPr lang="en-US" sz="2000" b="1" dirty="0" err="1"/>
              <a:t>moj_pas.tezi</a:t>
            </a:r>
            <a:r>
              <a:rPr lang="en-US" sz="2000" b="1" dirty="0" smtClean="0"/>
              <a:t>()</a:t>
            </a:r>
          </a:p>
          <a:p>
            <a:pPr marL="0" indent="0">
              <a:buNone/>
            </a:pPr>
            <a:r>
              <a:rPr lang="en-GB" sz="2000" dirty="0" smtClean="0"/>
              <a:t>2. Mo</a:t>
            </a:r>
            <a:r>
              <a:rPr lang="sr-Latn-RS" sz="2000" dirty="0" smtClean="0"/>
              <a:t>žemo </a:t>
            </a:r>
            <a:r>
              <a:rPr lang="sr-Latn-RS" sz="2000" b="1" dirty="0" smtClean="0"/>
              <a:t>menjati</a:t>
            </a:r>
            <a:r>
              <a:rPr lang="sr-Latn-RS" sz="2000" dirty="0" smtClean="0"/>
              <a:t> </a:t>
            </a:r>
            <a:r>
              <a:rPr lang="sr-Latn-RS" sz="2000" dirty="0"/>
              <a:t>vrednost atributa </a:t>
            </a:r>
            <a:r>
              <a:rPr lang="sr-Latn-RS" sz="2000" dirty="0" smtClean="0"/>
              <a:t>direktno preko instance (u glavnom programu):</a:t>
            </a:r>
          </a:p>
          <a:p>
            <a:pPr marL="0" indent="0">
              <a:buNone/>
            </a:pPr>
            <a:r>
              <a:rPr lang="en-US" sz="2000" b="1" dirty="0" err="1"/>
              <a:t>moj_pas.tezina</a:t>
            </a:r>
            <a:r>
              <a:rPr lang="en-US" sz="2000" b="1" dirty="0"/>
              <a:t> = </a:t>
            </a:r>
            <a:r>
              <a:rPr lang="en-US" sz="2000" b="1" dirty="0" smtClean="0"/>
              <a:t>55</a:t>
            </a:r>
            <a:r>
              <a:rPr lang="sr-Latn-RS" sz="2000" b="1" dirty="0" smtClean="0"/>
              <a:t>     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en-US" sz="2000" b="1" dirty="0" smtClean="0">
                <a:solidFill>
                  <a:srgbClr val="00B050"/>
                </a:solidFill>
              </a:rPr>
              <a:t>i</a:t>
            </a:r>
            <a:r>
              <a:rPr lang="en-GB" sz="2000" b="1" dirty="0" err="1" smtClean="0">
                <a:solidFill>
                  <a:srgbClr val="00B050"/>
                </a:solidFill>
              </a:rPr>
              <a:t>ako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sr-Latn-RS" sz="2000" b="1" dirty="0" smtClean="0">
                <a:solidFill>
                  <a:srgbClr val="00B050"/>
                </a:solidFill>
              </a:rPr>
              <a:t>u __init__ imamo </a:t>
            </a:r>
            <a:r>
              <a:rPr lang="en-US" sz="2000" b="1" dirty="0">
                <a:solidFill>
                  <a:srgbClr val="00B050"/>
                </a:solidFill>
              </a:rPr>
              <a:t>self.</a:t>
            </a:r>
            <a:r>
              <a:rPr lang="sr-Latn-RS" sz="2000" b="1" dirty="0">
                <a:solidFill>
                  <a:srgbClr val="00B050"/>
                </a:solidFill>
              </a:rPr>
              <a:t>tezina</a:t>
            </a:r>
            <a:r>
              <a:rPr lang="en-US" sz="2000" b="1" dirty="0">
                <a:solidFill>
                  <a:srgbClr val="00B050"/>
                </a:solidFill>
              </a:rPr>
              <a:t> = </a:t>
            </a:r>
            <a:r>
              <a:rPr lang="sr-Latn-RS" sz="2000" b="1" dirty="0" smtClean="0">
                <a:solidFill>
                  <a:srgbClr val="00B050"/>
                </a:solidFill>
              </a:rPr>
              <a:t>35, ona je 55 za moj_pas.</a:t>
            </a:r>
          </a:p>
          <a:p>
            <a:pPr marL="0" indent="0">
              <a:buNone/>
            </a:pPr>
            <a:r>
              <a:rPr lang="sr-Latn-RS" sz="2000" dirty="0" smtClean="0"/>
              <a:t>3</a:t>
            </a:r>
            <a:r>
              <a:rPr lang="en-GB" sz="2000" dirty="0" smtClean="0"/>
              <a:t>. </a:t>
            </a:r>
            <a:r>
              <a:rPr lang="en-GB" sz="2000" dirty="0"/>
              <a:t>Mo</a:t>
            </a:r>
            <a:r>
              <a:rPr lang="sr-Latn-RS" sz="2000" dirty="0"/>
              <a:t>žemo </a:t>
            </a:r>
            <a:r>
              <a:rPr lang="sr-Latn-RS" sz="2000" b="1" dirty="0"/>
              <a:t>menjati</a:t>
            </a:r>
            <a:r>
              <a:rPr lang="sr-Latn-RS" sz="2000" dirty="0"/>
              <a:t> vrednost atributa direktno </a:t>
            </a:r>
            <a:r>
              <a:rPr lang="sr-Latn-RS" sz="2000" dirty="0" smtClean="0"/>
              <a:t>preko metode:</a:t>
            </a:r>
          </a:p>
          <a:p>
            <a:pPr marL="0" indent="0">
              <a:buNone/>
            </a:pPr>
            <a:r>
              <a:rPr lang="sr-Latn-RS" sz="2000" dirty="0"/>
              <a:t> </a:t>
            </a:r>
            <a:r>
              <a:rPr lang="sr-Latn-RS" sz="2000" b="1" dirty="0"/>
              <a:t>def tezi(self</a:t>
            </a:r>
            <a:r>
              <a:rPr lang="sr-Latn-RS" sz="2000" b="1" dirty="0" smtClean="0"/>
              <a:t>):</a:t>
            </a:r>
          </a:p>
          <a:p>
            <a:pPr marL="0" indent="0">
              <a:buNone/>
            </a:pPr>
            <a:r>
              <a:rPr lang="sr-Latn-RS" sz="2000" b="1" dirty="0" smtClean="0"/>
              <a:t>        </a:t>
            </a:r>
            <a:r>
              <a:rPr lang="sr-Latn-RS" sz="2000" b="1" dirty="0"/>
              <a:t>self.tezina +=10        </a:t>
            </a:r>
            <a:endParaRPr lang="sr-Latn-RS" sz="2000" b="1" dirty="0" smtClean="0"/>
          </a:p>
          <a:p>
            <a:pPr marL="0" indent="0">
              <a:buNone/>
            </a:pPr>
            <a:r>
              <a:rPr lang="sr-Latn-RS" sz="2000" b="1" dirty="0"/>
              <a:t> </a:t>
            </a:r>
            <a:r>
              <a:rPr lang="sr-Latn-RS" sz="2000" b="1" dirty="0" smtClean="0"/>
              <a:t>       print(f</a:t>
            </a:r>
            <a:r>
              <a:rPr lang="sr-Latn-RS" sz="2000" b="1" dirty="0"/>
              <a:t>"{self.ime}  teži {self.tezina} kg</a:t>
            </a:r>
            <a:r>
              <a:rPr lang="sr-Latn-RS" sz="2000" b="1" dirty="0" smtClean="0"/>
              <a:t>!")</a:t>
            </a:r>
          </a:p>
        </p:txBody>
      </p:sp>
    </p:spTree>
    <p:extLst>
      <p:ext uri="{BB962C8B-B14F-4D97-AF65-F5344CB8AC3E}">
        <p14:creationId xmlns:p14="http://schemas.microsoft.com/office/powerpoint/2010/main" val="359841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216008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 smtClean="0"/>
              <a:t>Ve</a:t>
            </a:r>
            <a:r>
              <a:rPr lang="sr-Latn-RS" sz="2000" b="1" dirty="0" smtClean="0"/>
              <a:t>žbanje. </a:t>
            </a:r>
            <a:endParaRPr lang="en-GB" sz="2000" b="1" dirty="0" smtClean="0"/>
          </a:p>
          <a:p>
            <a:r>
              <a:rPr lang="sr-Latn-RS" sz="2400" dirty="0" smtClean="0"/>
              <a:t>Kreirati klasu </a:t>
            </a:r>
            <a:r>
              <a:rPr lang="sr-Latn-RS" sz="2400" b="1" dirty="0" smtClean="0"/>
              <a:t>Restoran</a:t>
            </a:r>
            <a:r>
              <a:rPr lang="sr-Latn-RS" sz="2400" dirty="0" smtClean="0"/>
              <a:t>. </a:t>
            </a:r>
            <a:endParaRPr lang="en-GB" sz="2400" dirty="0" smtClean="0"/>
          </a:p>
          <a:p>
            <a:r>
              <a:rPr lang="sr-Latn-RS" sz="2400" b="1" i="1" dirty="0" smtClean="0"/>
              <a:t>__init__ </a:t>
            </a:r>
            <a:r>
              <a:rPr lang="sr-Latn-RS" sz="2400" dirty="0" smtClean="0"/>
              <a:t>čuva </a:t>
            </a:r>
            <a:r>
              <a:rPr lang="en-GB" sz="2400" dirty="0" smtClean="0"/>
              <a:t>3</a:t>
            </a:r>
            <a:r>
              <a:rPr lang="sr-Latn-RS" sz="2400" dirty="0" smtClean="0"/>
              <a:t> atributa</a:t>
            </a:r>
            <a:r>
              <a:rPr lang="en-US" sz="2400" dirty="0" smtClean="0"/>
              <a:t>:</a:t>
            </a:r>
            <a:r>
              <a:rPr lang="sr-Latn-RS" sz="2400" dirty="0" smtClean="0"/>
              <a:t> </a:t>
            </a:r>
            <a:r>
              <a:rPr lang="sr-Latn-RS" sz="2400" b="1" dirty="0" smtClean="0"/>
              <a:t>ime</a:t>
            </a:r>
            <a:r>
              <a:rPr lang="en-GB" sz="2400" b="1" dirty="0" smtClean="0"/>
              <a:t> </a:t>
            </a:r>
            <a:r>
              <a:rPr lang="sr-Latn-RS" sz="2400" b="1" dirty="0" smtClean="0"/>
              <a:t>restorana</a:t>
            </a:r>
            <a:r>
              <a:rPr lang="en-GB" sz="2400" b="1" dirty="0" smtClean="0"/>
              <a:t>, </a:t>
            </a:r>
            <a:r>
              <a:rPr lang="sr-Latn-RS" sz="2400" b="1" dirty="0" smtClean="0"/>
              <a:t>tip_kuhinje</a:t>
            </a:r>
            <a:r>
              <a:rPr lang="en-GB" sz="2400" b="1" dirty="0" smtClean="0"/>
              <a:t> </a:t>
            </a:r>
            <a:r>
              <a:rPr lang="en-GB" sz="2400" dirty="0" smtClean="0"/>
              <a:t>(</a:t>
            </a:r>
            <a:r>
              <a:rPr lang="sr-Latn-RS" sz="2400" dirty="0" smtClean="0"/>
              <a:t>na primer: </a:t>
            </a:r>
            <a:r>
              <a:rPr lang="en-GB" sz="2400" dirty="0" err="1" smtClean="0"/>
              <a:t>Italijanska</a:t>
            </a:r>
            <a:r>
              <a:rPr lang="en-GB" sz="2400" dirty="0" smtClean="0"/>
              <a:t>, </a:t>
            </a:r>
            <a:r>
              <a:rPr lang="en-GB" sz="2400" dirty="0" err="1" smtClean="0"/>
              <a:t>Francuska</a:t>
            </a:r>
            <a:r>
              <a:rPr lang="en-GB" sz="2400" dirty="0" smtClean="0"/>
              <a:t>, </a:t>
            </a:r>
            <a:r>
              <a:rPr lang="en-GB" sz="2400" dirty="0" err="1" smtClean="0"/>
              <a:t>Srpska</a:t>
            </a:r>
            <a:r>
              <a:rPr lang="en-GB" sz="2400" dirty="0" smtClean="0"/>
              <a:t>, </a:t>
            </a:r>
            <a:r>
              <a:rPr lang="en-GB" sz="2400" dirty="0" err="1" smtClean="0"/>
              <a:t>Vegeterijanska</a:t>
            </a:r>
            <a:r>
              <a:rPr lang="en-GB" sz="2400" dirty="0" smtClean="0"/>
              <a:t>, Street Food)</a:t>
            </a:r>
            <a:r>
              <a:rPr lang="en-GB" sz="2400" dirty="0"/>
              <a:t> </a:t>
            </a:r>
            <a:r>
              <a:rPr lang="en-GB" sz="2400" dirty="0" smtClean="0"/>
              <a:t>i </a:t>
            </a:r>
            <a:r>
              <a:rPr lang="en-GB" sz="2400" b="1" dirty="0" err="1" smtClean="0"/>
              <a:t>broj_gostiju</a:t>
            </a:r>
            <a:r>
              <a:rPr lang="en-GB" sz="2400" dirty="0" smtClean="0"/>
              <a:t> (</a:t>
            </a:r>
            <a:r>
              <a:rPr lang="sr-Latn-RS" sz="2400" dirty="0" smtClean="0"/>
              <a:t>nju </a:t>
            </a:r>
            <a:r>
              <a:rPr lang="en-GB" sz="2400" dirty="0" err="1" smtClean="0"/>
              <a:t>metoda</a:t>
            </a:r>
            <a:r>
              <a:rPr lang="en-GB" sz="2400" dirty="0" smtClean="0"/>
              <a:t> ne prima, </a:t>
            </a:r>
            <a:r>
              <a:rPr lang="en-GB" sz="2400" dirty="0" err="1" smtClean="0"/>
              <a:t>ve</a:t>
            </a:r>
            <a:r>
              <a:rPr lang="sr-Latn-RS" sz="2400" dirty="0" smtClean="0"/>
              <a:t>ć samo inicijalizuje na</a:t>
            </a:r>
            <a:r>
              <a:rPr lang="en-GB" sz="2400" dirty="0" smtClean="0"/>
              <a:t> </a:t>
            </a:r>
            <a:r>
              <a:rPr lang="en-GB" sz="2400" dirty="0" err="1" smtClean="0"/>
              <a:t>ukupan</a:t>
            </a:r>
            <a:r>
              <a:rPr lang="en-GB" sz="2400" dirty="0" smtClean="0"/>
              <a:t> </a:t>
            </a:r>
            <a:r>
              <a:rPr lang="en-GB" sz="2400" dirty="0" err="1" smtClean="0"/>
              <a:t>broj</a:t>
            </a:r>
            <a:r>
              <a:rPr lang="en-GB" sz="2400" dirty="0" smtClean="0"/>
              <a:t> </a:t>
            </a:r>
            <a:r>
              <a:rPr lang="en-GB" sz="2400" dirty="0" err="1" smtClean="0"/>
              <a:t>gostiju</a:t>
            </a:r>
            <a:r>
              <a:rPr lang="en-GB" sz="2400" dirty="0" smtClean="0"/>
              <a:t> od </a:t>
            </a:r>
            <a:r>
              <a:rPr lang="sr-Latn-RS" sz="2400" dirty="0" smtClean="0"/>
              <a:t>svog </a:t>
            </a:r>
            <a:r>
              <a:rPr lang="en-GB" sz="2400" dirty="0" err="1" smtClean="0"/>
              <a:t>prvog</a:t>
            </a:r>
            <a:r>
              <a:rPr lang="en-GB" sz="2400" dirty="0" smtClean="0"/>
              <a:t> </a:t>
            </a:r>
            <a:r>
              <a:rPr lang="en-GB" sz="2400" dirty="0" err="1" smtClean="0"/>
              <a:t>dana</a:t>
            </a:r>
            <a:r>
              <a:rPr lang="en-GB" sz="2400" dirty="0" smtClean="0"/>
              <a:t>, </a:t>
            </a:r>
            <a:r>
              <a:rPr lang="en-GB" sz="2400" dirty="0" err="1" smtClean="0"/>
              <a:t>na</a:t>
            </a:r>
            <a:r>
              <a:rPr lang="en-GB" sz="2400" dirty="0" smtClean="0"/>
              <a:t> primer</a:t>
            </a:r>
            <a:r>
              <a:rPr lang="sr-Latn-RS" sz="2400" dirty="0" smtClean="0"/>
              <a:t> </a:t>
            </a:r>
            <a:r>
              <a:rPr lang="en-GB" sz="2400" dirty="0" smtClean="0"/>
              <a:t>2345</a:t>
            </a:r>
            <a:r>
              <a:rPr lang="sr-Latn-RS" sz="2400" dirty="0" smtClean="0"/>
              <a:t>).</a:t>
            </a:r>
            <a:endParaRPr lang="en-GB" sz="2400" dirty="0" smtClean="0"/>
          </a:p>
          <a:p>
            <a:r>
              <a:rPr lang="sr-Latn-RS" sz="2400" dirty="0" smtClean="0"/>
              <a:t>Metoda </a:t>
            </a:r>
            <a:r>
              <a:rPr lang="sr-Latn-RS" sz="2400" b="1" i="1" dirty="0" smtClean="0"/>
              <a:t>opisi_restoran</a:t>
            </a:r>
            <a:r>
              <a:rPr lang="sr-Latn-RS" sz="2400" dirty="0" smtClean="0"/>
              <a:t> štampa prethodne </a:t>
            </a:r>
            <a:r>
              <a:rPr lang="en-GB" sz="2400" dirty="0" smtClean="0"/>
              <a:t>3</a:t>
            </a:r>
            <a:r>
              <a:rPr lang="sr-Latn-RS" sz="2400" dirty="0" smtClean="0"/>
              <a:t> informacije</a:t>
            </a:r>
            <a:r>
              <a:rPr lang="en-GB" sz="2400" dirty="0" smtClean="0"/>
              <a:t> (</a:t>
            </a:r>
            <a:r>
              <a:rPr lang="en-GB" sz="2400" dirty="0" err="1" smtClean="0"/>
              <a:t>na</a:t>
            </a:r>
            <a:r>
              <a:rPr lang="en-GB" sz="2400" dirty="0" smtClean="0"/>
              <a:t> primer: </a:t>
            </a:r>
            <a:r>
              <a:rPr lang="sr-Latn-RS" sz="2400" i="1" dirty="0" smtClean="0"/>
              <a:t>„</a:t>
            </a:r>
            <a:r>
              <a:rPr lang="en-GB" sz="2400" i="1" dirty="0" smtClean="0"/>
              <a:t>Marko Polo </a:t>
            </a:r>
            <a:r>
              <a:rPr lang="en-US" sz="2400" i="1" dirty="0" smtClean="0"/>
              <a:t>je </a:t>
            </a:r>
            <a:r>
              <a:rPr lang="en-US" sz="2400" i="1" dirty="0"/>
              <a:t> </a:t>
            </a:r>
            <a:r>
              <a:rPr lang="en-US" sz="2400" i="1" dirty="0" err="1"/>
              <a:t>predivna</a:t>
            </a:r>
            <a:r>
              <a:rPr lang="en-US" sz="2400" i="1" dirty="0"/>
              <a:t> </a:t>
            </a:r>
            <a:r>
              <a:rPr lang="en-US" sz="2400" i="1" dirty="0" err="1" smtClean="0"/>
              <a:t>Italijanska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kuhinja</a:t>
            </a:r>
            <a:r>
              <a:rPr lang="en-US" sz="2400" i="1" dirty="0" smtClean="0"/>
              <a:t>. </a:t>
            </a:r>
            <a:r>
              <a:rPr lang="en-US" sz="2400" i="1" dirty="0" err="1" smtClean="0"/>
              <a:t>Ukupno</a:t>
            </a:r>
            <a:r>
              <a:rPr lang="en-US" sz="2400" i="1" dirty="0" smtClean="0"/>
              <a:t> je </a:t>
            </a:r>
            <a:r>
              <a:rPr lang="en-US" sz="2400" i="1" dirty="0" err="1" smtClean="0"/>
              <a:t>uslu</a:t>
            </a:r>
            <a:r>
              <a:rPr lang="sr-Latn-RS" sz="2400" i="1" dirty="0" smtClean="0"/>
              <a:t>ž</a:t>
            </a:r>
            <a:r>
              <a:rPr lang="en-US" sz="2400" i="1" dirty="0" err="1" smtClean="0"/>
              <a:t>eno</a:t>
            </a:r>
            <a:r>
              <a:rPr lang="en-US" sz="2400" i="1" dirty="0" smtClean="0"/>
              <a:t> 2345 </a:t>
            </a:r>
            <a:r>
              <a:rPr lang="en-US" sz="2400" i="1" dirty="0" err="1" smtClean="0"/>
              <a:t>gostiju</a:t>
            </a:r>
            <a:r>
              <a:rPr lang="sr-Latn-RS" sz="2400" i="1" dirty="0" smtClean="0"/>
              <a:t>“</a:t>
            </a:r>
            <a:r>
              <a:rPr lang="en-US" sz="2400" dirty="0" smtClean="0"/>
              <a:t>)</a:t>
            </a:r>
            <a:r>
              <a:rPr lang="en-GB" sz="2400" dirty="0" smtClean="0"/>
              <a:t>.</a:t>
            </a:r>
          </a:p>
          <a:p>
            <a:r>
              <a:rPr lang="en-GB" sz="2400" dirty="0" smtClean="0"/>
              <a:t>M</a:t>
            </a:r>
            <a:r>
              <a:rPr lang="sr-Latn-RS" sz="2400" dirty="0" smtClean="0"/>
              <a:t>etoda </a:t>
            </a:r>
            <a:r>
              <a:rPr lang="sr-Latn-RS" sz="2400" b="1" i="1" dirty="0" smtClean="0"/>
              <a:t>otvoreni_restoran</a:t>
            </a:r>
            <a:r>
              <a:rPr lang="sr-Latn-RS" sz="2400" dirty="0" smtClean="0"/>
              <a:t> štampa da li je restoran otvoren. </a:t>
            </a:r>
          </a:p>
          <a:p>
            <a:r>
              <a:rPr lang="sr-Latn-RS" sz="2400" dirty="0" smtClean="0"/>
              <a:t>Metoda </a:t>
            </a:r>
            <a:r>
              <a:rPr lang="sr-Latn-RS" sz="2400" b="1" i="1" dirty="0" smtClean="0"/>
              <a:t>uvecaj</a:t>
            </a:r>
            <a:r>
              <a:rPr lang="en-GB" sz="2400" b="1" i="1" dirty="0" smtClean="0"/>
              <a:t>_</a:t>
            </a:r>
            <a:r>
              <a:rPr lang="en-GB" sz="2400" b="1" i="1" dirty="0"/>
              <a:t> </a:t>
            </a:r>
            <a:r>
              <a:rPr lang="en-GB" sz="2400" b="1" i="1" dirty="0" err="1" smtClean="0"/>
              <a:t>broj_gostiju</a:t>
            </a:r>
            <a:r>
              <a:rPr lang="en-GB" sz="2400" b="1" i="1" dirty="0" smtClean="0"/>
              <a:t> </a:t>
            </a:r>
            <a:r>
              <a:rPr lang="en-GB" sz="2400" dirty="0" err="1" smtClean="0"/>
              <a:t>pove</a:t>
            </a:r>
            <a:r>
              <a:rPr lang="sr-Latn-RS" sz="2400" dirty="0" smtClean="0"/>
              <a:t>ć</a:t>
            </a:r>
            <a:r>
              <a:rPr lang="en-GB" sz="2400" dirty="0" err="1" smtClean="0"/>
              <a:t>ava</a:t>
            </a:r>
            <a:r>
              <a:rPr lang="en-GB" sz="2400" dirty="0" smtClean="0"/>
              <a:t> </a:t>
            </a:r>
            <a:r>
              <a:rPr lang="en-GB" sz="2400" dirty="0" err="1" smtClean="0"/>
              <a:t>broj</a:t>
            </a:r>
            <a:r>
              <a:rPr lang="en-GB" sz="2400" dirty="0" smtClean="0"/>
              <a:t> </a:t>
            </a:r>
            <a:r>
              <a:rPr lang="en-GB" sz="2400" dirty="0" err="1" smtClean="0"/>
              <a:t>gostiju</a:t>
            </a:r>
            <a:r>
              <a:rPr lang="en-GB" sz="2400" dirty="0" smtClean="0"/>
              <a:t> </a:t>
            </a:r>
            <a:r>
              <a:rPr lang="sr-Latn-RS" sz="2400" dirty="0" smtClean="0"/>
              <a:t>za dnevni broj gostiju i štampa ukupan broj gostiju do danas.</a:t>
            </a:r>
            <a:endParaRPr lang="en-GB" sz="2400" dirty="0" smtClean="0"/>
          </a:p>
          <a:p>
            <a:r>
              <a:rPr lang="en-GB" sz="2400" dirty="0" err="1" smtClean="0"/>
              <a:t>Unos</a:t>
            </a:r>
            <a:r>
              <a:rPr lang="en-GB" sz="2400" dirty="0" smtClean="0"/>
              <a:t> </a:t>
            </a:r>
            <a:r>
              <a:rPr lang="en-GB" sz="2400" b="1" dirty="0" err="1" smtClean="0"/>
              <a:t>imena</a:t>
            </a:r>
            <a:r>
              <a:rPr lang="sr-Latn-RS" sz="2400" dirty="0" smtClean="0"/>
              <a:t> i</a:t>
            </a:r>
            <a:r>
              <a:rPr lang="en-GB" sz="2400" dirty="0" smtClean="0"/>
              <a:t> </a:t>
            </a:r>
            <a:r>
              <a:rPr lang="en-GB" sz="2400" b="1" dirty="0" err="1" smtClean="0"/>
              <a:t>tipa</a:t>
            </a:r>
            <a:r>
              <a:rPr lang="en-GB" sz="2400" b="1" dirty="0" smtClean="0"/>
              <a:t> </a:t>
            </a:r>
            <a:r>
              <a:rPr lang="sr-Latn-RS" sz="2400" b="1" dirty="0" smtClean="0"/>
              <a:t>kuhinje </a:t>
            </a:r>
            <a:r>
              <a:rPr lang="en-GB" sz="2400" dirty="0" err="1" smtClean="0"/>
              <a:t>obaviti</a:t>
            </a:r>
            <a:r>
              <a:rPr lang="en-GB" sz="2400" dirty="0" smtClean="0"/>
              <a:t> </a:t>
            </a:r>
            <a:r>
              <a:rPr lang="en-GB" sz="2400" dirty="0" err="1" smtClean="0"/>
              <a:t>preko</a:t>
            </a:r>
            <a:r>
              <a:rPr lang="en-GB" sz="2400" dirty="0" smtClean="0"/>
              <a:t> f-je. </a:t>
            </a:r>
          </a:p>
          <a:p>
            <a:r>
              <a:rPr lang="sr-Latn-RS" sz="2400" dirty="0" smtClean="0"/>
              <a:t>Kreirati instancu </a:t>
            </a:r>
            <a:r>
              <a:rPr lang="sr-Latn-RS" sz="2400" b="1" dirty="0" smtClean="0"/>
              <a:t>restoran</a:t>
            </a:r>
            <a:r>
              <a:rPr lang="sr-Latn-RS" sz="2400" dirty="0" smtClean="0"/>
              <a:t>, a zatim </a:t>
            </a:r>
            <a:r>
              <a:rPr lang="sr-Latn-RS" sz="2400" b="1" dirty="0" smtClean="0"/>
              <a:t>restoran</a:t>
            </a:r>
            <a:r>
              <a:rPr lang="sr-Latn-RS" sz="2400" dirty="0" smtClean="0"/>
              <a:t>  koristi 3 metode. Pre upotrebe poslednje metode, program pita korisnika koliki je dnevni broj gostiju.</a:t>
            </a:r>
          </a:p>
          <a:p>
            <a:endParaRPr lang="sr-Latn-RS" sz="2400" dirty="0" smtClean="0"/>
          </a:p>
          <a:p>
            <a:pPr marL="0" indent="0">
              <a:buNone/>
            </a:pPr>
            <a:endParaRPr lang="sr-Latn-RS" sz="2000" b="1" dirty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6236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0"/>
            <a:ext cx="8964488" cy="717341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class </a:t>
            </a:r>
            <a:r>
              <a:rPr lang="en-US" b="1" dirty="0" err="1"/>
              <a:t>Restoran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    """</a:t>
            </a:r>
            <a:r>
              <a:rPr lang="en-US" b="1" dirty="0" err="1"/>
              <a:t>Klasa</a:t>
            </a:r>
            <a:r>
              <a:rPr lang="en-US" b="1" dirty="0"/>
              <a:t> </a:t>
            </a:r>
            <a:r>
              <a:rPr lang="en-US" b="1" dirty="0" err="1"/>
              <a:t>koja</a:t>
            </a:r>
            <a:r>
              <a:rPr lang="en-US" b="1" dirty="0"/>
              <a:t> </a:t>
            </a:r>
            <a:r>
              <a:rPr lang="en-US" b="1" dirty="0" err="1"/>
              <a:t>predstavlja</a:t>
            </a:r>
            <a:r>
              <a:rPr lang="en-US" b="1" dirty="0"/>
              <a:t> </a:t>
            </a:r>
            <a:r>
              <a:rPr lang="en-US" b="1" dirty="0" err="1"/>
              <a:t>restoran</a:t>
            </a:r>
            <a:r>
              <a:rPr lang="en-US" b="1" dirty="0"/>
              <a:t>."""</a:t>
            </a:r>
          </a:p>
          <a:p>
            <a:pPr marL="0" indent="0">
              <a:buNone/>
            </a:pPr>
            <a:r>
              <a:rPr lang="en-US" b="1" dirty="0"/>
              <a:t>    </a:t>
            </a:r>
            <a:r>
              <a:rPr lang="en-US" b="1" dirty="0" err="1"/>
              <a:t>def</a:t>
            </a:r>
            <a:r>
              <a:rPr lang="en-US" b="1" dirty="0"/>
              <a:t> __</a:t>
            </a:r>
            <a:r>
              <a:rPr lang="en-US" b="1" dirty="0" err="1"/>
              <a:t>init</a:t>
            </a:r>
            <a:r>
              <a:rPr lang="en-US" b="1" dirty="0"/>
              <a:t>__(self, </a:t>
            </a:r>
            <a:r>
              <a:rPr lang="en-US" b="1" dirty="0" err="1"/>
              <a:t>ime</a:t>
            </a:r>
            <a:r>
              <a:rPr lang="en-US" b="1" dirty="0"/>
              <a:t>, </a:t>
            </a:r>
            <a:r>
              <a:rPr lang="en-US" b="1" dirty="0" err="1"/>
              <a:t>tip_kuhinje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b="1" dirty="0"/>
              <a:t>        """</a:t>
            </a:r>
            <a:r>
              <a:rPr lang="en-US" b="1" dirty="0" err="1"/>
              <a:t>Inicijalizacija</a:t>
            </a:r>
            <a:r>
              <a:rPr lang="en-US" b="1" dirty="0"/>
              <a:t> </a:t>
            </a:r>
            <a:r>
              <a:rPr lang="en-US" b="1" dirty="0" err="1"/>
              <a:t>restorana</a:t>
            </a:r>
            <a:r>
              <a:rPr lang="en-US" b="1" dirty="0"/>
              <a:t>."""</a:t>
            </a:r>
          </a:p>
          <a:p>
            <a:pPr marL="0" indent="0">
              <a:buNone/>
            </a:pPr>
            <a:r>
              <a:rPr lang="en-US" b="1" dirty="0"/>
              <a:t>        </a:t>
            </a:r>
            <a:r>
              <a:rPr lang="en-US" b="1" dirty="0" err="1"/>
              <a:t>self.ime</a:t>
            </a:r>
            <a:r>
              <a:rPr lang="en-US" b="1" dirty="0"/>
              <a:t> = </a:t>
            </a:r>
            <a:r>
              <a:rPr lang="en-US" b="1" dirty="0" err="1"/>
              <a:t>ime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        </a:t>
            </a:r>
            <a:r>
              <a:rPr lang="en-US" b="1" dirty="0" err="1"/>
              <a:t>self.tip_kuhinje</a:t>
            </a:r>
            <a:r>
              <a:rPr lang="en-US" b="1" dirty="0"/>
              <a:t> = </a:t>
            </a:r>
            <a:r>
              <a:rPr lang="en-US" b="1" dirty="0" err="1"/>
              <a:t>tip_kuhinje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        </a:t>
            </a:r>
            <a:r>
              <a:rPr lang="en-US" b="1" dirty="0" err="1"/>
              <a:t>self.broj_gostiju</a:t>
            </a:r>
            <a:r>
              <a:rPr lang="en-US" b="1" dirty="0"/>
              <a:t> = 2345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    </a:t>
            </a: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b="1" dirty="0" err="1"/>
              <a:t>opisi_restoran</a:t>
            </a:r>
            <a:r>
              <a:rPr lang="en-US" b="1" dirty="0"/>
              <a:t>(self):</a:t>
            </a:r>
          </a:p>
          <a:p>
            <a:pPr marL="0" indent="0">
              <a:buNone/>
            </a:pPr>
            <a:r>
              <a:rPr lang="en-US" b="1" dirty="0"/>
              <a:t>        """</a:t>
            </a:r>
            <a:r>
              <a:rPr lang="en-US" b="1" dirty="0" err="1"/>
              <a:t>Prikazuje</a:t>
            </a:r>
            <a:r>
              <a:rPr lang="en-US" b="1" dirty="0"/>
              <a:t> </a:t>
            </a:r>
            <a:r>
              <a:rPr lang="en-US" b="1" dirty="0" err="1"/>
              <a:t>rezime</a:t>
            </a:r>
            <a:r>
              <a:rPr lang="en-US" b="1" dirty="0"/>
              <a:t> </a:t>
            </a:r>
            <a:r>
              <a:rPr lang="en-US" b="1" dirty="0" err="1"/>
              <a:t>restorana</a:t>
            </a:r>
            <a:r>
              <a:rPr lang="en-US" b="1" dirty="0"/>
              <a:t>"""</a:t>
            </a:r>
          </a:p>
          <a:p>
            <a:pPr marL="0" indent="0">
              <a:buNone/>
            </a:pPr>
            <a:r>
              <a:rPr lang="en-US" b="1" dirty="0"/>
              <a:t>        print(f"{</a:t>
            </a:r>
            <a:r>
              <a:rPr lang="en-US" b="1" dirty="0" err="1"/>
              <a:t>self.ime</a:t>
            </a:r>
            <a:r>
              <a:rPr lang="en-US" b="1" dirty="0"/>
              <a:t>} je </a:t>
            </a:r>
            <a:r>
              <a:rPr lang="en-US" b="1" dirty="0" err="1"/>
              <a:t>predivna</a:t>
            </a:r>
            <a:r>
              <a:rPr lang="en-US" b="1" dirty="0"/>
              <a:t> {</a:t>
            </a:r>
            <a:r>
              <a:rPr lang="en-US" b="1" dirty="0" err="1"/>
              <a:t>self.tip_kuhinje</a:t>
            </a:r>
            <a:r>
              <a:rPr lang="en-US" b="1" dirty="0"/>
              <a:t>} </a:t>
            </a:r>
            <a:r>
              <a:rPr lang="en-US" b="1" dirty="0" err="1" smtClean="0"/>
              <a:t>kuhinja</a:t>
            </a:r>
            <a:r>
              <a:rPr lang="en-US" b="1" dirty="0" smtClean="0"/>
              <a:t>. </a:t>
            </a:r>
            <a:r>
              <a:rPr lang="en-US" b="1" dirty="0" err="1" smtClean="0"/>
              <a:t>Ukupno</a:t>
            </a:r>
            <a:r>
              <a:rPr lang="en-US" b="1" dirty="0" smtClean="0"/>
              <a:t> </a:t>
            </a:r>
            <a:r>
              <a:rPr lang="en-US" b="1" dirty="0"/>
              <a:t>je </a:t>
            </a:r>
            <a:r>
              <a:rPr lang="en-US" b="1" dirty="0" err="1"/>
              <a:t>usluženo</a:t>
            </a:r>
            <a:r>
              <a:rPr lang="en-US" b="1" dirty="0"/>
              <a:t> {</a:t>
            </a:r>
            <a:r>
              <a:rPr lang="en-US" b="1" dirty="0" err="1"/>
              <a:t>self.broj_gostiju</a:t>
            </a:r>
            <a:r>
              <a:rPr lang="en-US" b="1" dirty="0"/>
              <a:t>} </a:t>
            </a:r>
            <a:r>
              <a:rPr lang="en-US" b="1" dirty="0" err="1"/>
              <a:t>gostiju</a:t>
            </a:r>
            <a:r>
              <a:rPr lang="en-US" b="1" dirty="0"/>
              <a:t>")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    </a:t>
            </a: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b="1" dirty="0" err="1"/>
              <a:t>otvoreni_restoran</a:t>
            </a:r>
            <a:r>
              <a:rPr lang="en-US" b="1" dirty="0"/>
              <a:t>(self):</a:t>
            </a:r>
          </a:p>
          <a:p>
            <a:pPr marL="0" indent="0">
              <a:buNone/>
            </a:pPr>
            <a:r>
              <a:rPr lang="en-US" b="1" dirty="0"/>
              <a:t>        """</a:t>
            </a:r>
            <a:r>
              <a:rPr lang="en-US" b="1" dirty="0" err="1"/>
              <a:t>Prikazuje</a:t>
            </a:r>
            <a:r>
              <a:rPr lang="en-US" b="1" dirty="0"/>
              <a:t> </a:t>
            </a:r>
            <a:r>
              <a:rPr lang="en-US" b="1" dirty="0" err="1"/>
              <a:t>poruku</a:t>
            </a:r>
            <a:r>
              <a:rPr lang="en-US" b="1" dirty="0"/>
              <a:t> da li je </a:t>
            </a:r>
            <a:r>
              <a:rPr lang="en-US" b="1" dirty="0" err="1"/>
              <a:t>restoran</a:t>
            </a:r>
            <a:r>
              <a:rPr lang="en-US" b="1" dirty="0"/>
              <a:t> </a:t>
            </a:r>
            <a:r>
              <a:rPr lang="en-US" b="1" dirty="0" err="1"/>
              <a:t>otvoren</a:t>
            </a:r>
            <a:r>
              <a:rPr lang="en-US" b="1" dirty="0"/>
              <a:t>."""</a:t>
            </a:r>
          </a:p>
          <a:p>
            <a:pPr marL="0" indent="0">
              <a:buNone/>
            </a:pPr>
            <a:r>
              <a:rPr lang="en-US" b="1" dirty="0"/>
              <a:t>        print(f"{</a:t>
            </a:r>
            <a:r>
              <a:rPr lang="en-US" b="1" dirty="0" err="1"/>
              <a:t>self.ime</a:t>
            </a:r>
            <a:r>
              <a:rPr lang="en-US" b="1" dirty="0"/>
              <a:t>} je </a:t>
            </a:r>
            <a:r>
              <a:rPr lang="en-US" b="1" dirty="0" err="1"/>
              <a:t>otvoren</a:t>
            </a:r>
            <a:r>
              <a:rPr lang="en-US" b="1" dirty="0"/>
              <a:t>. </a:t>
            </a:r>
            <a:r>
              <a:rPr lang="en-US" b="1" dirty="0" err="1"/>
              <a:t>Izvolite</a:t>
            </a:r>
            <a:r>
              <a:rPr lang="en-US" b="1" dirty="0"/>
              <a:t>!")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    </a:t>
            </a: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b="1" dirty="0" err="1"/>
              <a:t>uvecaj_broj_gostiju</a:t>
            </a:r>
            <a:r>
              <a:rPr lang="en-US" b="1" dirty="0"/>
              <a:t>(self, </a:t>
            </a:r>
            <a:r>
              <a:rPr lang="en-US" b="1" dirty="0" err="1"/>
              <a:t>dnevni_broj_gostiju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b="1" dirty="0"/>
              <a:t>        """</a:t>
            </a:r>
            <a:r>
              <a:rPr lang="en-US" b="1" dirty="0" err="1"/>
              <a:t>Uvećava</a:t>
            </a:r>
            <a:r>
              <a:rPr lang="en-US" b="1" dirty="0"/>
              <a:t> </a:t>
            </a:r>
            <a:r>
              <a:rPr lang="en-US" b="1" dirty="0" err="1"/>
              <a:t>ukupan</a:t>
            </a:r>
            <a:r>
              <a:rPr lang="en-US" b="1" dirty="0"/>
              <a:t> </a:t>
            </a:r>
            <a:r>
              <a:rPr lang="en-US" b="1" dirty="0" err="1"/>
              <a:t>broj</a:t>
            </a:r>
            <a:r>
              <a:rPr lang="en-US" b="1" dirty="0"/>
              <a:t> </a:t>
            </a:r>
            <a:r>
              <a:rPr lang="en-US" b="1" dirty="0" err="1"/>
              <a:t>gostiju</a:t>
            </a:r>
            <a:r>
              <a:rPr lang="en-US" b="1" dirty="0"/>
              <a:t> </a:t>
            </a:r>
            <a:r>
              <a:rPr lang="en-US" b="1" dirty="0" err="1"/>
              <a:t>za</a:t>
            </a:r>
            <a:r>
              <a:rPr lang="en-US" b="1" dirty="0"/>
              <a:t> </a:t>
            </a:r>
            <a:r>
              <a:rPr lang="en-US" b="1" dirty="0" err="1"/>
              <a:t>dnevni</a:t>
            </a:r>
            <a:r>
              <a:rPr lang="en-US" b="1" dirty="0"/>
              <a:t> </a:t>
            </a:r>
            <a:r>
              <a:rPr lang="en-US" b="1" dirty="0" err="1"/>
              <a:t>broj</a:t>
            </a:r>
            <a:r>
              <a:rPr lang="en-US" b="1" dirty="0"/>
              <a:t> </a:t>
            </a:r>
            <a:r>
              <a:rPr lang="en-US" b="1" dirty="0" err="1"/>
              <a:t>gostiju</a:t>
            </a:r>
            <a:r>
              <a:rPr lang="en-US" b="1" dirty="0"/>
              <a:t> i to </a:t>
            </a:r>
            <a:r>
              <a:rPr lang="en-US" b="1" dirty="0" err="1"/>
              <a:t>štampa</a:t>
            </a:r>
            <a:r>
              <a:rPr lang="en-US" b="1" dirty="0"/>
              <a:t>."""</a:t>
            </a:r>
          </a:p>
          <a:p>
            <a:pPr marL="0" indent="0">
              <a:buNone/>
            </a:pPr>
            <a:r>
              <a:rPr lang="en-US" b="1" dirty="0"/>
              <a:t>        </a:t>
            </a:r>
            <a:r>
              <a:rPr lang="en-US" b="1" dirty="0" err="1"/>
              <a:t>self.broj_gostiju</a:t>
            </a:r>
            <a:r>
              <a:rPr lang="en-US" b="1" dirty="0"/>
              <a:t> += </a:t>
            </a:r>
            <a:r>
              <a:rPr lang="en-US" b="1" dirty="0" err="1"/>
              <a:t>dnevni_broj_gostiju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        print(</a:t>
            </a:r>
            <a:r>
              <a:rPr lang="en-US" b="1" dirty="0" err="1"/>
              <a:t>f"Do</a:t>
            </a:r>
            <a:r>
              <a:rPr lang="en-US" b="1" dirty="0"/>
              <a:t> </a:t>
            </a:r>
            <a:r>
              <a:rPr lang="en-US" b="1" dirty="0" err="1"/>
              <a:t>sada</a:t>
            </a:r>
            <a:r>
              <a:rPr lang="en-US" b="1" dirty="0"/>
              <a:t> </a:t>
            </a:r>
            <a:r>
              <a:rPr lang="en-US" b="1" dirty="0" err="1"/>
              <a:t>smo</a:t>
            </a:r>
            <a:r>
              <a:rPr lang="en-US" b="1" dirty="0"/>
              <a:t> </a:t>
            </a:r>
            <a:r>
              <a:rPr lang="en-US" b="1" dirty="0" err="1"/>
              <a:t>uslužili</a:t>
            </a:r>
            <a:r>
              <a:rPr lang="en-US" b="1" dirty="0"/>
              <a:t> {</a:t>
            </a:r>
            <a:r>
              <a:rPr lang="en-US" b="1" dirty="0" err="1"/>
              <a:t>self.broj_gostiju</a:t>
            </a:r>
            <a:r>
              <a:rPr lang="en-US" b="1" dirty="0"/>
              <a:t>}!")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b="1" dirty="0" err="1"/>
              <a:t>unos</a:t>
            </a:r>
            <a:r>
              <a:rPr lang="en-US" b="1" dirty="0"/>
              <a:t>():</a:t>
            </a:r>
          </a:p>
          <a:p>
            <a:pPr marL="0" indent="0">
              <a:buNone/>
            </a:pPr>
            <a:r>
              <a:rPr lang="en-US" b="1" dirty="0"/>
              <a:t>    </a:t>
            </a:r>
            <a:r>
              <a:rPr lang="en-US" b="1" dirty="0" err="1"/>
              <a:t>ime</a:t>
            </a:r>
            <a:r>
              <a:rPr lang="en-US" b="1" dirty="0"/>
              <a:t> = input("</a:t>
            </a:r>
            <a:r>
              <a:rPr lang="en-US" b="1" dirty="0" err="1"/>
              <a:t>Unesite</a:t>
            </a:r>
            <a:r>
              <a:rPr lang="en-US" b="1" dirty="0"/>
              <a:t> </a:t>
            </a:r>
            <a:r>
              <a:rPr lang="en-US" b="1" dirty="0" err="1"/>
              <a:t>ime</a:t>
            </a:r>
            <a:r>
              <a:rPr lang="en-US" b="1" dirty="0"/>
              <a:t> </a:t>
            </a:r>
            <a:r>
              <a:rPr lang="en-US" b="1" dirty="0" err="1"/>
              <a:t>restorana</a:t>
            </a:r>
            <a:r>
              <a:rPr lang="en-US" b="1" dirty="0"/>
              <a:t>: ")</a:t>
            </a:r>
          </a:p>
          <a:p>
            <a:pPr marL="0" indent="0">
              <a:buNone/>
            </a:pPr>
            <a:r>
              <a:rPr lang="en-US" b="1" dirty="0"/>
              <a:t>    </a:t>
            </a:r>
            <a:r>
              <a:rPr lang="en-US" b="1" dirty="0" err="1"/>
              <a:t>tip_kuhinje</a:t>
            </a:r>
            <a:r>
              <a:rPr lang="en-US" b="1" dirty="0"/>
              <a:t> = input("</a:t>
            </a:r>
            <a:r>
              <a:rPr lang="en-US" b="1" dirty="0" err="1"/>
              <a:t>Unesite</a:t>
            </a:r>
            <a:r>
              <a:rPr lang="en-US" b="1" dirty="0"/>
              <a:t> tip </a:t>
            </a:r>
            <a:r>
              <a:rPr lang="en-US" b="1" dirty="0" err="1"/>
              <a:t>kuhinje</a:t>
            </a:r>
            <a:r>
              <a:rPr lang="en-US" b="1" dirty="0"/>
              <a:t>: ")</a:t>
            </a:r>
          </a:p>
          <a:p>
            <a:pPr marL="0" indent="0">
              <a:buNone/>
            </a:pPr>
            <a:r>
              <a:rPr lang="en-US" b="1" dirty="0"/>
              <a:t>    return (</a:t>
            </a:r>
            <a:r>
              <a:rPr lang="en-US" b="1" dirty="0" err="1"/>
              <a:t>ime</a:t>
            </a:r>
            <a:r>
              <a:rPr lang="en-US" b="1" dirty="0"/>
              <a:t>, </a:t>
            </a:r>
            <a:r>
              <a:rPr lang="en-US" b="1" dirty="0" err="1"/>
              <a:t>tip_kuhinje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/>
            </a:r>
            <a:br>
              <a:rPr lang="en-US" b="1" dirty="0"/>
            </a:br>
            <a:r>
              <a:rPr lang="en-US" b="1" dirty="0" err="1"/>
              <a:t>restoran</a:t>
            </a:r>
            <a:r>
              <a:rPr lang="en-US" b="1" dirty="0"/>
              <a:t> = </a:t>
            </a:r>
            <a:r>
              <a:rPr lang="en-US" b="1" dirty="0" err="1"/>
              <a:t>Restoran</a:t>
            </a:r>
            <a:r>
              <a:rPr lang="en-US" b="1" dirty="0"/>
              <a:t>(*</a:t>
            </a:r>
            <a:r>
              <a:rPr lang="en-US" b="1" dirty="0" err="1"/>
              <a:t>unos</a:t>
            </a:r>
            <a:r>
              <a:rPr lang="en-US" b="1" dirty="0"/>
              <a:t>())</a:t>
            </a:r>
          </a:p>
          <a:p>
            <a:pPr marL="0" indent="0">
              <a:buNone/>
            </a:pPr>
            <a:r>
              <a:rPr lang="en-US" b="1" dirty="0" err="1"/>
              <a:t>restoran.opisi_restoran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 err="1"/>
              <a:t>restoran.otvoreni_restoran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 err="1"/>
              <a:t>dnevni_broj_gostiju</a:t>
            </a:r>
            <a:r>
              <a:rPr lang="en-US" b="1" dirty="0"/>
              <a:t> = </a:t>
            </a:r>
            <a:r>
              <a:rPr lang="en-US" b="1" dirty="0" err="1"/>
              <a:t>int</a:t>
            </a:r>
            <a:r>
              <a:rPr lang="en-US" b="1" dirty="0"/>
              <a:t>(input("</a:t>
            </a:r>
            <a:r>
              <a:rPr lang="en-US" b="1" dirty="0" err="1"/>
              <a:t>Koliko</a:t>
            </a:r>
            <a:r>
              <a:rPr lang="en-US" b="1" dirty="0"/>
              <a:t> je </a:t>
            </a:r>
            <a:r>
              <a:rPr lang="en-US" b="1" dirty="0" err="1"/>
              <a:t>danas</a:t>
            </a:r>
            <a:r>
              <a:rPr lang="en-US" b="1" dirty="0"/>
              <a:t> </a:t>
            </a:r>
            <a:r>
              <a:rPr lang="en-US" b="1" dirty="0" err="1"/>
              <a:t>bilo</a:t>
            </a:r>
            <a:r>
              <a:rPr lang="en-US" b="1" dirty="0"/>
              <a:t> </a:t>
            </a:r>
            <a:r>
              <a:rPr lang="en-US" b="1" dirty="0" err="1"/>
              <a:t>gostiju</a:t>
            </a:r>
            <a:r>
              <a:rPr lang="en-US" b="1" dirty="0"/>
              <a:t>? "))</a:t>
            </a:r>
          </a:p>
          <a:p>
            <a:pPr marL="0" indent="0">
              <a:buNone/>
            </a:pPr>
            <a:r>
              <a:rPr lang="en-US" b="1" dirty="0" err="1"/>
              <a:t>restoran.uvecaj_broj_gostiju</a:t>
            </a:r>
            <a:r>
              <a:rPr lang="en-US" b="1" dirty="0"/>
              <a:t>(</a:t>
            </a:r>
            <a:r>
              <a:rPr lang="en-US" b="1" dirty="0" err="1"/>
              <a:t>dnevni_broj_gostiju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5537841" y="4149080"/>
            <a:ext cx="3635896" cy="2448272"/>
          </a:xfrm>
          <a:prstGeom prst="wedgeRoundRectCallout">
            <a:avLst>
              <a:gd name="adj1" fmla="val -49708"/>
              <a:gd name="adj2" fmla="val 197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from </a:t>
            </a:r>
            <a:r>
              <a:rPr lang="en-US" sz="1600" dirty="0" err="1"/>
              <a:t>datetime</a:t>
            </a:r>
            <a:r>
              <a:rPr lang="en-US" sz="1600" dirty="0"/>
              <a:t> import </a:t>
            </a:r>
            <a:r>
              <a:rPr lang="en-US" sz="1600" dirty="0" err="1" smtClean="0"/>
              <a:t>datetime</a:t>
            </a:r>
            <a:endParaRPr lang="sr-Latn-RS" sz="1600" dirty="0" smtClean="0"/>
          </a:p>
          <a:p>
            <a:r>
              <a:rPr lang="sr-Latn-RS" sz="1600" dirty="0" smtClean="0"/>
              <a:t>...</a:t>
            </a:r>
            <a:endParaRPr lang="en-US" sz="1600" dirty="0"/>
          </a:p>
          <a:p>
            <a:r>
              <a:rPr lang="en-US" sz="1600" dirty="0" err="1"/>
              <a:t>sada</a:t>
            </a:r>
            <a:r>
              <a:rPr lang="en-US" sz="1600" dirty="0"/>
              <a:t> = </a:t>
            </a:r>
            <a:r>
              <a:rPr lang="en-US" sz="1600" dirty="0" err="1"/>
              <a:t>datetime.now</a:t>
            </a:r>
            <a:r>
              <a:rPr lang="en-US" sz="1600" dirty="0"/>
              <a:t>()</a:t>
            </a:r>
          </a:p>
          <a:p>
            <a:r>
              <a:rPr lang="en-US" sz="1600" dirty="0"/>
              <a:t>if </a:t>
            </a:r>
            <a:r>
              <a:rPr lang="en-US" sz="1600" dirty="0" err="1"/>
              <a:t>sada.hour</a:t>
            </a:r>
            <a:r>
              <a:rPr lang="en-US" sz="1600" dirty="0"/>
              <a:t> &gt;=9 and </a:t>
            </a:r>
            <a:r>
              <a:rPr lang="en-US" sz="1600" dirty="0" err="1"/>
              <a:t>sada.hour</a:t>
            </a:r>
            <a:r>
              <a:rPr lang="en-US" sz="1600" dirty="0"/>
              <a:t> &lt;=23:</a:t>
            </a:r>
          </a:p>
          <a:p>
            <a:r>
              <a:rPr lang="en-US" sz="1600" dirty="0"/>
              <a:t>    print(f"{</a:t>
            </a:r>
            <a:r>
              <a:rPr lang="en-US" sz="1600" dirty="0" err="1"/>
              <a:t>self.ime</a:t>
            </a:r>
            <a:r>
              <a:rPr lang="en-US" sz="1600" dirty="0"/>
              <a:t>} </a:t>
            </a:r>
            <a:r>
              <a:rPr lang="en-US" sz="1600" dirty="0" smtClean="0"/>
              <a:t>je </a:t>
            </a:r>
            <a:r>
              <a:rPr lang="en-US" sz="1600" dirty="0" err="1"/>
              <a:t>otvoren</a:t>
            </a:r>
            <a:r>
              <a:rPr lang="en-US" sz="1600" dirty="0"/>
              <a:t>")</a:t>
            </a:r>
          </a:p>
          <a:p>
            <a:r>
              <a:rPr lang="en-US" sz="1600" dirty="0"/>
              <a:t>else:</a:t>
            </a:r>
          </a:p>
          <a:p>
            <a:r>
              <a:rPr lang="en-US" sz="1600" dirty="0"/>
              <a:t>    </a:t>
            </a:r>
            <a:r>
              <a:rPr lang="en-US" sz="1600" dirty="0" smtClean="0"/>
              <a:t>print(</a:t>
            </a:r>
            <a:r>
              <a:rPr lang="en-US" sz="1600" dirty="0"/>
              <a:t>print(f"{</a:t>
            </a:r>
            <a:r>
              <a:rPr lang="en-US" sz="1600" dirty="0" err="1"/>
              <a:t>self.ime</a:t>
            </a:r>
            <a:r>
              <a:rPr lang="en-US" sz="1600" dirty="0"/>
              <a:t>} </a:t>
            </a:r>
            <a:r>
              <a:rPr lang="en-US" sz="1600" dirty="0" smtClean="0"/>
              <a:t>je </a:t>
            </a:r>
            <a:r>
              <a:rPr lang="en-US" sz="1600" dirty="0" err="1"/>
              <a:t>zatvoren</a:t>
            </a:r>
            <a:r>
              <a:rPr lang="en-US" sz="1600" dirty="0"/>
              <a:t>. </a:t>
            </a:r>
            <a:r>
              <a:rPr lang="en-US" sz="1600" dirty="0" err="1"/>
              <a:t>Izvolite</a:t>
            </a:r>
            <a:r>
              <a:rPr lang="en-US" sz="1600" dirty="0"/>
              <a:t> </a:t>
            </a:r>
            <a:r>
              <a:rPr lang="en-US" sz="1600" dirty="0" err="1"/>
              <a:t>nam</a:t>
            </a:r>
            <a:r>
              <a:rPr lang="en-US" sz="1600" dirty="0"/>
              <a:t> </a:t>
            </a:r>
            <a:r>
              <a:rPr lang="en-US" sz="1600" dirty="0" err="1"/>
              <a:t>doći</a:t>
            </a:r>
            <a:r>
              <a:rPr lang="en-US" sz="1600" dirty="0"/>
              <a:t> od 9,00 do 23,00")</a:t>
            </a:r>
          </a:p>
        </p:txBody>
      </p:sp>
    </p:spTree>
    <p:extLst>
      <p:ext uri="{BB962C8B-B14F-4D97-AF65-F5344CB8AC3E}">
        <p14:creationId xmlns:p14="http://schemas.microsoft.com/office/powerpoint/2010/main" val="3503876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400" b="1" dirty="0" smtClean="0"/>
              <a:t>Domaći zadatak.</a:t>
            </a:r>
            <a:endParaRPr lang="en-GB" sz="2400" b="1" dirty="0" smtClean="0"/>
          </a:p>
          <a:p>
            <a:r>
              <a:rPr lang="sr-Latn-RS" sz="2400" dirty="0" smtClean="0"/>
              <a:t>Klasu </a:t>
            </a:r>
            <a:r>
              <a:rPr lang="sr-Latn-RS" sz="2400" b="1" dirty="0" smtClean="0"/>
              <a:t>Auto </a:t>
            </a:r>
            <a:r>
              <a:rPr lang="sr-Latn-RS" sz="2400" dirty="0" smtClean="0"/>
              <a:t>iz poslednjeg domaćeg zadatka prepraviti tako da:</a:t>
            </a:r>
          </a:p>
          <a:p>
            <a:r>
              <a:rPr lang="sr-Latn-RS" sz="2400" dirty="0"/>
              <a:t>Metodi </a:t>
            </a:r>
            <a:r>
              <a:rPr lang="sr-Latn-RS" sz="2400" b="1" i="1" dirty="0"/>
              <a:t>__init__ </a:t>
            </a:r>
            <a:r>
              <a:rPr lang="sr-Latn-RS" sz="2400" dirty="0"/>
              <a:t>dodati atribut</a:t>
            </a:r>
            <a:r>
              <a:rPr lang="sr-Latn-RS" sz="2400" b="1" i="1" dirty="0"/>
              <a:t> self.kilometraza </a:t>
            </a:r>
            <a:r>
              <a:rPr lang="en-GB" sz="2400" dirty="0"/>
              <a:t>(</a:t>
            </a:r>
            <a:r>
              <a:rPr lang="en-GB" sz="2400" dirty="0" err="1"/>
              <a:t>koju</a:t>
            </a:r>
            <a:r>
              <a:rPr lang="en-GB" sz="2400" dirty="0"/>
              <a:t> </a:t>
            </a:r>
            <a:r>
              <a:rPr lang="en-GB" sz="2400" dirty="0" err="1"/>
              <a:t>metoda</a:t>
            </a:r>
            <a:r>
              <a:rPr lang="en-GB" sz="2400" dirty="0"/>
              <a:t> ne prima, </a:t>
            </a:r>
            <a:r>
              <a:rPr lang="en-GB" sz="2400" dirty="0" err="1"/>
              <a:t>ve</a:t>
            </a:r>
            <a:r>
              <a:rPr lang="sr-Latn-RS" sz="2400" dirty="0"/>
              <a:t>ć samo inicijalizuje</a:t>
            </a:r>
            <a:r>
              <a:rPr lang="en-GB" sz="2400" dirty="0"/>
              <a:t>, </a:t>
            </a:r>
            <a:r>
              <a:rPr lang="en-GB" sz="2400" dirty="0" err="1"/>
              <a:t>na</a:t>
            </a:r>
            <a:r>
              <a:rPr lang="en-GB" sz="2400" dirty="0"/>
              <a:t> primer </a:t>
            </a:r>
            <a:r>
              <a:rPr lang="en-GB" sz="2400" dirty="0" err="1"/>
              <a:t>na</a:t>
            </a:r>
            <a:r>
              <a:rPr lang="en-GB" sz="2400" dirty="0"/>
              <a:t> 2345</a:t>
            </a:r>
            <a:r>
              <a:rPr lang="sr-Latn-RS" sz="2400" dirty="0"/>
              <a:t>).</a:t>
            </a:r>
          </a:p>
          <a:p>
            <a:r>
              <a:rPr lang="en-GB" sz="2400" dirty="0" err="1" smtClean="0"/>
              <a:t>Unos</a:t>
            </a:r>
            <a:r>
              <a:rPr lang="en-GB" sz="2400" dirty="0" smtClean="0"/>
              <a:t> </a:t>
            </a:r>
            <a:r>
              <a:rPr lang="sr-Latn-RS" sz="2400" dirty="0" smtClean="0"/>
              <a:t>atributa </a:t>
            </a:r>
            <a:r>
              <a:rPr lang="sr-Latn-RS" sz="2400" dirty="0"/>
              <a:t>za inicijalizaciju </a:t>
            </a:r>
            <a:r>
              <a:rPr lang="sr-Latn-RS" sz="2400" dirty="0" smtClean="0"/>
              <a:t>(</a:t>
            </a:r>
            <a:r>
              <a:rPr lang="sr-Latn-RS" sz="2400" b="1" i="1" dirty="0" smtClean="0"/>
              <a:t>proizvodjac</a:t>
            </a:r>
            <a:r>
              <a:rPr lang="sr-Latn-RS" sz="2400" dirty="0" smtClean="0"/>
              <a:t> i </a:t>
            </a:r>
            <a:r>
              <a:rPr lang="sr-Latn-RS" sz="2400" b="1" i="1" dirty="0" smtClean="0"/>
              <a:t>model</a:t>
            </a:r>
            <a:r>
              <a:rPr lang="sr-Latn-RS" sz="2400" dirty="0" smtClean="0"/>
              <a:t>) obavlja</a:t>
            </a:r>
            <a:r>
              <a:rPr lang="en-GB" sz="2400" dirty="0" smtClean="0"/>
              <a:t> se</a:t>
            </a:r>
            <a:r>
              <a:rPr lang="sr-Latn-RS" sz="2400" dirty="0" smtClean="0"/>
              <a:t> samo </a:t>
            </a:r>
            <a:r>
              <a:rPr lang="en-GB" sz="2400" dirty="0" err="1" smtClean="0"/>
              <a:t>preko</a:t>
            </a:r>
            <a:r>
              <a:rPr lang="en-GB" sz="2400" dirty="0" smtClean="0"/>
              <a:t> f-je</a:t>
            </a:r>
            <a:r>
              <a:rPr lang="sr-Latn-RS" sz="2400" dirty="0" smtClean="0"/>
              <a:t> </a:t>
            </a:r>
            <a:r>
              <a:rPr lang="sr-Latn-RS" sz="2400" b="1" i="1" dirty="0" smtClean="0"/>
              <a:t>unos1()</a:t>
            </a:r>
            <a:r>
              <a:rPr lang="sr-Latn-RS" sz="2400" dirty="0"/>
              <a:t> </a:t>
            </a:r>
            <a:r>
              <a:rPr lang="sr-Latn-RS" sz="2400" dirty="0" smtClean="0"/>
              <a:t>(pazi, ovo je obična f-ja, tj. nije uvučena u okviru klase).</a:t>
            </a:r>
          </a:p>
          <a:p>
            <a:r>
              <a:rPr lang="sr-Latn-RS" sz="2400" dirty="0" smtClean="0"/>
              <a:t>Dodati novu f-ju </a:t>
            </a:r>
            <a:r>
              <a:rPr lang="sr-Latn-RS" sz="2400" b="1" i="1" dirty="0" smtClean="0"/>
              <a:t>unos2()</a:t>
            </a:r>
            <a:r>
              <a:rPr lang="sr-Latn-RS" sz="2400" dirty="0" smtClean="0"/>
              <a:t> koja unosi </a:t>
            </a:r>
            <a:r>
              <a:rPr lang="pl-PL" sz="2400" dirty="0" smtClean="0"/>
              <a:t>koje </a:t>
            </a:r>
            <a:r>
              <a:rPr lang="pl-PL" sz="2400" dirty="0"/>
              <a:t>godine je auto </a:t>
            </a:r>
            <a:r>
              <a:rPr lang="pl-PL" sz="2400" dirty="0" smtClean="0"/>
              <a:t>proizveden u promenljivu </a:t>
            </a:r>
            <a:r>
              <a:rPr lang="pl-PL" sz="2400" b="1" dirty="0" smtClean="0"/>
              <a:t>godine</a:t>
            </a:r>
            <a:r>
              <a:rPr lang="pl-PL" sz="2400" dirty="0" smtClean="0"/>
              <a:t> i za </a:t>
            </a:r>
            <a:r>
              <a:rPr lang="pl-PL" sz="2400" dirty="0"/>
              <a:t>koliko je uvecana </a:t>
            </a:r>
            <a:r>
              <a:rPr lang="pl-PL" sz="2400" dirty="0" smtClean="0"/>
              <a:t>kilometraža u promenljivu </a:t>
            </a:r>
            <a:r>
              <a:rPr lang="pl-PL" sz="2400" b="1" dirty="0" smtClean="0"/>
              <a:t>kilometara</a:t>
            </a:r>
            <a:r>
              <a:rPr lang="pl-PL" sz="2400" dirty="0"/>
              <a:t> </a:t>
            </a:r>
            <a:r>
              <a:rPr lang="sr-Latn-RS" sz="2400" dirty="0" smtClean="0"/>
              <a:t>(i ovo </a:t>
            </a:r>
            <a:r>
              <a:rPr lang="sr-Latn-RS" sz="2400" dirty="0"/>
              <a:t>je obična </a:t>
            </a:r>
            <a:r>
              <a:rPr lang="sr-Latn-RS" sz="2400" dirty="0" smtClean="0"/>
              <a:t>f-ja, </a:t>
            </a:r>
            <a:r>
              <a:rPr lang="sr-Latn-RS" sz="2400" dirty="0"/>
              <a:t>tj. nije uvučena u okviru klase).</a:t>
            </a:r>
          </a:p>
          <a:p>
            <a:r>
              <a:rPr lang="sr-Latn-RS" sz="2400" dirty="0" smtClean="0"/>
              <a:t>Metodu </a:t>
            </a:r>
            <a:r>
              <a:rPr lang="sr-Latn-RS" sz="2400" b="1" i="1" dirty="0" smtClean="0"/>
              <a:t>godiste</a:t>
            </a:r>
            <a:r>
              <a:rPr lang="sr-Latn-RS" sz="2400" dirty="0" smtClean="0"/>
              <a:t> prepravi da se zove </a:t>
            </a:r>
            <a:r>
              <a:rPr lang="en-US" sz="2400" b="1" i="1" dirty="0" err="1" smtClean="0"/>
              <a:t>godiste_kilometraza</a:t>
            </a:r>
            <a:r>
              <a:rPr lang="sr-Latn-RS" sz="2400" i="1" dirty="0" smtClean="0"/>
              <a:t>.</a:t>
            </a:r>
            <a:r>
              <a:rPr lang="sr-Latn-RS" sz="2400" b="1" i="1" dirty="0" smtClean="0"/>
              <a:t> </a:t>
            </a:r>
            <a:r>
              <a:rPr lang="sr-Latn-RS" sz="2400" dirty="0" smtClean="0"/>
              <a:t>Osim</a:t>
            </a:r>
            <a:r>
              <a:rPr lang="sr-Latn-RS" sz="2400" b="1" i="1" dirty="0" smtClean="0"/>
              <a:t> godine </a:t>
            </a:r>
            <a:r>
              <a:rPr lang="sr-Latn-RS" sz="2400" dirty="0" smtClean="0"/>
              <a:t>prima</a:t>
            </a:r>
            <a:r>
              <a:rPr lang="sr-Latn-RS" sz="2400" b="1" i="1" dirty="0" smtClean="0"/>
              <a:t> </a:t>
            </a:r>
            <a:r>
              <a:rPr lang="sr-Latn-RS" sz="2400" dirty="0" smtClean="0"/>
              <a:t>i atribut</a:t>
            </a:r>
            <a:r>
              <a:rPr lang="sr-Latn-RS" sz="2400" b="1" i="1" dirty="0" smtClean="0"/>
              <a:t> kilometara. </a:t>
            </a:r>
            <a:r>
              <a:rPr lang="sr-Latn-RS" sz="2400" dirty="0" smtClean="0"/>
              <a:t>Dodati metodi da uvećava </a:t>
            </a:r>
            <a:r>
              <a:rPr lang="sr-Latn-RS" sz="2400" b="1" i="1" dirty="0"/>
              <a:t>self.kilometraza </a:t>
            </a:r>
            <a:r>
              <a:rPr lang="sr-Latn-RS" sz="2400" dirty="0" smtClean="0"/>
              <a:t>za vrednost </a:t>
            </a:r>
            <a:r>
              <a:rPr lang="sr-Latn-RS" sz="2400" b="1" i="1" dirty="0"/>
              <a:t>kilometara </a:t>
            </a:r>
            <a:r>
              <a:rPr lang="sr-Latn-RS" sz="2400" dirty="0" smtClean="0"/>
              <a:t>i štampa tu ukupnu kilometražu (</a:t>
            </a:r>
            <a:r>
              <a:rPr lang="sr-Latn-RS" sz="2400" b="1" i="1" dirty="0"/>
              <a:t>self.kilometraza</a:t>
            </a:r>
            <a:r>
              <a:rPr lang="sr-Latn-RS" sz="2400" dirty="0" smtClean="0"/>
              <a:t>).</a:t>
            </a:r>
            <a:endParaRPr lang="en-GB" sz="2400" dirty="0"/>
          </a:p>
          <a:p>
            <a:r>
              <a:rPr lang="sr-Latn-RS" sz="2400" dirty="0" smtClean="0"/>
              <a:t>Instanciraj </a:t>
            </a:r>
            <a:r>
              <a:rPr lang="sr-Latn-RS" sz="2400" b="1" i="1" dirty="0" smtClean="0"/>
              <a:t>moj_auto</a:t>
            </a:r>
            <a:r>
              <a:rPr lang="sr-Latn-RS" sz="2400" i="1" dirty="0" smtClean="0"/>
              <a:t> </a:t>
            </a:r>
            <a:r>
              <a:rPr lang="sr-Latn-RS" sz="2400" dirty="0" smtClean="0"/>
              <a:t>i </a:t>
            </a:r>
            <a:r>
              <a:rPr lang="sr-Latn-RS" sz="2400" b="1" i="1" dirty="0" smtClean="0"/>
              <a:t>komsijin_auto</a:t>
            </a:r>
            <a:r>
              <a:rPr lang="sr-Latn-RS" sz="2400" dirty="0" smtClean="0"/>
              <a:t> pozivajući </a:t>
            </a:r>
            <a:r>
              <a:rPr lang="sr-Latn-RS" sz="2400" b="1" i="1" dirty="0" smtClean="0"/>
              <a:t>unos1(), </a:t>
            </a:r>
            <a:r>
              <a:rPr lang="sr-Latn-RS" sz="2400" dirty="0" smtClean="0"/>
              <a:t>zatim se poziva </a:t>
            </a:r>
            <a:r>
              <a:rPr lang="en-US" sz="2400" b="1" i="1" dirty="0" err="1"/>
              <a:t>opisi_auto</a:t>
            </a:r>
            <a:r>
              <a:rPr lang="en-US" sz="2400" b="1" i="1" dirty="0" smtClean="0"/>
              <a:t>()</a:t>
            </a:r>
            <a:r>
              <a:rPr lang="sr-Latn-RS" sz="2400" dirty="0" smtClean="0"/>
              <a:t>, a na kraju se poziva </a:t>
            </a:r>
            <a:r>
              <a:rPr lang="en-US" sz="2400" b="1" i="1" dirty="0" err="1" smtClean="0"/>
              <a:t>godiste_kilometraza</a:t>
            </a:r>
            <a:r>
              <a:rPr lang="sr-Latn-RS" sz="2400" b="1" i="1" dirty="0" smtClean="0"/>
              <a:t>() </a:t>
            </a:r>
            <a:r>
              <a:rPr lang="sr-Latn-RS" sz="2400" dirty="0"/>
              <a:t>pozivajući </a:t>
            </a:r>
            <a:r>
              <a:rPr lang="sr-Latn-RS" sz="2400" b="1" i="1" dirty="0" smtClean="0"/>
              <a:t>unos2() </a:t>
            </a:r>
            <a:r>
              <a:rPr lang="sr-Latn-RS" sz="2400" dirty="0" smtClean="0"/>
              <a:t>(pazi na * kod unos1() i unos2()).</a:t>
            </a:r>
            <a:endParaRPr lang="en-US" sz="2400" dirty="0"/>
          </a:p>
          <a:p>
            <a:endParaRPr lang="en-US" sz="2400" dirty="0"/>
          </a:p>
          <a:p>
            <a:endParaRPr lang="sr-Latn-RS" sz="2400" b="1" i="1" dirty="0" smtClean="0"/>
          </a:p>
          <a:p>
            <a:pPr marL="0" indent="0">
              <a:buNone/>
            </a:pPr>
            <a:endParaRPr lang="sr-Latn-RS" sz="2400" dirty="0" smtClean="0"/>
          </a:p>
          <a:p>
            <a:pPr marL="0" indent="0">
              <a:buNone/>
            </a:pPr>
            <a:endParaRPr lang="sr-Latn-RS" sz="2000" b="1" dirty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27557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1400" b="1" dirty="0" smtClean="0"/>
              <a:t>Rešenje domaćeg zadatka:</a:t>
            </a:r>
            <a:endParaRPr lang="en-GB" sz="1400" b="1" dirty="0" smtClean="0"/>
          </a:p>
          <a:p>
            <a:pPr marL="0" indent="0">
              <a:buNone/>
            </a:pPr>
            <a:r>
              <a:rPr lang="en-US" sz="1050" b="1" dirty="0"/>
              <a:t>class Auto:</a:t>
            </a:r>
          </a:p>
          <a:p>
            <a:pPr marL="0" indent="0">
              <a:buNone/>
            </a:pPr>
            <a:r>
              <a:rPr lang="en-US" sz="1050" b="1" dirty="0"/>
              <a:t>    """</a:t>
            </a:r>
            <a:r>
              <a:rPr lang="en-US" sz="1050" b="1" dirty="0" err="1"/>
              <a:t>Klasa</a:t>
            </a:r>
            <a:r>
              <a:rPr lang="en-US" sz="1050" b="1" dirty="0"/>
              <a:t> </a:t>
            </a:r>
            <a:r>
              <a:rPr lang="en-US" sz="1050" b="1" dirty="0" err="1"/>
              <a:t>koja</a:t>
            </a:r>
            <a:r>
              <a:rPr lang="en-US" sz="1050" b="1" dirty="0"/>
              <a:t> </a:t>
            </a:r>
            <a:r>
              <a:rPr lang="en-US" sz="1050" b="1" dirty="0" err="1"/>
              <a:t>predstavlja</a:t>
            </a:r>
            <a:r>
              <a:rPr lang="en-US" sz="1050" b="1" dirty="0"/>
              <a:t> </a:t>
            </a:r>
            <a:r>
              <a:rPr lang="en-US" sz="1050" b="1" dirty="0" err="1"/>
              <a:t>automobil</a:t>
            </a:r>
            <a:r>
              <a:rPr lang="en-US" sz="1050" b="1" dirty="0"/>
              <a:t>."""</a:t>
            </a:r>
          </a:p>
          <a:p>
            <a:pPr marL="0" indent="0">
              <a:buNone/>
            </a:pPr>
            <a:r>
              <a:rPr lang="en-US" sz="1050" b="1" dirty="0"/>
              <a:t>    </a:t>
            </a:r>
            <a:r>
              <a:rPr lang="en-US" sz="1050" b="1" dirty="0" err="1"/>
              <a:t>def</a:t>
            </a:r>
            <a:r>
              <a:rPr lang="en-US" sz="1050" b="1" dirty="0"/>
              <a:t> __</a:t>
            </a:r>
            <a:r>
              <a:rPr lang="en-US" sz="1050" b="1" dirty="0" err="1"/>
              <a:t>init</a:t>
            </a:r>
            <a:r>
              <a:rPr lang="en-US" sz="1050" b="1" dirty="0"/>
              <a:t>__(self, </a:t>
            </a:r>
            <a:r>
              <a:rPr lang="en-US" sz="1050" b="1" dirty="0" err="1"/>
              <a:t>proizvodjac</a:t>
            </a:r>
            <a:r>
              <a:rPr lang="en-US" sz="1050" b="1" dirty="0"/>
              <a:t>, model):</a:t>
            </a:r>
          </a:p>
          <a:p>
            <a:pPr marL="0" indent="0">
              <a:buNone/>
            </a:pPr>
            <a:r>
              <a:rPr lang="en-US" sz="1050" b="1" dirty="0"/>
              <a:t>        """ </a:t>
            </a:r>
            <a:r>
              <a:rPr lang="en-US" sz="1050" b="1" dirty="0" err="1"/>
              <a:t>Inicijalizujte</a:t>
            </a:r>
            <a:r>
              <a:rPr lang="en-US" sz="1050" b="1" dirty="0"/>
              <a:t> </a:t>
            </a:r>
            <a:r>
              <a:rPr lang="en-US" sz="1050" b="1" dirty="0" err="1"/>
              <a:t>atribute</a:t>
            </a:r>
            <a:r>
              <a:rPr lang="en-US" sz="1050" b="1" dirty="0"/>
              <a:t> da </a:t>
            </a:r>
            <a:r>
              <a:rPr lang="en-US" sz="1050" b="1" dirty="0" smtClean="0"/>
              <a:t>bi</a:t>
            </a:r>
            <a:r>
              <a:rPr lang="sr-Latn-RS" sz="1050" b="1" dirty="0" smtClean="0"/>
              <a:t> </a:t>
            </a:r>
            <a:r>
              <a:rPr lang="en-US" sz="1050" b="1" dirty="0" err="1" smtClean="0"/>
              <a:t>ste</a:t>
            </a:r>
            <a:r>
              <a:rPr lang="en-US" sz="1050" b="1" dirty="0" smtClean="0"/>
              <a:t> </a:t>
            </a:r>
            <a:r>
              <a:rPr lang="en-US" sz="1050" b="1" dirty="0" err="1"/>
              <a:t>opisali</a:t>
            </a:r>
            <a:r>
              <a:rPr lang="en-US" sz="1050" b="1" dirty="0"/>
              <a:t> </a:t>
            </a:r>
            <a:r>
              <a:rPr lang="en-US" sz="1050" b="1" dirty="0" err="1"/>
              <a:t>automobil</a:t>
            </a:r>
            <a:r>
              <a:rPr lang="en-US" sz="1050" b="1" dirty="0"/>
              <a:t>."""</a:t>
            </a:r>
          </a:p>
          <a:p>
            <a:pPr marL="0" indent="0">
              <a:buNone/>
            </a:pPr>
            <a:r>
              <a:rPr lang="en-US" sz="1050" b="1" dirty="0"/>
              <a:t>        </a:t>
            </a:r>
            <a:r>
              <a:rPr lang="en-US" sz="1050" b="1" dirty="0" err="1"/>
              <a:t>self.proizvodjac</a:t>
            </a:r>
            <a:r>
              <a:rPr lang="en-US" sz="1050" b="1" dirty="0"/>
              <a:t> = </a:t>
            </a:r>
            <a:r>
              <a:rPr lang="en-US" sz="1050" b="1" dirty="0" err="1"/>
              <a:t>proizvodjac</a:t>
            </a:r>
            <a:endParaRPr lang="en-US" sz="1050" b="1" dirty="0"/>
          </a:p>
          <a:p>
            <a:pPr marL="0" indent="0">
              <a:buNone/>
            </a:pPr>
            <a:r>
              <a:rPr lang="en-US" sz="1050" b="1" dirty="0"/>
              <a:t>        </a:t>
            </a:r>
            <a:r>
              <a:rPr lang="en-US" sz="1050" b="1" dirty="0" err="1"/>
              <a:t>self.model</a:t>
            </a:r>
            <a:r>
              <a:rPr lang="en-US" sz="1050" b="1" dirty="0"/>
              <a:t> = model</a:t>
            </a:r>
          </a:p>
          <a:p>
            <a:pPr marL="0" indent="0">
              <a:buNone/>
            </a:pPr>
            <a:r>
              <a:rPr lang="en-US" sz="1050" b="1" dirty="0"/>
              <a:t>        </a:t>
            </a:r>
            <a:r>
              <a:rPr lang="en-US" sz="1050" b="1" dirty="0" err="1"/>
              <a:t>self.kilometraza</a:t>
            </a:r>
            <a:r>
              <a:rPr lang="en-US" sz="1050" b="1" dirty="0"/>
              <a:t> = 2345</a:t>
            </a:r>
          </a:p>
          <a:p>
            <a:pPr marL="0" indent="0">
              <a:buNone/>
            </a:pPr>
            <a:r>
              <a:rPr lang="en-US" sz="1050" b="1" dirty="0"/>
              <a:t>        </a:t>
            </a:r>
          </a:p>
          <a:p>
            <a:pPr marL="0" indent="0">
              <a:buNone/>
            </a:pPr>
            <a:r>
              <a:rPr lang="en-US" sz="1050" b="1" dirty="0"/>
              <a:t>    </a:t>
            </a:r>
            <a:r>
              <a:rPr lang="en-US" sz="1050" b="1" dirty="0" err="1"/>
              <a:t>def</a:t>
            </a:r>
            <a:r>
              <a:rPr lang="en-US" sz="1050" b="1" dirty="0"/>
              <a:t> </a:t>
            </a:r>
            <a:r>
              <a:rPr lang="en-US" sz="1050" b="1" dirty="0" err="1"/>
              <a:t>opisi_auto</a:t>
            </a:r>
            <a:r>
              <a:rPr lang="en-US" sz="1050" b="1" dirty="0"/>
              <a:t>(self):</a:t>
            </a:r>
          </a:p>
          <a:p>
            <a:pPr marL="0" indent="0">
              <a:buNone/>
            </a:pPr>
            <a:r>
              <a:rPr lang="en-US" sz="1050" b="1" dirty="0"/>
              <a:t>        """</a:t>
            </a:r>
            <a:r>
              <a:rPr lang="en-US" sz="1050" b="1" dirty="0" err="1"/>
              <a:t>Prikazuje</a:t>
            </a:r>
            <a:r>
              <a:rPr lang="en-US" sz="1050" b="1" dirty="0"/>
              <a:t> </a:t>
            </a:r>
            <a:r>
              <a:rPr lang="en-US" sz="1050" b="1" dirty="0" err="1"/>
              <a:t>osnovne</a:t>
            </a:r>
            <a:r>
              <a:rPr lang="en-US" sz="1050" b="1" dirty="0"/>
              <a:t> </a:t>
            </a:r>
            <a:r>
              <a:rPr lang="en-US" sz="1050" b="1" dirty="0" err="1"/>
              <a:t>podatke</a:t>
            </a:r>
            <a:r>
              <a:rPr lang="en-US" sz="1050" b="1" dirty="0"/>
              <a:t> </a:t>
            </a:r>
            <a:r>
              <a:rPr lang="en-US" sz="1050" b="1" dirty="0" err="1"/>
              <a:t>automobila</a:t>
            </a:r>
            <a:r>
              <a:rPr lang="en-US" sz="1050" b="1" dirty="0"/>
              <a:t>."""</a:t>
            </a:r>
          </a:p>
          <a:p>
            <a:pPr marL="0" indent="0">
              <a:buNone/>
            </a:pPr>
            <a:r>
              <a:rPr lang="en-US" sz="1050" b="1" dirty="0"/>
              <a:t>        print(f" Auto je  {</a:t>
            </a:r>
            <a:r>
              <a:rPr lang="en-US" sz="1050" b="1" dirty="0" err="1"/>
              <a:t>self.proizvodjac</a:t>
            </a:r>
            <a:r>
              <a:rPr lang="en-US" sz="1050" b="1" dirty="0"/>
              <a:t>}  , model {</a:t>
            </a:r>
            <a:r>
              <a:rPr lang="en-US" sz="1050" b="1" dirty="0" err="1"/>
              <a:t>self.model</a:t>
            </a:r>
            <a:r>
              <a:rPr lang="en-US" sz="1050" b="1" dirty="0"/>
              <a:t>} ")</a:t>
            </a:r>
          </a:p>
          <a:p>
            <a:pPr marL="0" indent="0">
              <a:buNone/>
            </a:pPr>
            <a:r>
              <a:rPr lang="en-US" sz="1050" b="1" dirty="0"/>
              <a:t/>
            </a:r>
            <a:br>
              <a:rPr lang="en-US" sz="1050" b="1" dirty="0"/>
            </a:br>
            <a:r>
              <a:rPr lang="en-US" sz="1050" b="1" dirty="0"/>
              <a:t>    </a:t>
            </a:r>
            <a:r>
              <a:rPr lang="en-US" sz="1050" b="1" dirty="0" err="1"/>
              <a:t>def</a:t>
            </a:r>
            <a:r>
              <a:rPr lang="en-US" sz="1050" b="1" dirty="0"/>
              <a:t> </a:t>
            </a:r>
            <a:r>
              <a:rPr lang="en-US" sz="1050" b="1" dirty="0" err="1"/>
              <a:t>godiste_kilometraza</a:t>
            </a:r>
            <a:r>
              <a:rPr lang="en-US" sz="1050" b="1" dirty="0"/>
              <a:t>(self, </a:t>
            </a:r>
            <a:r>
              <a:rPr lang="en-US" sz="1050" b="1" dirty="0" err="1"/>
              <a:t>godina</a:t>
            </a:r>
            <a:r>
              <a:rPr lang="en-US" sz="1050" b="1" dirty="0"/>
              <a:t>, </a:t>
            </a:r>
            <a:r>
              <a:rPr lang="en-US" sz="1050" b="1" dirty="0" err="1"/>
              <a:t>kilometara</a:t>
            </a:r>
            <a:r>
              <a:rPr lang="en-US" sz="1050" b="1" dirty="0"/>
              <a:t>):</a:t>
            </a:r>
          </a:p>
          <a:p>
            <a:pPr marL="0" indent="0">
              <a:buNone/>
            </a:pPr>
            <a:r>
              <a:rPr lang="en-US" sz="1050" b="1" dirty="0"/>
              <a:t>        """</a:t>
            </a:r>
            <a:r>
              <a:rPr lang="en-US" sz="1050" b="1" dirty="0" err="1"/>
              <a:t>Prikazuje</a:t>
            </a:r>
            <a:r>
              <a:rPr lang="en-US" sz="1050" b="1" dirty="0"/>
              <a:t> </a:t>
            </a:r>
            <a:r>
              <a:rPr lang="en-US" sz="1050" b="1" dirty="0" err="1"/>
              <a:t>godiste</a:t>
            </a:r>
            <a:r>
              <a:rPr lang="en-US" sz="1050" b="1" dirty="0"/>
              <a:t> i </a:t>
            </a:r>
            <a:r>
              <a:rPr lang="en-US" sz="1050" b="1" dirty="0" err="1"/>
              <a:t>ukupnu</a:t>
            </a:r>
            <a:r>
              <a:rPr lang="en-US" sz="1050" b="1" dirty="0"/>
              <a:t> </a:t>
            </a:r>
            <a:r>
              <a:rPr lang="en-US" sz="1050" b="1" dirty="0" err="1"/>
              <a:t>kilometražu</a:t>
            </a:r>
            <a:r>
              <a:rPr lang="en-US" sz="1050" b="1" dirty="0"/>
              <a:t> </a:t>
            </a:r>
            <a:r>
              <a:rPr lang="en-US" sz="1050" b="1" dirty="0" err="1"/>
              <a:t>automobila</a:t>
            </a:r>
            <a:r>
              <a:rPr lang="en-US" sz="1050" b="1" dirty="0"/>
              <a:t>."""</a:t>
            </a:r>
          </a:p>
          <a:p>
            <a:pPr marL="0" indent="0">
              <a:buNone/>
            </a:pPr>
            <a:r>
              <a:rPr lang="en-US" sz="1050" b="1" dirty="0"/>
              <a:t>        print(</a:t>
            </a:r>
            <a:r>
              <a:rPr lang="en-US" sz="1050" b="1" dirty="0" err="1"/>
              <a:t>f"Auto</a:t>
            </a:r>
            <a:r>
              <a:rPr lang="en-US" sz="1050" b="1" dirty="0"/>
              <a:t> </a:t>
            </a:r>
            <a:r>
              <a:rPr lang="en-US" sz="1050" b="1" dirty="0" err="1"/>
              <a:t>ima</a:t>
            </a:r>
            <a:r>
              <a:rPr lang="en-US" sz="1050" b="1" dirty="0"/>
              <a:t> {</a:t>
            </a:r>
            <a:r>
              <a:rPr lang="en-US" sz="1050" b="1" dirty="0" smtClean="0"/>
              <a:t>202</a:t>
            </a:r>
            <a:r>
              <a:rPr lang="sr-Latn-RS" sz="1050" b="1" dirty="0" smtClean="0"/>
              <a:t>6</a:t>
            </a:r>
            <a:r>
              <a:rPr lang="en-US" sz="1050" b="1" dirty="0" smtClean="0"/>
              <a:t> </a:t>
            </a:r>
            <a:r>
              <a:rPr lang="en-US" sz="1050" b="1" dirty="0"/>
              <a:t>- </a:t>
            </a:r>
            <a:r>
              <a:rPr lang="en-US" sz="1050" b="1" dirty="0" err="1"/>
              <a:t>godina</a:t>
            </a:r>
            <a:r>
              <a:rPr lang="en-US" sz="1050" b="1" dirty="0"/>
              <a:t>}  </a:t>
            </a:r>
            <a:r>
              <a:rPr lang="en-US" sz="1050" b="1" dirty="0" err="1"/>
              <a:t>godina</a:t>
            </a:r>
            <a:r>
              <a:rPr lang="en-US" sz="1050" b="1" dirty="0"/>
              <a:t>.")</a:t>
            </a:r>
          </a:p>
          <a:p>
            <a:pPr marL="0" indent="0">
              <a:buNone/>
            </a:pPr>
            <a:r>
              <a:rPr lang="en-US" sz="1050" b="1" dirty="0"/>
              <a:t>        </a:t>
            </a:r>
            <a:r>
              <a:rPr lang="en-US" sz="1050" b="1" dirty="0" err="1"/>
              <a:t>self.kilometraza</a:t>
            </a:r>
            <a:r>
              <a:rPr lang="en-US" sz="1050" b="1" dirty="0"/>
              <a:t> += </a:t>
            </a:r>
            <a:r>
              <a:rPr lang="en-US" sz="1050" b="1" dirty="0" err="1"/>
              <a:t>kilometara</a:t>
            </a:r>
            <a:endParaRPr lang="en-US" sz="1050" b="1" dirty="0"/>
          </a:p>
          <a:p>
            <a:pPr marL="0" indent="0">
              <a:buNone/>
            </a:pPr>
            <a:r>
              <a:rPr lang="en-US" sz="1050" b="1" dirty="0"/>
              <a:t>        print(</a:t>
            </a:r>
            <a:r>
              <a:rPr lang="en-US" sz="1050" b="1" dirty="0" err="1"/>
              <a:t>f"Auto</a:t>
            </a:r>
            <a:r>
              <a:rPr lang="en-US" sz="1050" b="1" dirty="0"/>
              <a:t> je </a:t>
            </a:r>
            <a:r>
              <a:rPr lang="en-US" sz="1050" b="1" dirty="0" err="1"/>
              <a:t>presao</a:t>
            </a:r>
            <a:r>
              <a:rPr lang="en-US" sz="1050" b="1" dirty="0"/>
              <a:t> {</a:t>
            </a:r>
            <a:r>
              <a:rPr lang="en-US" sz="1050" b="1" dirty="0" err="1"/>
              <a:t>self.kilometraza</a:t>
            </a:r>
            <a:r>
              <a:rPr lang="en-US" sz="1050" b="1" dirty="0"/>
              <a:t>} </a:t>
            </a:r>
            <a:r>
              <a:rPr lang="en-US" sz="1050" b="1" dirty="0" err="1"/>
              <a:t>kilometara</a:t>
            </a:r>
            <a:r>
              <a:rPr lang="en-US" sz="1050" b="1" dirty="0"/>
              <a:t>.")</a:t>
            </a:r>
          </a:p>
          <a:p>
            <a:pPr marL="0" indent="0">
              <a:buNone/>
            </a:pPr>
            <a:r>
              <a:rPr lang="en-US" sz="1050" b="1" dirty="0"/>
              <a:t/>
            </a:r>
            <a:br>
              <a:rPr lang="en-US" sz="1050" b="1" dirty="0"/>
            </a:br>
            <a:r>
              <a:rPr lang="en-US" sz="1050" b="1" dirty="0" err="1"/>
              <a:t>def</a:t>
            </a:r>
            <a:r>
              <a:rPr lang="en-US" sz="1050" b="1" dirty="0"/>
              <a:t> unos1():</a:t>
            </a:r>
          </a:p>
          <a:p>
            <a:pPr marL="0" indent="0">
              <a:buNone/>
            </a:pPr>
            <a:r>
              <a:rPr lang="en-US" sz="1050" b="1" dirty="0"/>
              <a:t>        </a:t>
            </a:r>
            <a:r>
              <a:rPr lang="en-US" sz="1050" b="1" dirty="0" err="1"/>
              <a:t>proizvodjac</a:t>
            </a:r>
            <a:r>
              <a:rPr lang="en-US" sz="1050" b="1" dirty="0"/>
              <a:t> = input("Koji je </a:t>
            </a:r>
            <a:r>
              <a:rPr lang="en-US" sz="1050" b="1" dirty="0" err="1"/>
              <a:t>proizvodjac</a:t>
            </a:r>
            <a:r>
              <a:rPr lang="en-US" sz="1050" b="1" dirty="0"/>
              <a:t> </a:t>
            </a:r>
            <a:r>
              <a:rPr lang="en-US" sz="1050" b="1" dirty="0" err="1"/>
              <a:t>automobila</a:t>
            </a:r>
            <a:r>
              <a:rPr lang="en-US" sz="1050" b="1" dirty="0"/>
              <a:t>? ")</a:t>
            </a:r>
          </a:p>
          <a:p>
            <a:pPr marL="0" indent="0">
              <a:buNone/>
            </a:pPr>
            <a:r>
              <a:rPr lang="en-US" sz="1050" b="1" dirty="0"/>
              <a:t>        model = input("Koji je model </a:t>
            </a:r>
            <a:r>
              <a:rPr lang="en-US" sz="1050" b="1" dirty="0" err="1"/>
              <a:t>automobila</a:t>
            </a:r>
            <a:r>
              <a:rPr lang="en-US" sz="1050" b="1" dirty="0"/>
              <a:t>? ")</a:t>
            </a:r>
          </a:p>
          <a:p>
            <a:pPr marL="0" indent="0">
              <a:buNone/>
            </a:pPr>
            <a:r>
              <a:rPr lang="en-US" sz="1050" b="1" dirty="0"/>
              <a:t>        return (</a:t>
            </a:r>
            <a:r>
              <a:rPr lang="en-US" sz="1050" b="1" dirty="0" err="1"/>
              <a:t>proizvodjac</a:t>
            </a:r>
            <a:r>
              <a:rPr lang="en-US" sz="1050" b="1" dirty="0"/>
              <a:t>, model)</a:t>
            </a:r>
          </a:p>
          <a:p>
            <a:pPr marL="0" indent="0">
              <a:buNone/>
            </a:pPr>
            <a:r>
              <a:rPr lang="en-US" sz="1050" b="1" dirty="0"/>
              <a:t>    </a:t>
            </a:r>
          </a:p>
          <a:p>
            <a:pPr marL="0" indent="0">
              <a:buNone/>
            </a:pPr>
            <a:r>
              <a:rPr lang="en-US" sz="1050" b="1" dirty="0" err="1"/>
              <a:t>def</a:t>
            </a:r>
            <a:r>
              <a:rPr lang="en-US" sz="1050" b="1" dirty="0"/>
              <a:t> unos2():</a:t>
            </a:r>
          </a:p>
          <a:p>
            <a:pPr marL="0" indent="0">
              <a:buNone/>
            </a:pPr>
            <a:r>
              <a:rPr lang="en-US" sz="1050" b="1" dirty="0"/>
              <a:t>        </a:t>
            </a:r>
            <a:r>
              <a:rPr lang="en-US" sz="1050" b="1" dirty="0" err="1"/>
              <a:t>godina</a:t>
            </a:r>
            <a:r>
              <a:rPr lang="en-US" sz="1050" b="1" dirty="0"/>
              <a:t> = </a:t>
            </a:r>
            <a:r>
              <a:rPr lang="en-US" sz="1050" b="1" dirty="0" err="1"/>
              <a:t>int</a:t>
            </a:r>
            <a:r>
              <a:rPr lang="en-US" sz="1050" b="1" dirty="0"/>
              <a:t>(input("</a:t>
            </a:r>
            <a:r>
              <a:rPr lang="en-US" sz="1050" b="1" dirty="0" err="1"/>
              <a:t>Koje</a:t>
            </a:r>
            <a:r>
              <a:rPr lang="en-US" sz="1050" b="1" dirty="0"/>
              <a:t> </a:t>
            </a:r>
            <a:r>
              <a:rPr lang="en-US" sz="1050" b="1" dirty="0" err="1"/>
              <a:t>godine</a:t>
            </a:r>
            <a:r>
              <a:rPr lang="en-US" sz="1050" b="1" dirty="0"/>
              <a:t> je auto </a:t>
            </a:r>
            <a:r>
              <a:rPr lang="en-US" sz="1050" b="1" dirty="0" err="1"/>
              <a:t>proizveden</a:t>
            </a:r>
            <a:r>
              <a:rPr lang="en-US" sz="1050" b="1" dirty="0"/>
              <a:t>?  "))</a:t>
            </a:r>
          </a:p>
          <a:p>
            <a:pPr marL="0" indent="0">
              <a:buNone/>
            </a:pPr>
            <a:r>
              <a:rPr lang="en-US" sz="1050" b="1" dirty="0"/>
              <a:t>        </a:t>
            </a:r>
            <a:r>
              <a:rPr lang="en-US" sz="1050" b="1" dirty="0" err="1"/>
              <a:t>kilometara</a:t>
            </a:r>
            <a:r>
              <a:rPr lang="en-US" sz="1050" b="1" dirty="0"/>
              <a:t> = </a:t>
            </a:r>
            <a:r>
              <a:rPr lang="en-US" sz="1050" b="1" dirty="0" err="1"/>
              <a:t>int</a:t>
            </a:r>
            <a:r>
              <a:rPr lang="en-US" sz="1050" b="1" dirty="0"/>
              <a:t>(input("</a:t>
            </a:r>
            <a:r>
              <a:rPr lang="en-US" sz="1050" b="1" dirty="0" err="1"/>
              <a:t>Za</a:t>
            </a:r>
            <a:r>
              <a:rPr lang="en-US" sz="1050" b="1" dirty="0"/>
              <a:t> </a:t>
            </a:r>
            <a:r>
              <a:rPr lang="en-US" sz="1050" b="1" dirty="0" err="1"/>
              <a:t>koliko</a:t>
            </a:r>
            <a:r>
              <a:rPr lang="en-US" sz="1050" b="1" dirty="0"/>
              <a:t> je </a:t>
            </a:r>
            <a:r>
              <a:rPr lang="en-US" sz="1050" b="1" dirty="0" err="1"/>
              <a:t>uvecana</a:t>
            </a:r>
            <a:r>
              <a:rPr lang="en-US" sz="1050" b="1" dirty="0"/>
              <a:t> </a:t>
            </a:r>
            <a:r>
              <a:rPr lang="en-US" sz="1050" b="1" dirty="0" err="1"/>
              <a:t>kilometraza</a:t>
            </a:r>
            <a:r>
              <a:rPr lang="en-US" sz="1050" b="1" dirty="0"/>
              <a:t>? "))</a:t>
            </a:r>
          </a:p>
          <a:p>
            <a:pPr marL="0" indent="0">
              <a:buNone/>
            </a:pPr>
            <a:r>
              <a:rPr lang="en-US" sz="1050" b="1" dirty="0"/>
              <a:t>        return (</a:t>
            </a:r>
            <a:r>
              <a:rPr lang="en-US" sz="1050" b="1" dirty="0" err="1"/>
              <a:t>godina</a:t>
            </a:r>
            <a:r>
              <a:rPr lang="en-US" sz="1050" b="1" dirty="0"/>
              <a:t>, </a:t>
            </a:r>
            <a:r>
              <a:rPr lang="en-US" sz="1050" b="1" dirty="0" err="1"/>
              <a:t>kilometara</a:t>
            </a:r>
            <a:r>
              <a:rPr lang="en-US" sz="1050" b="1" dirty="0"/>
              <a:t>)</a:t>
            </a:r>
          </a:p>
          <a:p>
            <a:pPr marL="0" indent="0">
              <a:buNone/>
            </a:pPr>
            <a:r>
              <a:rPr lang="en-US" sz="1050" b="1" dirty="0"/>
              <a:t/>
            </a:r>
            <a:br>
              <a:rPr lang="en-US" sz="1050" b="1" dirty="0"/>
            </a:br>
            <a:r>
              <a:rPr lang="en-US" sz="1050" b="1" dirty="0" err="1"/>
              <a:t>moj_auto</a:t>
            </a:r>
            <a:r>
              <a:rPr lang="en-US" sz="1050" b="1" dirty="0"/>
              <a:t> = Auto(*unos1())</a:t>
            </a:r>
          </a:p>
          <a:p>
            <a:pPr marL="0" indent="0">
              <a:buNone/>
            </a:pPr>
            <a:r>
              <a:rPr lang="en-US" sz="1050" b="1" dirty="0" err="1"/>
              <a:t>moj_auto.opisi_auto</a:t>
            </a:r>
            <a:r>
              <a:rPr lang="en-US" sz="1050" b="1" dirty="0"/>
              <a:t>()</a:t>
            </a:r>
          </a:p>
          <a:p>
            <a:pPr marL="0" indent="0">
              <a:buNone/>
            </a:pPr>
            <a:r>
              <a:rPr lang="en-US" sz="1050" b="1" dirty="0" err="1"/>
              <a:t>moj_auto.godiste_kilometraza</a:t>
            </a:r>
            <a:r>
              <a:rPr lang="en-US" sz="1050" b="1" dirty="0"/>
              <a:t>(*unos2())</a:t>
            </a:r>
          </a:p>
          <a:p>
            <a:pPr marL="0" indent="0">
              <a:buNone/>
            </a:pPr>
            <a:r>
              <a:rPr lang="en-US" sz="1050" b="1" dirty="0"/>
              <a:t/>
            </a:r>
            <a:br>
              <a:rPr lang="en-US" sz="1050" b="1" dirty="0"/>
            </a:br>
            <a:r>
              <a:rPr lang="en-US" sz="1050" b="1" dirty="0" err="1"/>
              <a:t>komsijin_auto</a:t>
            </a:r>
            <a:r>
              <a:rPr lang="en-US" sz="1050" b="1" dirty="0"/>
              <a:t> = Auto(*unos1())</a:t>
            </a:r>
          </a:p>
          <a:p>
            <a:pPr marL="0" indent="0">
              <a:buNone/>
            </a:pPr>
            <a:r>
              <a:rPr lang="en-US" sz="1050" b="1" dirty="0" err="1"/>
              <a:t>komsijin_auto.opisi_auto</a:t>
            </a:r>
            <a:r>
              <a:rPr lang="en-US" sz="1050" b="1" dirty="0"/>
              <a:t>()</a:t>
            </a:r>
          </a:p>
          <a:p>
            <a:pPr marL="0" indent="0">
              <a:buNone/>
            </a:pPr>
            <a:r>
              <a:rPr lang="en-US" sz="1050" b="1" dirty="0" err="1"/>
              <a:t>komsijin_auto.godiste_kilometraza</a:t>
            </a:r>
            <a:r>
              <a:rPr lang="en-US" sz="1050" b="1" dirty="0"/>
              <a:t>(*unos2())</a:t>
            </a:r>
          </a:p>
        </p:txBody>
      </p:sp>
    </p:spTree>
    <p:extLst>
      <p:ext uri="{BB962C8B-B14F-4D97-AF65-F5344CB8AC3E}">
        <p14:creationId xmlns:p14="http://schemas.microsoft.com/office/powerpoint/2010/main" val="29522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99392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400" b="1" dirty="0" smtClean="0"/>
              <a:t>Nasleđivanje</a:t>
            </a:r>
            <a:endParaRPr lang="en-GB" sz="2400" b="1" dirty="0" smtClean="0"/>
          </a:p>
          <a:p>
            <a:pPr marL="0" indent="0">
              <a:buNone/>
            </a:pP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Kada pišemo neku klasu, ne moramo da počenemo od nule. Pogotovo kada je naša klasa specifična verzija postojeće klase, onda koristimo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nasleđivanje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Kada jedna klasa nasleđuje drugu klasu, preuzima atribute i metode prve klase. Originalna klasa naziva se </a:t>
            </a:r>
            <a:r>
              <a:rPr lang="sr-Latn-R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„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klasa roditelj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“,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ili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super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klasa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 nova klasa - </a:t>
            </a:r>
            <a:r>
              <a:rPr lang="sr-Latn-R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„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klasa </a:t>
            </a:r>
            <a:r>
              <a:rPr lang="sr-Latn-RS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potomak (dete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“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ili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potklasa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Klasa </a:t>
            </a:r>
            <a:r>
              <a:rPr lang="sr-Latn-RS" sz="2400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dete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može da nasledi pojedine ili sve atribute i metode klase </a:t>
            </a:r>
            <a:r>
              <a:rPr lang="sr-Latn-RS" sz="2400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roditelj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ali može da ima i svoje atribute i metode.</a:t>
            </a:r>
            <a:r>
              <a:rPr lang="en-GB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GB" sz="24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Na </a:t>
            </a:r>
            <a:r>
              <a:rPr lang="sr-Latn-R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primer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 pravimo klasu za električni automobil. Kako je to specifična vrsta automobila, možemo koristiti našu postojeću klasu </a:t>
            </a:r>
            <a:r>
              <a:rPr lang="sr-Latn-RS" sz="2400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Auto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en-US" sz="24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400" b="1" dirty="0" smtClean="0"/>
              <a:t>class Auto: </a:t>
            </a:r>
            <a:r>
              <a:rPr lang="en-US" sz="2400" dirty="0" smtClean="0"/>
              <a:t>	</a:t>
            </a:r>
            <a:r>
              <a:rPr lang="en-GB" sz="2400" b="1" dirty="0" smtClean="0">
                <a:solidFill>
                  <a:srgbClr val="00B050"/>
                </a:solidFill>
              </a:rPr>
              <a:t># </a:t>
            </a:r>
            <a:r>
              <a:rPr lang="en-GB" sz="2400" b="1" dirty="0" err="1" smtClean="0">
                <a:solidFill>
                  <a:srgbClr val="00B050"/>
                </a:solidFill>
              </a:rPr>
              <a:t>klasa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r>
              <a:rPr lang="en-GB" sz="2400" b="1" dirty="0" err="1" smtClean="0">
                <a:solidFill>
                  <a:srgbClr val="00B050"/>
                </a:solidFill>
              </a:rPr>
              <a:t>roditelj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r>
              <a:rPr lang="en-GB" sz="2400" b="1" dirty="0" err="1" smtClean="0">
                <a:solidFill>
                  <a:srgbClr val="00B050"/>
                </a:solidFill>
              </a:rPr>
              <a:t>mora</a:t>
            </a:r>
            <a:r>
              <a:rPr lang="en-GB" sz="2400" b="1" dirty="0" smtClean="0">
                <a:solidFill>
                  <a:srgbClr val="00B050"/>
                </a:solidFill>
              </a:rPr>
              <a:t> da </a:t>
            </a:r>
            <a:r>
              <a:rPr lang="en-GB" sz="2400" b="1" dirty="0" err="1" smtClean="0">
                <a:solidFill>
                  <a:srgbClr val="00B050"/>
                </a:solidFill>
              </a:rPr>
              <a:t>bude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r>
              <a:rPr lang="en-GB" sz="2400" b="1" dirty="0" err="1" smtClean="0">
                <a:solidFill>
                  <a:srgbClr val="00B050"/>
                </a:solidFill>
              </a:rPr>
              <a:t>ispred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r>
              <a:rPr lang="en-GB" sz="2400" b="1" dirty="0" err="1" smtClean="0">
                <a:solidFill>
                  <a:srgbClr val="00B050"/>
                </a:solidFill>
              </a:rPr>
              <a:t>klase</a:t>
            </a:r>
            <a:r>
              <a:rPr lang="en-GB" sz="2400" b="1" dirty="0">
                <a:solidFill>
                  <a:srgbClr val="00B050"/>
                </a:solidFill>
              </a:rPr>
              <a:t> </a:t>
            </a:r>
            <a:r>
              <a:rPr lang="en-GB" sz="2400" b="1" dirty="0" err="1" smtClean="0">
                <a:solidFill>
                  <a:srgbClr val="00B050"/>
                </a:solidFill>
              </a:rPr>
              <a:t>dete</a:t>
            </a:r>
            <a:endParaRPr lang="en-US" sz="24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……</a:t>
            </a:r>
          </a:p>
          <a:p>
            <a:pPr marL="0" indent="0">
              <a:buNone/>
            </a:pPr>
            <a:r>
              <a:rPr lang="en-GB" sz="2400" b="1" dirty="0" smtClean="0"/>
              <a:t>class </a:t>
            </a:r>
            <a:r>
              <a:rPr lang="en-GB" sz="2400" b="1" dirty="0" err="1" smtClean="0"/>
              <a:t>ElekticniAuto</a:t>
            </a:r>
            <a:r>
              <a:rPr lang="en-GB" sz="2400" b="1" dirty="0" smtClean="0"/>
              <a:t>(</a:t>
            </a:r>
            <a:r>
              <a:rPr lang="en-GB" sz="2400" b="1" dirty="0" smtClean="0">
                <a:solidFill>
                  <a:srgbClr val="FF0000"/>
                </a:solidFill>
              </a:rPr>
              <a:t>Auto</a:t>
            </a:r>
            <a:r>
              <a:rPr lang="en-GB" sz="2400" b="1" dirty="0" smtClean="0"/>
              <a:t>):</a:t>
            </a:r>
            <a:r>
              <a:rPr lang="sr-Latn-RS" sz="2400" b="1" dirty="0" smtClean="0"/>
              <a:t> 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>
                <a:solidFill>
                  <a:srgbClr val="00B050"/>
                </a:solidFill>
              </a:rPr>
              <a:t># </a:t>
            </a:r>
            <a:r>
              <a:rPr lang="en-GB" sz="2000" b="1" dirty="0" err="1">
                <a:solidFill>
                  <a:srgbClr val="00B050"/>
                </a:solidFill>
              </a:rPr>
              <a:t>Ovim</a:t>
            </a:r>
            <a:r>
              <a:rPr lang="en-GB" sz="2000" b="1" dirty="0">
                <a:solidFill>
                  <a:srgbClr val="00B050"/>
                </a:solidFill>
              </a:rPr>
              <a:t> </a:t>
            </a:r>
            <a:r>
              <a:rPr lang="en-GB" sz="2000" b="1" dirty="0" err="1">
                <a:solidFill>
                  <a:srgbClr val="00B050"/>
                </a:solidFill>
              </a:rPr>
              <a:t>smo</a:t>
            </a:r>
            <a:r>
              <a:rPr lang="en-GB" sz="2000" b="1" dirty="0">
                <a:solidFill>
                  <a:srgbClr val="00B050"/>
                </a:solidFill>
              </a:rPr>
              <a:t> </a:t>
            </a:r>
            <a:r>
              <a:rPr lang="en-GB" sz="2000" b="1" dirty="0" err="1">
                <a:solidFill>
                  <a:srgbClr val="00B050"/>
                </a:solidFill>
              </a:rPr>
              <a:t>rekli</a:t>
            </a:r>
            <a:r>
              <a:rPr lang="en-GB" sz="2000" b="1" dirty="0">
                <a:solidFill>
                  <a:srgbClr val="00B050"/>
                </a:solidFill>
              </a:rPr>
              <a:t> da je </a:t>
            </a:r>
            <a:r>
              <a:rPr lang="en-GB" sz="2000" b="1" dirty="0" err="1">
                <a:solidFill>
                  <a:srgbClr val="00B050"/>
                </a:solidFill>
              </a:rPr>
              <a:t>ElekticniAuto</a:t>
            </a:r>
            <a:r>
              <a:rPr lang="sr-Latn-RS" sz="2000" b="1" dirty="0">
                <a:solidFill>
                  <a:srgbClr val="00B050"/>
                </a:solidFill>
              </a:rPr>
              <a:t> </a:t>
            </a:r>
            <a:r>
              <a:rPr lang="en-GB" sz="2000" b="1" dirty="0" err="1">
                <a:solidFill>
                  <a:srgbClr val="00B050"/>
                </a:solidFill>
              </a:rPr>
              <a:t>dete</a:t>
            </a:r>
            <a:r>
              <a:rPr lang="en-GB" sz="2000" b="1" dirty="0">
                <a:solidFill>
                  <a:srgbClr val="00B050"/>
                </a:solidFill>
              </a:rPr>
              <a:t> </a:t>
            </a:r>
            <a:r>
              <a:rPr lang="en-GB" sz="2000" b="1" dirty="0" err="1">
                <a:solidFill>
                  <a:srgbClr val="00B050"/>
                </a:solidFill>
              </a:rPr>
              <a:t>klase</a:t>
            </a:r>
            <a:r>
              <a:rPr lang="en-GB" sz="2000" b="1" dirty="0">
                <a:solidFill>
                  <a:srgbClr val="92D050"/>
                </a:solidFill>
              </a:rPr>
              <a:t> </a:t>
            </a:r>
            <a:r>
              <a:rPr lang="sr-Latn-RS" sz="2000" b="1" dirty="0">
                <a:solidFill>
                  <a:srgbClr val="00B050"/>
                </a:solidFill>
              </a:rPr>
              <a:t>Auto</a:t>
            </a:r>
            <a:r>
              <a:rPr lang="en-GB" sz="2000" b="1" dirty="0">
                <a:solidFill>
                  <a:srgbClr val="00B050"/>
                </a:solidFill>
              </a:rPr>
              <a:t> </a:t>
            </a:r>
            <a:endParaRPr lang="en-GB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</a:t>
            </a:r>
            <a:r>
              <a:rPr lang="en-GB" sz="2400" b="1" dirty="0" err="1" smtClean="0"/>
              <a:t>def</a:t>
            </a:r>
            <a:r>
              <a:rPr lang="en-GB" sz="2400" b="1" dirty="0" smtClean="0"/>
              <a:t> __</a:t>
            </a:r>
            <a:r>
              <a:rPr lang="en-GB" sz="2400" b="1" dirty="0" err="1" smtClean="0"/>
              <a:t>init</a:t>
            </a:r>
            <a:r>
              <a:rPr lang="en-GB" sz="2400" b="1" dirty="0"/>
              <a:t>__(self, </a:t>
            </a:r>
            <a:r>
              <a:rPr lang="en-GB" sz="2400" b="1" dirty="0" err="1"/>
              <a:t>proizvodjac</a:t>
            </a:r>
            <a:r>
              <a:rPr lang="en-GB" sz="2400" b="1" dirty="0"/>
              <a:t>, model</a:t>
            </a:r>
            <a:r>
              <a:rPr lang="en-GB" sz="2400" b="1" dirty="0" smtClean="0"/>
              <a:t>):    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sr-Latn-RS" sz="2000" b="1" dirty="0" smtClean="0">
                <a:solidFill>
                  <a:srgbClr val="00B050"/>
                </a:solidFill>
              </a:rPr>
              <a:t>dete </a:t>
            </a:r>
            <a:r>
              <a:rPr lang="en-GB" sz="2000" b="1" dirty="0" err="1" smtClean="0">
                <a:solidFill>
                  <a:srgbClr val="00B050"/>
                </a:solidFill>
              </a:rPr>
              <a:t>preuzima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atribute</a:t>
            </a:r>
            <a:endParaRPr lang="sr-Latn-RS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sr-Latn-RS" sz="2000" b="1" dirty="0" smtClean="0">
                <a:solidFill>
                  <a:srgbClr val="00B050"/>
                </a:solidFill>
              </a:rPr>
              <a:t>       </a:t>
            </a:r>
            <a:r>
              <a:rPr lang="en-GB" sz="2400" b="1" dirty="0" smtClean="0"/>
              <a:t>super().__</a:t>
            </a:r>
            <a:r>
              <a:rPr lang="en-GB" sz="2400" b="1" dirty="0" err="1" smtClean="0"/>
              <a:t>init</a:t>
            </a:r>
            <a:r>
              <a:rPr lang="en-GB" sz="2400" b="1" dirty="0" smtClean="0"/>
              <a:t>__(</a:t>
            </a:r>
            <a:r>
              <a:rPr lang="en-GB" sz="2400" b="1" dirty="0" err="1" smtClean="0"/>
              <a:t>proizvodjac</a:t>
            </a:r>
            <a:r>
              <a:rPr lang="en-GB" sz="2400" b="1" dirty="0"/>
              <a:t>, model</a:t>
            </a:r>
            <a:r>
              <a:rPr lang="en-GB" sz="2400" b="1" dirty="0" smtClean="0"/>
              <a:t>) </a:t>
            </a:r>
            <a:r>
              <a:rPr lang="sr-Latn-RS" sz="2400" b="1" dirty="0" smtClean="0"/>
              <a:t>  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en-GB" sz="2000" b="1" dirty="0" err="1">
                <a:solidFill>
                  <a:srgbClr val="00B050"/>
                </a:solidFill>
              </a:rPr>
              <a:t>preuzima</a:t>
            </a:r>
            <a:r>
              <a:rPr lang="en-GB" sz="2000" b="1" dirty="0">
                <a:solidFill>
                  <a:srgbClr val="00B050"/>
                </a:solidFill>
              </a:rPr>
              <a:t> </a:t>
            </a:r>
            <a:r>
              <a:rPr lang="en-GB" sz="2000" b="1" u="sng" dirty="0" err="1" smtClean="0">
                <a:solidFill>
                  <a:srgbClr val="00B050"/>
                </a:solidFill>
              </a:rPr>
              <a:t>atr</a:t>
            </a:r>
            <a:r>
              <a:rPr lang="sr-Latn-RS" sz="2000" b="1" u="sng" dirty="0" smtClean="0">
                <a:solidFill>
                  <a:srgbClr val="00B050"/>
                </a:solidFill>
              </a:rPr>
              <a:t>. i met. </a:t>
            </a:r>
            <a:r>
              <a:rPr lang="sr-Latn-RS" sz="2000" b="1" dirty="0">
                <a:solidFill>
                  <a:srgbClr val="00B050"/>
                </a:solidFill>
              </a:rPr>
              <a:t>klase </a:t>
            </a:r>
            <a:r>
              <a:rPr lang="sr-Latn-RS" sz="2000" b="1" dirty="0" smtClean="0">
                <a:solidFill>
                  <a:srgbClr val="00B050"/>
                </a:solidFill>
              </a:rPr>
              <a:t>roditelj</a:t>
            </a:r>
            <a:endParaRPr lang="en-GB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1000" b="1" dirty="0" smtClean="0"/>
              <a:t>………..</a:t>
            </a:r>
            <a:endParaRPr lang="en-US" sz="1000" b="1" dirty="0"/>
          </a:p>
          <a:p>
            <a:pPr marL="0" indent="0">
              <a:buNone/>
            </a:pPr>
            <a:r>
              <a:rPr lang="en-GB" sz="2400" b="1" dirty="0" err="1" smtClean="0"/>
              <a:t>moja_tesla</a:t>
            </a:r>
            <a:r>
              <a:rPr lang="en-GB" sz="2400" b="1" dirty="0" smtClean="0"/>
              <a:t> = </a:t>
            </a:r>
            <a:r>
              <a:rPr lang="en-GB" sz="2400" b="1" dirty="0" err="1"/>
              <a:t>ElekticniAuto</a:t>
            </a:r>
            <a:r>
              <a:rPr lang="en-GB" sz="2400" b="1" dirty="0" smtClean="0"/>
              <a:t>("Tesla</a:t>
            </a:r>
            <a:r>
              <a:rPr lang="en-US" sz="2400" b="1" dirty="0" smtClean="0"/>
              <a:t>", "Y</a:t>
            </a:r>
            <a:r>
              <a:rPr lang="en-US" sz="2400" b="1" dirty="0"/>
              <a:t>"</a:t>
            </a:r>
            <a:r>
              <a:rPr lang="en-GB" sz="2400" b="1" dirty="0" smtClean="0"/>
              <a:t>)   </a:t>
            </a:r>
            <a:r>
              <a:rPr lang="en-GB" sz="2400" b="1" dirty="0" smtClean="0">
                <a:solidFill>
                  <a:srgbClr val="00B050"/>
                </a:solidFill>
              </a:rPr>
              <a:t># </a:t>
            </a:r>
            <a:r>
              <a:rPr lang="en-GB" sz="2400" b="1" dirty="0" err="1" smtClean="0">
                <a:solidFill>
                  <a:srgbClr val="00B050"/>
                </a:solidFill>
              </a:rPr>
              <a:t>kreiramo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r>
              <a:rPr lang="en-GB" sz="2400" b="1" dirty="0" err="1" smtClean="0">
                <a:solidFill>
                  <a:srgbClr val="00B050"/>
                </a:solidFill>
              </a:rPr>
              <a:t>instancu</a:t>
            </a:r>
            <a:r>
              <a:rPr lang="en-GB" sz="2400" b="1" dirty="0" smtClean="0">
                <a:solidFill>
                  <a:srgbClr val="00B050"/>
                </a:solidFill>
              </a:rPr>
              <a:t> el. </a:t>
            </a:r>
            <a:r>
              <a:rPr lang="en-GB" sz="2400" b="1" dirty="0" err="1" smtClean="0">
                <a:solidFill>
                  <a:srgbClr val="00B050"/>
                </a:solidFill>
              </a:rPr>
              <a:t>auta</a:t>
            </a:r>
            <a:endParaRPr lang="en-GB" sz="2400" b="1" dirty="0" smtClean="0"/>
          </a:p>
          <a:p>
            <a:pPr marL="0" indent="0">
              <a:buNone/>
            </a:pPr>
            <a:r>
              <a:rPr lang="en-US" sz="2400" b="1" dirty="0" err="1" smtClean="0"/>
              <a:t>moja</a:t>
            </a:r>
            <a:r>
              <a:rPr lang="en-US" sz="2400" b="1" dirty="0" smtClean="0"/>
              <a:t>_</a:t>
            </a:r>
            <a:r>
              <a:rPr lang="en-GB" sz="2400" b="1" dirty="0" smtClean="0"/>
              <a:t>tesla</a:t>
            </a:r>
            <a:r>
              <a:rPr lang="en-US" sz="2400" b="1" dirty="0" smtClean="0"/>
              <a:t>.</a:t>
            </a:r>
            <a:r>
              <a:rPr lang="en-US" sz="2400" b="1" dirty="0" err="1" smtClean="0"/>
              <a:t>opisi_auto</a:t>
            </a:r>
            <a:r>
              <a:rPr lang="en-US" sz="2400" b="1" dirty="0" smtClean="0"/>
              <a:t>()      </a:t>
            </a:r>
            <a:r>
              <a:rPr lang="en-US" sz="2000" b="1" dirty="0" smtClean="0">
                <a:solidFill>
                  <a:srgbClr val="00B050"/>
                </a:solidFill>
              </a:rPr>
              <a:t># </a:t>
            </a:r>
            <a:r>
              <a:rPr lang="en-US" sz="2000" b="1" dirty="0" err="1" smtClean="0">
                <a:solidFill>
                  <a:srgbClr val="00B050"/>
                </a:solidFill>
              </a:rPr>
              <a:t>koristimo</a:t>
            </a:r>
            <a:r>
              <a:rPr lang="en-US" sz="2000" b="1" dirty="0" smtClean="0">
                <a:solidFill>
                  <a:srgbClr val="00B050"/>
                </a:solidFill>
              </a:rPr>
              <a:t> </a:t>
            </a:r>
            <a:r>
              <a:rPr lang="en-US" sz="2000" b="1" dirty="0" err="1" smtClean="0">
                <a:solidFill>
                  <a:srgbClr val="00B050"/>
                </a:solidFill>
              </a:rPr>
              <a:t>metodu</a:t>
            </a:r>
            <a:r>
              <a:rPr lang="en-US" sz="2000" b="1" dirty="0" smtClean="0">
                <a:solidFill>
                  <a:srgbClr val="00B050"/>
                </a:solidFill>
              </a:rPr>
              <a:t> </a:t>
            </a:r>
            <a:r>
              <a:rPr lang="en-US" sz="2000" b="1" dirty="0" err="1" smtClean="0">
                <a:solidFill>
                  <a:srgbClr val="00B050"/>
                </a:solidFill>
              </a:rPr>
              <a:t>roditelja</a:t>
            </a:r>
            <a:endParaRPr lang="en-US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sr-Latn-RS" sz="2400" b="1" dirty="0" smtClean="0"/>
          </a:p>
          <a:p>
            <a:pPr marL="0" indent="0">
              <a:buNone/>
            </a:pPr>
            <a:endParaRPr lang="sr-Latn-RS" sz="2400" dirty="0" smtClean="0"/>
          </a:p>
          <a:p>
            <a:pPr marL="0" indent="0">
              <a:buNone/>
            </a:pPr>
            <a:endParaRPr lang="sr-Latn-RS" sz="2000" b="1" dirty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8984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99392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 err="1" smtClean="0"/>
              <a:t>Dodavanje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specifi</a:t>
            </a:r>
            <a:r>
              <a:rPr lang="sr-Latn-RS" sz="2400" b="1" dirty="0" smtClean="0"/>
              <a:t>čnih atributa i metoda za klasu potomak</a:t>
            </a:r>
            <a:endParaRPr lang="en-GB" sz="2400" b="1" dirty="0" smtClean="0"/>
          </a:p>
          <a:p>
            <a:pPr marL="0" indent="0">
              <a:buNone/>
            </a:pP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Dodajmo atribut </a:t>
            </a:r>
            <a:r>
              <a:rPr lang="sr-Latn-R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baterija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 metodu </a:t>
            </a:r>
            <a:r>
              <a:rPr lang="sr-Latn-R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opis_baterije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</a:t>
            </a:r>
            <a:r>
              <a:rPr lang="en-GB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GB" sz="24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endParaRPr lang="sr-Latn-R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2400" b="1" dirty="0" smtClean="0"/>
              <a:t>class Auto: </a:t>
            </a:r>
            <a:r>
              <a:rPr lang="en-US" sz="2400" dirty="0" smtClean="0"/>
              <a:t>	</a:t>
            </a:r>
            <a:r>
              <a:rPr lang="en-GB" sz="2400" b="1" dirty="0" smtClean="0">
                <a:solidFill>
                  <a:srgbClr val="00B050"/>
                </a:solidFill>
              </a:rPr>
              <a:t># </a:t>
            </a:r>
            <a:r>
              <a:rPr lang="en-GB" sz="2400" b="1" dirty="0" err="1" smtClean="0">
                <a:solidFill>
                  <a:srgbClr val="00B050"/>
                </a:solidFill>
              </a:rPr>
              <a:t>klasa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r>
              <a:rPr lang="en-GB" sz="2400" b="1" dirty="0" err="1" smtClean="0">
                <a:solidFill>
                  <a:srgbClr val="00B050"/>
                </a:solidFill>
              </a:rPr>
              <a:t>roditelj</a:t>
            </a:r>
            <a:r>
              <a:rPr lang="en-GB" sz="2400" b="1" dirty="0" smtClean="0">
                <a:solidFill>
                  <a:srgbClr val="00B050"/>
                </a:solidFill>
              </a:rPr>
              <a:t> </a:t>
            </a:r>
            <a:endParaRPr lang="sr-Latn-RS" sz="24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……</a:t>
            </a:r>
          </a:p>
          <a:p>
            <a:pPr marL="0" indent="0">
              <a:buNone/>
            </a:pPr>
            <a:r>
              <a:rPr lang="en-GB" sz="2400" b="1" dirty="0" smtClean="0"/>
              <a:t>class </a:t>
            </a:r>
            <a:r>
              <a:rPr lang="en-GB" sz="2400" b="1" dirty="0" err="1" smtClean="0"/>
              <a:t>ElekticniAuto</a:t>
            </a:r>
            <a:r>
              <a:rPr lang="en-GB" sz="2400" b="1" dirty="0" smtClean="0"/>
              <a:t>(Auto)</a:t>
            </a:r>
            <a:r>
              <a:rPr lang="sr-Latn-RS" sz="2400" b="1" dirty="0" smtClean="0"/>
              <a:t>   	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sr-Latn-RS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ElekticniAuto</a:t>
            </a:r>
            <a:r>
              <a:rPr lang="sr-Latn-RS" sz="2000" b="1" dirty="0" smtClean="0">
                <a:solidFill>
                  <a:srgbClr val="00B050"/>
                </a:solidFill>
              </a:rPr>
              <a:t> je </a:t>
            </a:r>
            <a:r>
              <a:rPr lang="en-GB" sz="2000" b="1" dirty="0" err="1" smtClean="0">
                <a:solidFill>
                  <a:srgbClr val="00B050"/>
                </a:solidFill>
              </a:rPr>
              <a:t>dete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>
                <a:solidFill>
                  <a:srgbClr val="00B050"/>
                </a:solidFill>
              </a:rPr>
              <a:t>klase</a:t>
            </a:r>
            <a:r>
              <a:rPr lang="en-GB" sz="2000" b="1" dirty="0" smtClean="0">
                <a:solidFill>
                  <a:srgbClr val="92D050"/>
                </a:solidFill>
              </a:rPr>
              <a:t> </a:t>
            </a:r>
            <a:r>
              <a:rPr lang="sr-Latn-RS" sz="2000" b="1" dirty="0" smtClean="0">
                <a:solidFill>
                  <a:srgbClr val="00B050"/>
                </a:solidFill>
              </a:rPr>
              <a:t>Auto</a:t>
            </a:r>
            <a:r>
              <a:rPr lang="en-GB" sz="2000" b="1" dirty="0" smtClean="0">
                <a:solidFill>
                  <a:srgbClr val="00B050"/>
                </a:solidFill>
              </a:rPr>
              <a:t>  </a:t>
            </a:r>
            <a:endParaRPr lang="sr-Latn-RS" sz="24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sr-Latn-RS" sz="2400" b="1" dirty="0"/>
              <a:t> </a:t>
            </a:r>
            <a:r>
              <a:rPr lang="sr-Latn-RS" sz="2400" b="1" dirty="0" smtClean="0"/>
              <a:t>  </a:t>
            </a:r>
            <a:r>
              <a:rPr lang="en-GB" sz="2400" b="1" dirty="0" err="1" smtClean="0"/>
              <a:t>def</a:t>
            </a:r>
            <a:r>
              <a:rPr lang="en-GB" sz="2400" b="1" dirty="0" smtClean="0"/>
              <a:t> __</a:t>
            </a:r>
            <a:r>
              <a:rPr lang="en-GB" sz="2400" b="1" dirty="0" err="1" smtClean="0"/>
              <a:t>init</a:t>
            </a:r>
            <a:r>
              <a:rPr lang="en-GB" sz="2400" b="1" dirty="0"/>
              <a:t>__(self, </a:t>
            </a:r>
            <a:r>
              <a:rPr lang="en-GB" sz="2400" b="1" dirty="0" err="1"/>
              <a:t>proizvodjac</a:t>
            </a:r>
            <a:r>
              <a:rPr lang="en-GB" sz="2400" b="1" dirty="0"/>
              <a:t>, </a:t>
            </a:r>
            <a:r>
              <a:rPr lang="en-GB" sz="2400" b="1" dirty="0" smtClean="0"/>
              <a:t>model</a:t>
            </a:r>
            <a:r>
              <a:rPr lang="sr-Latn-RS" sz="2400" b="1" dirty="0" smtClean="0"/>
              <a:t>, baterija</a:t>
            </a:r>
            <a:r>
              <a:rPr lang="en-GB" sz="2400" b="1" dirty="0" smtClean="0"/>
              <a:t>):  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sr-Latn-RS" sz="2000" b="1" dirty="0" smtClean="0">
                <a:solidFill>
                  <a:srgbClr val="00B050"/>
                </a:solidFill>
              </a:rPr>
              <a:t>dete </a:t>
            </a:r>
            <a:r>
              <a:rPr lang="en-GB" sz="2000" b="1" dirty="0" err="1" smtClean="0">
                <a:solidFill>
                  <a:srgbClr val="00B050"/>
                </a:solidFill>
              </a:rPr>
              <a:t>preuzima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atribute</a:t>
            </a:r>
            <a:endParaRPr lang="en-GB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2400" b="1" dirty="0"/>
              <a:t> </a:t>
            </a:r>
            <a:r>
              <a:rPr lang="en-GB" sz="2400" b="1" dirty="0" smtClean="0"/>
              <a:t>     super().__</a:t>
            </a:r>
            <a:r>
              <a:rPr lang="en-GB" sz="2400" b="1" dirty="0" err="1" smtClean="0"/>
              <a:t>init</a:t>
            </a:r>
            <a:r>
              <a:rPr lang="en-GB" sz="2400" b="1" dirty="0" smtClean="0"/>
              <a:t>__(</a:t>
            </a:r>
            <a:r>
              <a:rPr lang="en-GB" sz="2400" b="1" dirty="0" err="1" smtClean="0"/>
              <a:t>proizvodjac</a:t>
            </a:r>
            <a:r>
              <a:rPr lang="en-GB" sz="2400" b="1" dirty="0"/>
              <a:t>, model</a:t>
            </a:r>
            <a:r>
              <a:rPr lang="en-GB" sz="2400" b="1" dirty="0" smtClean="0"/>
              <a:t>)   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en-GB" sz="2000" b="1" dirty="0" err="1" smtClean="0">
                <a:solidFill>
                  <a:srgbClr val="00B050"/>
                </a:solidFill>
              </a:rPr>
              <a:t>poziv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iz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superklase</a:t>
            </a:r>
            <a:endParaRPr lang="sr-Latn-RS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sr-Latn-RS" sz="2400" b="1" dirty="0">
                <a:solidFill>
                  <a:srgbClr val="00B050"/>
                </a:solidFill>
              </a:rPr>
              <a:t> </a:t>
            </a:r>
            <a:r>
              <a:rPr lang="sr-Latn-RS" sz="2400" b="1" dirty="0" smtClean="0">
                <a:solidFill>
                  <a:srgbClr val="00B050"/>
                </a:solidFill>
              </a:rPr>
              <a:t>     </a:t>
            </a:r>
            <a:r>
              <a:rPr lang="sr-Latn-RS" sz="2400" b="1" dirty="0" smtClean="0">
                <a:solidFill>
                  <a:srgbClr val="FF0000"/>
                </a:solidFill>
              </a:rPr>
              <a:t>self.baterija = baterija         </a:t>
            </a:r>
            <a:r>
              <a:rPr lang="sr-Latn-RS" sz="2000" b="1" dirty="0" smtClean="0">
                <a:solidFill>
                  <a:srgbClr val="00B050"/>
                </a:solidFill>
              </a:rPr>
              <a:t># dodajemo novi atribut samo za el. Automobile</a:t>
            </a:r>
          </a:p>
          <a:p>
            <a:pPr marL="0" indent="0">
              <a:buNone/>
            </a:pPr>
            <a:endParaRPr lang="sr-Latn-R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sr-Latn-RS" sz="2000" b="1" dirty="0" smtClean="0"/>
              <a:t>   </a:t>
            </a:r>
            <a:r>
              <a:rPr lang="sr-Latn-RS" sz="2400" b="1" dirty="0" smtClean="0">
                <a:solidFill>
                  <a:srgbClr val="FF0000"/>
                </a:solidFill>
              </a:rPr>
              <a:t>def </a:t>
            </a:r>
            <a:r>
              <a:rPr lang="sr-Latn-RS" sz="24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opis_baterije(self):</a:t>
            </a:r>
            <a:r>
              <a:rPr lang="en-GB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	</a:t>
            </a:r>
            <a:r>
              <a:rPr lang="sr-Latn-RS" sz="2400" b="1" dirty="0">
                <a:solidFill>
                  <a:srgbClr val="00B050"/>
                </a:solidFill>
              </a:rPr>
              <a:t> </a:t>
            </a:r>
            <a:r>
              <a:rPr lang="sr-Latn-RS" sz="2000" b="1" dirty="0">
                <a:solidFill>
                  <a:srgbClr val="00B050"/>
                </a:solidFill>
              </a:rPr>
              <a:t># dodajemo </a:t>
            </a:r>
            <a:r>
              <a:rPr lang="sr-Latn-RS" sz="2000" b="1" dirty="0" smtClean="0">
                <a:solidFill>
                  <a:srgbClr val="00B050"/>
                </a:solidFill>
              </a:rPr>
              <a:t>nov</a:t>
            </a:r>
            <a:r>
              <a:rPr lang="en-GB" sz="2000" b="1" dirty="0" smtClean="0">
                <a:solidFill>
                  <a:srgbClr val="00B050"/>
                </a:solidFill>
              </a:rPr>
              <a:t>u </a:t>
            </a:r>
            <a:r>
              <a:rPr lang="en-GB" sz="2000" b="1" dirty="0" err="1" smtClean="0">
                <a:solidFill>
                  <a:srgbClr val="00B050"/>
                </a:solidFill>
              </a:rPr>
              <a:t>metodu</a:t>
            </a:r>
            <a:endParaRPr lang="sr-Latn-RS" sz="20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sr-Latn-RS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</a:t>
            </a:r>
            <a:r>
              <a:rPr lang="sr-Latn-RS" sz="24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print(f</a:t>
            </a:r>
            <a:r>
              <a:rPr lang="en-GB" sz="2400" b="1" dirty="0" smtClean="0">
                <a:solidFill>
                  <a:srgbClr val="FF0000"/>
                </a:solidFill>
              </a:rPr>
              <a:t>"</a:t>
            </a:r>
            <a:r>
              <a:rPr lang="sr-Latn-RS" sz="2400" b="1" dirty="0" smtClean="0">
                <a:solidFill>
                  <a:srgbClr val="FF0000"/>
                </a:solidFill>
              </a:rPr>
              <a:t>Ovaj auto ima </a:t>
            </a:r>
            <a:r>
              <a:rPr lang="en-GB" sz="2400" b="1" dirty="0" smtClean="0">
                <a:solidFill>
                  <a:srgbClr val="FF0000"/>
                </a:solidFill>
              </a:rPr>
              <a:t>{</a:t>
            </a:r>
            <a:r>
              <a:rPr lang="sr-Latn-RS" sz="2400" b="1" dirty="0" smtClean="0">
                <a:solidFill>
                  <a:srgbClr val="FF0000"/>
                </a:solidFill>
              </a:rPr>
              <a:t>self.</a:t>
            </a:r>
            <a:r>
              <a:rPr lang="en-GB" sz="2400" b="1" dirty="0" err="1" smtClean="0">
                <a:solidFill>
                  <a:srgbClr val="FF0000"/>
                </a:solidFill>
              </a:rPr>
              <a:t>baterija</a:t>
            </a:r>
            <a:r>
              <a:rPr lang="en-GB" sz="2400" b="1" dirty="0" smtClean="0">
                <a:solidFill>
                  <a:srgbClr val="FF0000"/>
                </a:solidFill>
              </a:rPr>
              <a:t>} kWh </a:t>
            </a:r>
            <a:r>
              <a:rPr lang="en-GB" sz="2400" b="1" dirty="0" err="1" smtClean="0">
                <a:solidFill>
                  <a:srgbClr val="FF0000"/>
                </a:solidFill>
              </a:rPr>
              <a:t>bateriju</a:t>
            </a:r>
            <a:r>
              <a:rPr lang="en-GB" sz="2400" b="1" dirty="0" smtClean="0">
                <a:solidFill>
                  <a:srgbClr val="FF0000"/>
                </a:solidFill>
              </a:rPr>
              <a:t>")</a:t>
            </a:r>
            <a:r>
              <a:rPr lang="sr-Latn-RS" sz="24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endParaRPr lang="en-GB" sz="2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1000" b="1" dirty="0" smtClean="0"/>
              <a:t>………..</a:t>
            </a:r>
            <a:endParaRPr lang="en-US" sz="1000" b="1" dirty="0"/>
          </a:p>
          <a:p>
            <a:pPr marL="0" indent="0">
              <a:buNone/>
            </a:pPr>
            <a:r>
              <a:rPr lang="en-GB" sz="2400" b="1" dirty="0" err="1" smtClean="0"/>
              <a:t>moja_tesla</a:t>
            </a:r>
            <a:r>
              <a:rPr lang="en-GB" sz="2400" b="1" dirty="0" smtClean="0"/>
              <a:t> = </a:t>
            </a:r>
            <a:r>
              <a:rPr lang="en-GB" sz="2400" b="1" dirty="0" err="1"/>
              <a:t>ElekticniAuto</a:t>
            </a:r>
            <a:r>
              <a:rPr lang="en-GB" sz="2400" b="1" dirty="0" smtClean="0"/>
              <a:t>("Tesla</a:t>
            </a:r>
            <a:r>
              <a:rPr lang="en-US" sz="2400" b="1" dirty="0" smtClean="0"/>
              <a:t>", "Y</a:t>
            </a:r>
            <a:r>
              <a:rPr lang="en-US" sz="2400" b="1" dirty="0"/>
              <a:t>"</a:t>
            </a:r>
            <a:r>
              <a:rPr lang="en-GB" sz="2400" b="1" dirty="0" smtClean="0"/>
              <a:t>)   </a:t>
            </a:r>
            <a:r>
              <a:rPr lang="en-GB" sz="2000" b="1" dirty="0" smtClean="0">
                <a:solidFill>
                  <a:srgbClr val="00B050"/>
                </a:solidFill>
              </a:rPr>
              <a:t># </a:t>
            </a:r>
            <a:r>
              <a:rPr lang="en-GB" sz="2000" b="1" dirty="0" err="1" smtClean="0">
                <a:solidFill>
                  <a:srgbClr val="00B050"/>
                </a:solidFill>
              </a:rPr>
              <a:t>kreiramo</a:t>
            </a:r>
            <a:r>
              <a:rPr lang="en-GB" sz="2000" b="1" dirty="0" smtClean="0">
                <a:solidFill>
                  <a:srgbClr val="00B050"/>
                </a:solidFill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</a:rPr>
              <a:t>instancu</a:t>
            </a:r>
            <a:r>
              <a:rPr lang="en-GB" sz="2000" b="1" dirty="0" smtClean="0">
                <a:solidFill>
                  <a:srgbClr val="00B050"/>
                </a:solidFill>
              </a:rPr>
              <a:t> el. </a:t>
            </a:r>
            <a:r>
              <a:rPr lang="en-GB" sz="2000" b="1" dirty="0" err="1" smtClean="0">
                <a:solidFill>
                  <a:srgbClr val="00B050"/>
                </a:solidFill>
              </a:rPr>
              <a:t>auta</a:t>
            </a:r>
            <a:endParaRPr lang="en-GB" sz="2400" b="1" dirty="0" smtClean="0"/>
          </a:p>
          <a:p>
            <a:pPr marL="0" indent="0">
              <a:buNone/>
            </a:pPr>
            <a:r>
              <a:rPr lang="en-US" sz="2400" b="1" dirty="0" err="1" smtClean="0"/>
              <a:t>moja</a:t>
            </a:r>
            <a:r>
              <a:rPr lang="en-US" sz="2400" b="1" dirty="0" smtClean="0"/>
              <a:t>_</a:t>
            </a:r>
            <a:r>
              <a:rPr lang="en-GB" sz="2400" b="1" dirty="0" smtClean="0"/>
              <a:t>tesla</a:t>
            </a:r>
            <a:r>
              <a:rPr lang="en-US" sz="2400" b="1" dirty="0" smtClean="0"/>
              <a:t>.</a:t>
            </a:r>
            <a:r>
              <a:rPr lang="en-US" sz="2400" b="1" dirty="0" err="1" smtClean="0"/>
              <a:t>opisi_auto</a:t>
            </a:r>
            <a:r>
              <a:rPr lang="en-US" sz="2400" b="1" dirty="0" smtClean="0"/>
              <a:t>()   </a:t>
            </a:r>
            <a:r>
              <a:rPr lang="en-US" sz="2000" b="1" dirty="0" smtClean="0">
                <a:solidFill>
                  <a:srgbClr val="00B050"/>
                </a:solidFill>
              </a:rPr>
              <a:t># </a:t>
            </a:r>
            <a:r>
              <a:rPr lang="en-US" sz="2000" b="1" dirty="0" err="1">
                <a:solidFill>
                  <a:srgbClr val="00B050"/>
                </a:solidFill>
              </a:rPr>
              <a:t>koristimo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 err="1">
                <a:solidFill>
                  <a:srgbClr val="00B050"/>
                </a:solidFill>
              </a:rPr>
              <a:t>metodu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 err="1" smtClean="0">
                <a:solidFill>
                  <a:srgbClr val="00B050"/>
                </a:solidFill>
              </a:rPr>
              <a:t>roditelja</a:t>
            </a:r>
            <a:endParaRPr lang="en-US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2400" b="1" dirty="0" err="1" smtClean="0">
                <a:solidFill>
                  <a:srgbClr val="FF0000"/>
                </a:solidFill>
              </a:rPr>
              <a:t>moja_tesla</a:t>
            </a:r>
            <a:r>
              <a:rPr lang="en-GB" sz="2400" b="1" dirty="0" smtClean="0">
                <a:solidFill>
                  <a:srgbClr val="FF0000"/>
                </a:solidFill>
              </a:rPr>
              <a:t>.</a:t>
            </a:r>
            <a:r>
              <a:rPr lang="sr-Latn-RS" sz="24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opis_baterije()</a:t>
            </a:r>
            <a:r>
              <a:rPr lang="en-GB" sz="24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#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koristimo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metodu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specificnu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za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dete</a:t>
            </a: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B050"/>
                </a:solidFill>
              </a:rPr>
              <a:t># </a:t>
            </a:r>
            <a:r>
              <a:rPr lang="en-US" sz="2400" b="1" dirty="0" err="1" smtClean="0">
                <a:solidFill>
                  <a:srgbClr val="00B050"/>
                </a:solidFill>
              </a:rPr>
              <a:t>moj_auto</a:t>
            </a:r>
            <a:r>
              <a:rPr lang="en-US" sz="2400" b="1" dirty="0" smtClean="0">
                <a:solidFill>
                  <a:srgbClr val="00B050"/>
                </a:solidFill>
              </a:rPr>
              <a:t>.</a:t>
            </a:r>
            <a:r>
              <a:rPr lang="sr-Latn-RS" sz="24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opis_baterije</a:t>
            </a:r>
            <a:r>
              <a:rPr lang="sr-Latn-RS" sz="2400" b="1" dirty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()</a:t>
            </a:r>
            <a:r>
              <a:rPr lang="en-GB" sz="2400" b="1" dirty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4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&lt;-- 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izbacilo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bi ERROR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jer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i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moj_auto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nije</a:t>
            </a:r>
            <a:r>
              <a:rPr lang="en-GB" sz="2000" b="1" dirty="0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2000" b="1" dirty="0" err="1" smtClean="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elektricni</a:t>
            </a:r>
            <a:endParaRPr lang="en-US" sz="20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sr-Latn-RS" sz="2400" b="1" dirty="0" smtClean="0"/>
          </a:p>
          <a:p>
            <a:pPr marL="0" indent="0">
              <a:buNone/>
            </a:pPr>
            <a:endParaRPr lang="sr-Latn-RS" sz="2400" dirty="0" smtClean="0"/>
          </a:p>
          <a:p>
            <a:pPr marL="0" indent="0">
              <a:buNone/>
            </a:pPr>
            <a:endParaRPr lang="sr-Latn-RS" sz="2000" b="1" dirty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5152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171400"/>
            <a:ext cx="9107488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b="1" dirty="0" err="1" smtClean="0"/>
              <a:t>Zaklju</a:t>
            </a:r>
            <a:r>
              <a:rPr lang="sr-Latn-RS" sz="2800" b="1" dirty="0" smtClean="0"/>
              <a:t>čak:</a:t>
            </a:r>
            <a:endParaRPr lang="en-GB" sz="2800" b="1" dirty="0" smtClean="0"/>
          </a:p>
          <a:p>
            <a:r>
              <a:rPr lang="vi-VN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Nasleđivanje</a:t>
            </a:r>
            <a:r>
              <a:rPr lang="vi-VN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vi-VN" sz="2400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Dete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dobija sve od </a:t>
            </a:r>
            <a:r>
              <a:rPr lang="vi-VN" sz="2400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roditelja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(da ne bismo pisali isti kod dva puta).</a:t>
            </a:r>
          </a:p>
          <a:p>
            <a:r>
              <a:rPr lang="vi-VN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Specifični atributi: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 Dodaju se u </a:t>
            </a:r>
            <a:r>
              <a:rPr lang="vi-VN" sz="2400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__init__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 metodu </a:t>
            </a:r>
            <a:r>
              <a:rPr lang="vi-VN" sz="2400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deteta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(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uz 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pomoć </a:t>
            </a:r>
            <a:r>
              <a:rPr lang="vi-VN" sz="2400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self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vi-VN" sz="24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vi-VN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Specifične metode: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 Pišu se kao obične funkcije unutar klase </a:t>
            </a:r>
            <a:r>
              <a:rPr lang="vi-VN" sz="2400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deteta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0" indent="0">
              <a:buNone/>
            </a:pPr>
            <a:r>
              <a:rPr lang="vi-VN" sz="2400" dirty="0"/>
              <a:t/>
            </a:r>
            <a:br>
              <a:rPr lang="vi-VN" sz="2400" dirty="0"/>
            </a:br>
            <a:r>
              <a:rPr lang="en-GB" sz="2400" b="1" dirty="0" err="1" smtClean="0"/>
              <a:t>Dodatno</a:t>
            </a:r>
            <a:r>
              <a:rPr lang="en-GB" sz="2400" b="1" dirty="0" smtClean="0"/>
              <a:t> </a:t>
            </a:r>
            <a:r>
              <a:rPr lang="en-GB" sz="2400" b="1" dirty="0" err="1" smtClean="0"/>
              <a:t>obja</a:t>
            </a:r>
            <a:r>
              <a:rPr lang="sr-Latn-RS" sz="2400" b="1" dirty="0" smtClean="0"/>
              <a:t>šnjenje:</a:t>
            </a:r>
          </a:p>
          <a:p>
            <a:pPr marL="0" indent="0">
              <a:buNone/>
            </a:pPr>
            <a:r>
              <a:rPr lang="sr-Latn-RS" sz="2400" dirty="0" smtClean="0"/>
              <a:t>Rekli smo da je </a:t>
            </a:r>
            <a:r>
              <a:rPr lang="en-US" sz="2400" dirty="0" smtClean="0"/>
              <a:t>__</a:t>
            </a:r>
            <a:r>
              <a:rPr lang="en-US" sz="2400" dirty="0" err="1"/>
              <a:t>init</a:t>
            </a:r>
            <a:r>
              <a:rPr lang="en-US" sz="2400" dirty="0"/>
              <a:t>__() </a:t>
            </a:r>
            <a:r>
              <a:rPr lang="en-US" sz="2400" b="1" dirty="0" err="1" smtClean="0"/>
              <a:t>posebna</a:t>
            </a:r>
            <a:r>
              <a:rPr lang="en-US" sz="2400" b="1" dirty="0" smtClean="0"/>
              <a:t> </a:t>
            </a:r>
            <a:r>
              <a:rPr lang="en-US" sz="2400" b="1" dirty="0" err="1"/>
              <a:t>metoda</a:t>
            </a:r>
            <a:r>
              <a:rPr lang="sr-Latn-RS" sz="2400" b="1" dirty="0"/>
              <a:t>, </a:t>
            </a:r>
            <a:r>
              <a:rPr lang="sr-Latn-RS" sz="2400" b="1" dirty="0" smtClean="0"/>
              <a:t>i da se </a:t>
            </a:r>
            <a:r>
              <a:rPr lang="fi-FI" sz="2400" b="1" dirty="0" smtClean="0"/>
              <a:t>automatski</a:t>
            </a:r>
            <a:r>
              <a:rPr lang="sr-Latn-RS" sz="2400" b="1" dirty="0" smtClean="0"/>
              <a:t> </a:t>
            </a:r>
            <a:r>
              <a:rPr lang="fi-FI" sz="2400" b="1" dirty="0"/>
              <a:t>pokreće kada pravimo novi objekat</a:t>
            </a:r>
            <a:r>
              <a:rPr lang="fi-FI" sz="2400" dirty="0"/>
              <a:t> </a:t>
            </a:r>
            <a:r>
              <a:rPr lang="fi-FI" sz="2400" b="1" dirty="0"/>
              <a:t>neke klase</a:t>
            </a:r>
            <a:r>
              <a:rPr lang="sr-Latn-RS" sz="2400" b="1" dirty="0"/>
              <a:t>.</a:t>
            </a:r>
            <a:r>
              <a:rPr lang="sr-Latn-RS" sz="2400" dirty="0"/>
              <a:t> </a:t>
            </a:r>
            <a:r>
              <a:rPr lang="sr-Latn-RS" sz="2400" dirty="0" smtClean="0"/>
              <a:t>Govori </a:t>
            </a:r>
            <a:r>
              <a:rPr lang="pl-PL" sz="2400" dirty="0"/>
              <a:t>koje podatke da objekat </a:t>
            </a:r>
            <a:r>
              <a:rPr lang="pl-PL" sz="2400" dirty="0" smtClean="0"/>
              <a:t> dobije </a:t>
            </a:r>
            <a:r>
              <a:rPr lang="pl-PL" sz="2400" dirty="0"/>
              <a:t>na početku</a:t>
            </a:r>
            <a:r>
              <a:rPr lang="sr-Latn-RS" sz="2400" b="1" dirty="0" smtClean="0"/>
              <a:t>. </a:t>
            </a:r>
            <a:r>
              <a:rPr lang="sr-Latn-RS" sz="2400" dirty="0" smtClean="0"/>
              <a:t>Drugi naziv za </a:t>
            </a:r>
            <a:r>
              <a:rPr lang="sr-Latn-RS" sz="2400" b="1" dirty="0" smtClean="0"/>
              <a:t>__init()__ </a:t>
            </a:r>
            <a:r>
              <a:rPr lang="sr-Latn-RS" sz="2400" dirty="0" smtClean="0"/>
              <a:t>je</a:t>
            </a:r>
            <a:r>
              <a:rPr lang="sr-Latn-RS" sz="2400" b="1" dirty="0" smtClean="0"/>
              <a:t> konstruktor. </a:t>
            </a:r>
            <a:r>
              <a:rPr lang="sr-Latn-RS" sz="2400" dirty="0"/>
              <a:t>Konstruktor upotrebljavamo najpre za inicijalizaciju atributa </a:t>
            </a:r>
            <a:r>
              <a:rPr lang="sr-Latn-RS" sz="2400" dirty="0" smtClean="0"/>
              <a:t>klase</a:t>
            </a:r>
            <a:r>
              <a:rPr lang="sr-Latn-RS" sz="2400" dirty="0"/>
              <a:t>, za slučaj da ispustimo njihovu upotrebu u metodama, ili da nema metoda koje koriste neki od atributa klase</a:t>
            </a:r>
            <a:r>
              <a:rPr lang="sr-Latn-RS" sz="2400" dirty="0" smtClean="0"/>
              <a:t>. Ako drugačije ne navedemo, konstruktor sva </a:t>
            </a:r>
            <a:r>
              <a:rPr lang="sr-Latn-RS" sz="2400" dirty="0"/>
              <a:t>polja </a:t>
            </a:r>
            <a:r>
              <a:rPr lang="sr-Latn-RS" sz="2400" dirty="0" smtClean="0"/>
              <a:t>inicijalizuje </a:t>
            </a:r>
            <a:r>
              <a:rPr lang="sr-Latn-RS" sz="2400" dirty="0"/>
              <a:t>na podrazumevane vrednosti (</a:t>
            </a:r>
            <a:r>
              <a:rPr lang="sr-Latn-RS" sz="2400" b="1" dirty="0"/>
              <a:t>0 </a:t>
            </a:r>
            <a:r>
              <a:rPr lang="sr-Latn-RS" sz="2400" dirty="0"/>
              <a:t>za</a:t>
            </a:r>
            <a:r>
              <a:rPr lang="sr-Latn-RS" sz="2400" b="1" dirty="0"/>
              <a:t> </a:t>
            </a:r>
            <a:r>
              <a:rPr lang="sr-Latn-RS" sz="2400" dirty="0" smtClean="0"/>
              <a:t>brojeve, </a:t>
            </a:r>
            <a:r>
              <a:rPr lang="sr-Latn-RS" sz="2400" b="1" dirty="0"/>
              <a:t>false </a:t>
            </a:r>
            <a:r>
              <a:rPr lang="sr-Latn-RS" sz="2400" dirty="0"/>
              <a:t>za logičke vrednosti, </a:t>
            </a:r>
            <a:r>
              <a:rPr lang="sr-Latn-RS" sz="2400" b="1" dirty="0"/>
              <a:t>prazan string </a:t>
            </a:r>
            <a:r>
              <a:rPr lang="sr-Latn-RS" sz="2400" dirty="0"/>
              <a:t>za stringove, </a:t>
            </a:r>
            <a:r>
              <a:rPr lang="sr-Latn-RS" sz="2400" b="1" dirty="0"/>
              <a:t>null</a:t>
            </a:r>
            <a:r>
              <a:rPr lang="sr-Latn-RS" sz="2400" dirty="0"/>
              <a:t> za referencirane </a:t>
            </a:r>
            <a:r>
              <a:rPr lang="sr-Latn-RS" sz="2400" dirty="0" smtClean="0"/>
              <a:t>tipove). Iz ovog sledi: kada definišemo </a:t>
            </a:r>
            <a:r>
              <a:rPr lang="sr-Latn-RS" sz="2400" b="1" dirty="0"/>
              <a:t>__init()__ </a:t>
            </a:r>
            <a:r>
              <a:rPr lang="sr-Latn-RS" sz="2400" dirty="0" smtClean="0"/>
              <a:t>za klasu </a:t>
            </a:r>
            <a:r>
              <a:rPr lang="sr-Latn-RS" sz="2400" i="1" dirty="0" smtClean="0"/>
              <a:t>dete</a:t>
            </a:r>
            <a:r>
              <a:rPr lang="sr-Latn-RS" sz="2400" dirty="0" smtClean="0"/>
              <a:t>, mi pravimo </a:t>
            </a:r>
            <a:r>
              <a:rPr lang="sr-Latn-RS" sz="2400" i="1" dirty="0" smtClean="0"/>
              <a:t>preklopljeni (redefinisani)</a:t>
            </a:r>
            <a:r>
              <a:rPr lang="sr-Latn-RS" sz="2400" dirty="0" smtClean="0"/>
              <a:t> konstruktor (pravimo </a:t>
            </a:r>
            <a:r>
              <a:rPr lang="sr-Latn-RS" sz="2400" b="1" dirty="0" smtClean="0"/>
              <a:t>override</a:t>
            </a:r>
            <a:r>
              <a:rPr lang="sr-Latn-RS" sz="2400" dirty="0" smtClean="0"/>
              <a:t>).</a:t>
            </a:r>
            <a:endParaRPr lang="sr-Latn-R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sr-Latn-RS" sz="2400" b="1" dirty="0" smtClean="0"/>
          </a:p>
          <a:p>
            <a:pPr marL="0" indent="0">
              <a:buNone/>
            </a:pPr>
            <a:endParaRPr lang="sr-Latn-RS" sz="2400" dirty="0" smtClean="0"/>
          </a:p>
          <a:p>
            <a:pPr marL="0" indent="0">
              <a:buNone/>
            </a:pPr>
            <a:endParaRPr lang="sr-Latn-RS" sz="2000" b="1" dirty="0"/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8671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0"/>
            <a:ext cx="9107488" cy="6813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800" b="1" dirty="0" smtClean="0"/>
              <a:t>Preklapanje - redefinisanje (overriding) metode</a:t>
            </a:r>
          </a:p>
          <a:p>
            <a:pPr marL="0" indent="0">
              <a:buNone/>
            </a:pPr>
            <a:r>
              <a:rPr lang="sr-Latn-RS" sz="2400" dirty="0" smtClean="0"/>
              <a:t>Mi u klasi </a:t>
            </a:r>
            <a:r>
              <a:rPr lang="sr-Latn-RS" sz="2400" i="1" dirty="0" smtClean="0"/>
              <a:t>dete</a:t>
            </a:r>
            <a:r>
              <a:rPr lang="sr-Latn-RS" sz="2400" dirty="0" smtClean="0"/>
              <a:t> možemo  </a:t>
            </a:r>
            <a:r>
              <a:rPr lang="sr-Latn-RS" sz="2400" i="1" dirty="0" smtClean="0"/>
              <a:t>preklopiti (redefinisati)</a:t>
            </a:r>
            <a:r>
              <a:rPr lang="sr-Latn-RS" sz="2400" dirty="0" smtClean="0"/>
              <a:t> i </a:t>
            </a:r>
            <a:r>
              <a:rPr lang="sr-Latn-RS" sz="2400" b="1" dirty="0" smtClean="0"/>
              <a:t>bilo koju metodu </a:t>
            </a:r>
            <a:r>
              <a:rPr lang="sr-Latn-RS" sz="2400" b="1" i="1" dirty="0" smtClean="0"/>
              <a:t>roditelja</a:t>
            </a:r>
            <a:r>
              <a:rPr lang="sr-Latn-RS" sz="2400" dirty="0" smtClean="0"/>
              <a:t> (pravimo </a:t>
            </a:r>
            <a:r>
              <a:rPr lang="sr-Latn-RS" sz="2400" b="1" dirty="0" smtClean="0"/>
              <a:t>override metod</a:t>
            </a:r>
            <a:r>
              <a:rPr lang="sr-Latn-RS" sz="2400" dirty="0" smtClean="0"/>
              <a:t>), da bi odgovarala specifičnostima objekata klase </a:t>
            </a:r>
            <a:r>
              <a:rPr lang="sr-Latn-RS" sz="2400" i="1" dirty="0" smtClean="0"/>
              <a:t>dete</a:t>
            </a:r>
            <a:r>
              <a:rPr lang="sr-Latn-RS" sz="2400" dirty="0" smtClean="0"/>
              <a:t>. Vrlo jednostavno, na primer roditelj ima metod </a:t>
            </a:r>
          </a:p>
          <a:p>
            <a:pPr marL="0" indent="0">
              <a:buNone/>
            </a:pPr>
            <a:r>
              <a:rPr lang="sr-Latn-RS" sz="2400" b="1" dirty="0" smtClean="0"/>
              <a:t>def punjenje(self):</a:t>
            </a:r>
          </a:p>
          <a:p>
            <a:pPr marL="0" indent="0">
              <a:buNone/>
            </a:pPr>
            <a:r>
              <a:rPr lang="sr-Latn-RS" sz="2400" dirty="0"/>
              <a:t> </a:t>
            </a:r>
            <a:r>
              <a:rPr lang="sr-Latn-RS" sz="2400" dirty="0" smtClean="0"/>
              <a:t>  </a:t>
            </a:r>
            <a:r>
              <a:rPr lang="sr-Latn-RS" sz="2400" b="1" dirty="0" smtClean="0"/>
              <a:t>print(</a:t>
            </a:r>
            <a:r>
              <a:rPr lang="en-GB" sz="2400" b="1" dirty="0" smtClean="0"/>
              <a:t>"</a:t>
            </a:r>
            <a:r>
              <a:rPr lang="sr-Latn-RS" sz="2400" b="1" dirty="0" smtClean="0"/>
              <a:t>Pazite da li vaš auto koristi dizel ili benzin!</a:t>
            </a:r>
            <a:r>
              <a:rPr lang="en-GB" sz="2400" b="1" dirty="0"/>
              <a:t> </a:t>
            </a:r>
            <a:r>
              <a:rPr lang="en-GB" sz="2400" b="1" dirty="0" smtClean="0"/>
              <a:t>"</a:t>
            </a:r>
            <a:r>
              <a:rPr lang="sr-Latn-RS" sz="2400" b="1" dirty="0" smtClean="0"/>
              <a:t>)</a:t>
            </a:r>
          </a:p>
          <a:p>
            <a:pPr marL="0" indent="0">
              <a:buNone/>
            </a:pPr>
            <a:endParaRPr lang="sr-Latn-RS" sz="2400" b="1" dirty="0"/>
          </a:p>
          <a:p>
            <a:pPr marL="0" indent="0">
              <a:buNone/>
            </a:pPr>
            <a:r>
              <a:rPr lang="sr-Latn-RS" sz="2400" dirty="0" smtClean="0"/>
              <a:t>U klasi </a:t>
            </a:r>
            <a:r>
              <a:rPr lang="sr-Latn-RS" sz="2400" i="1" dirty="0" smtClean="0"/>
              <a:t>dete</a:t>
            </a:r>
            <a:r>
              <a:rPr lang="sr-Latn-RS" sz="2400" dirty="0" smtClean="0"/>
              <a:t>, napravimo metodu sa istim nazivom, i onda se neće koristiti metoda iz </a:t>
            </a:r>
            <a:r>
              <a:rPr lang="sr-Latn-RS" sz="2400" i="1" dirty="0" smtClean="0"/>
              <a:t>roditelja</a:t>
            </a:r>
            <a:r>
              <a:rPr lang="sr-Latn-RS" sz="2400" dirty="0" smtClean="0"/>
              <a:t>, jer će biti preklopljena (redefinisana, override) kod poziva </a:t>
            </a:r>
            <a:r>
              <a:rPr lang="en-US" sz="2400" b="1" dirty="0" err="1" smtClean="0"/>
              <a:t>moja_tesla</a:t>
            </a:r>
            <a:r>
              <a:rPr lang="en-US" sz="2400" b="1" dirty="0" smtClean="0"/>
              <a:t>.</a:t>
            </a:r>
            <a:r>
              <a:rPr lang="sr-Latn-RS" sz="2400" b="1" dirty="0" smtClean="0"/>
              <a:t>punjenje</a:t>
            </a:r>
            <a:r>
              <a:rPr lang="en-US" sz="2400" b="1" dirty="0" smtClean="0"/>
              <a:t>()</a:t>
            </a:r>
            <a:r>
              <a:rPr lang="sr-Latn-RS" sz="2400" dirty="0" smtClean="0"/>
              <a:t>:</a:t>
            </a:r>
          </a:p>
          <a:p>
            <a:pPr marL="0" indent="0">
              <a:buNone/>
            </a:pPr>
            <a:r>
              <a:rPr lang="sr-Latn-RS" sz="2400" b="1" dirty="0"/>
              <a:t>def punjenje(self):</a:t>
            </a:r>
          </a:p>
          <a:p>
            <a:pPr marL="0" indent="0">
              <a:buNone/>
            </a:pPr>
            <a:r>
              <a:rPr lang="sr-Latn-RS" sz="2400" dirty="0"/>
              <a:t>   </a:t>
            </a:r>
            <a:r>
              <a:rPr lang="sr-Latn-RS" sz="2400" b="1" dirty="0"/>
              <a:t>print(</a:t>
            </a:r>
            <a:r>
              <a:rPr lang="en-GB" sz="2400" b="1" dirty="0" smtClean="0"/>
              <a:t>"</a:t>
            </a:r>
            <a:r>
              <a:rPr lang="en-US" sz="2400" b="1" dirty="0" err="1" smtClean="0"/>
              <a:t>Koristite</a:t>
            </a:r>
            <a:r>
              <a:rPr lang="en-US" sz="2400" b="1" dirty="0" smtClean="0"/>
              <a:t> </a:t>
            </a:r>
            <a:r>
              <a:rPr lang="en-US" sz="2400" b="1" dirty="0" err="1"/>
              <a:t>isključivo</a:t>
            </a:r>
            <a:r>
              <a:rPr lang="en-US" sz="2400" b="1" dirty="0"/>
              <a:t> </a:t>
            </a:r>
            <a:r>
              <a:rPr lang="en-US" sz="2400" b="1" dirty="0" err="1"/>
              <a:t>utičnice</a:t>
            </a:r>
            <a:r>
              <a:rPr lang="en-US" sz="2400" b="1" dirty="0"/>
              <a:t> </a:t>
            </a:r>
            <a:r>
              <a:rPr lang="en-US" sz="2400" b="1" dirty="0" err="1"/>
              <a:t>odgovarajuće</a:t>
            </a:r>
            <a:r>
              <a:rPr lang="en-US" sz="2400" b="1" dirty="0"/>
              <a:t> </a:t>
            </a:r>
            <a:r>
              <a:rPr lang="en-US" sz="2400" b="1" dirty="0" err="1"/>
              <a:t>snage</a:t>
            </a:r>
            <a:r>
              <a:rPr lang="sr-Latn-RS" sz="2400" b="1" dirty="0" smtClean="0"/>
              <a:t>!</a:t>
            </a:r>
            <a:r>
              <a:rPr lang="en-GB" sz="2400" b="1" dirty="0" smtClean="0"/>
              <a:t> </a:t>
            </a:r>
            <a:r>
              <a:rPr lang="en-GB" sz="2400" b="1" dirty="0"/>
              <a:t>"</a:t>
            </a:r>
            <a:r>
              <a:rPr lang="sr-Latn-RS" sz="2400" b="1" dirty="0"/>
              <a:t>)</a:t>
            </a:r>
          </a:p>
          <a:p>
            <a:pPr marL="0" indent="0">
              <a:buNone/>
            </a:pPr>
            <a:endParaRPr lang="sr-Latn-R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sr-Latn-RS" sz="2400" b="1" dirty="0" smtClean="0"/>
          </a:p>
          <a:p>
            <a:pPr marL="0" indent="0">
              <a:buNone/>
            </a:pPr>
            <a:endParaRPr lang="sr-Latn-RS" sz="2400" dirty="0" smtClean="0"/>
          </a:p>
          <a:p>
            <a:pPr marL="0" indent="0">
              <a:buNone/>
            </a:pPr>
            <a:endParaRPr lang="sr-Latn-RS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2" name="Rounded Rectangular Callout 1"/>
          <p:cNvSpPr/>
          <p:nvPr/>
        </p:nvSpPr>
        <p:spPr>
          <a:xfrm>
            <a:off x="395536" y="5373216"/>
            <a:ext cx="8280920" cy="1368152"/>
          </a:xfrm>
          <a:prstGeom prst="wedgeRoundRectCallout">
            <a:avLst>
              <a:gd name="adj1" fmla="val -18965"/>
              <a:gd name="adj2" fmla="val -6448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vi-VN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Zašto je ovo </a:t>
            </a:r>
            <a:r>
              <a:rPr lang="vi-VN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korisno</a:t>
            </a:r>
            <a:r>
              <a:rPr lang="sr-Latn-R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?</a:t>
            </a:r>
          </a:p>
          <a:p>
            <a:r>
              <a:rPr lang="vi-VN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Kreativnost</a:t>
            </a:r>
            <a:r>
              <a:rPr lang="vi-VN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 Omogućava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 prilagođava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mo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objekte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bez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većeg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menjanja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osnovnog koda.</a:t>
            </a:r>
          </a:p>
          <a:p>
            <a:r>
              <a:rPr lang="vi-VN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Organizacija: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 Ne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mora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mo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da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izmišlja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mo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nova imena 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metoda.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Sve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se zove jednostavno </a:t>
            </a:r>
            <a:r>
              <a:rPr lang="sr-Latn-RS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isto, 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vi-VN" dirty="0">
                <a:latin typeface="Calibri" pitchFamily="34" charset="0"/>
                <a:ea typeface="Calibri" pitchFamily="34" charset="0"/>
                <a:cs typeface="Calibri" pitchFamily="34" charset="0"/>
              </a:rPr>
              <a:t>objekat sam zna šta treba da radi</a:t>
            </a:r>
            <a:r>
              <a:rPr lang="vi-VN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vi-VN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76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0"/>
            <a:ext cx="9107488" cy="6813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800" b="1" dirty="0"/>
              <a:t>"</a:t>
            </a:r>
            <a:r>
              <a:rPr lang="sr-Latn-RS" sz="2800" b="1" dirty="0" smtClean="0"/>
              <a:t>Pametni" </a:t>
            </a:r>
            <a:r>
              <a:rPr lang="sr-Latn-RS" sz="2800" b="1" dirty="0"/>
              <a:t>Overriding (Kombinovanje)</a:t>
            </a:r>
          </a:p>
          <a:p>
            <a:pPr marL="0" indent="0">
              <a:buNone/>
            </a:pPr>
            <a:r>
              <a:rPr lang="sr-Latn-RS" sz="2400" dirty="0"/>
              <a:t>Ponekad ne želimo da potpuno obrišemo ono što roditelj radi, već samo </a:t>
            </a:r>
            <a:r>
              <a:rPr lang="sr-Latn-RS" sz="2400" b="1" dirty="0"/>
              <a:t>da dodamo nešto svoje</a:t>
            </a:r>
            <a:r>
              <a:rPr lang="sr-Latn-RS" sz="2400" dirty="0"/>
              <a:t>. Tada ponovo koristimo </a:t>
            </a:r>
            <a:r>
              <a:rPr lang="sr-Latn-RS" sz="2400" b="1" dirty="0"/>
              <a:t>super()</a:t>
            </a:r>
            <a:r>
              <a:rPr lang="sr-Latn-RS" sz="2400" dirty="0"/>
              <a:t>.</a:t>
            </a:r>
          </a:p>
          <a:p>
            <a:pPr marL="0" indent="0">
              <a:buNone/>
            </a:pPr>
            <a:r>
              <a:rPr lang="sr-Latn-RS" sz="2400" dirty="0" smtClean="0"/>
              <a:t>Na primer kod metode za opis auta u roditelju, imali smo :</a:t>
            </a:r>
          </a:p>
          <a:p>
            <a:pPr marL="0" indent="0">
              <a:buNone/>
            </a:pPr>
            <a:r>
              <a:rPr lang="en-US" sz="2400" b="1" dirty="0" err="1"/>
              <a:t>def</a:t>
            </a:r>
            <a:r>
              <a:rPr lang="en-US" sz="2400" b="1" dirty="0"/>
              <a:t> </a:t>
            </a:r>
            <a:r>
              <a:rPr lang="en-US" sz="2400" b="1" dirty="0" err="1"/>
              <a:t>opisi_auto</a:t>
            </a:r>
            <a:r>
              <a:rPr lang="en-US" sz="2400" b="1" dirty="0"/>
              <a:t>(self):</a:t>
            </a:r>
          </a:p>
          <a:p>
            <a:pPr marL="0" indent="0">
              <a:buNone/>
            </a:pPr>
            <a:r>
              <a:rPr lang="en-US" sz="2400" b="1" dirty="0"/>
              <a:t>        </a:t>
            </a:r>
            <a:r>
              <a:rPr lang="en-US" sz="2400" b="1" dirty="0">
                <a:solidFill>
                  <a:srgbClr val="00B050"/>
                </a:solidFill>
              </a:rPr>
              <a:t>"""</a:t>
            </a:r>
            <a:r>
              <a:rPr lang="en-US" sz="2400" b="1" dirty="0" err="1">
                <a:solidFill>
                  <a:srgbClr val="00B050"/>
                </a:solidFill>
              </a:rPr>
              <a:t>Prikazuje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osnovne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podatke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automobila</a:t>
            </a:r>
            <a:r>
              <a:rPr lang="en-US" sz="2400" b="1" dirty="0">
                <a:solidFill>
                  <a:srgbClr val="00B050"/>
                </a:solidFill>
              </a:rPr>
              <a:t>."""</a:t>
            </a:r>
          </a:p>
          <a:p>
            <a:pPr marL="0" indent="0">
              <a:buNone/>
            </a:pPr>
            <a:r>
              <a:rPr lang="en-US" sz="2400" b="1" dirty="0"/>
              <a:t>        print(f" Auto je  {</a:t>
            </a:r>
            <a:r>
              <a:rPr lang="en-US" sz="2400" b="1" dirty="0" err="1"/>
              <a:t>self.proizvodjac</a:t>
            </a:r>
            <a:r>
              <a:rPr lang="en-US" sz="2400" b="1" dirty="0"/>
              <a:t>}  , model {</a:t>
            </a:r>
            <a:r>
              <a:rPr lang="en-US" sz="2400" b="1" dirty="0" err="1"/>
              <a:t>self.model</a:t>
            </a:r>
            <a:r>
              <a:rPr lang="en-US" sz="2400" b="1" dirty="0"/>
              <a:t>} ")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sr-Latn-RS" sz="2400" dirty="0" smtClean="0"/>
              <a:t>Izmenićemo u klasi </a:t>
            </a:r>
            <a:r>
              <a:rPr lang="sr-Latn-RS" sz="2400" i="1" dirty="0" smtClean="0"/>
              <a:t>deteta</a:t>
            </a:r>
            <a:r>
              <a:rPr lang="sr-Latn-RS" sz="2400" dirty="0" smtClean="0"/>
              <a:t>:</a:t>
            </a:r>
          </a:p>
          <a:p>
            <a:pPr marL="0" indent="0">
              <a:buNone/>
            </a:pPr>
            <a:r>
              <a:rPr lang="en-US" sz="2400" b="1" dirty="0" err="1"/>
              <a:t>def</a:t>
            </a:r>
            <a:r>
              <a:rPr lang="en-US" sz="2400" b="1" dirty="0"/>
              <a:t> </a:t>
            </a:r>
            <a:r>
              <a:rPr lang="en-US" sz="2400" b="1" dirty="0" err="1"/>
              <a:t>opisi_auto</a:t>
            </a:r>
            <a:r>
              <a:rPr lang="en-US" sz="2400" b="1" dirty="0"/>
              <a:t>(self):</a:t>
            </a:r>
          </a:p>
          <a:p>
            <a:pPr marL="0" indent="0">
              <a:buNone/>
            </a:pPr>
            <a:r>
              <a:rPr lang="sr-Latn-RS" sz="2400" b="1" dirty="0" smtClean="0"/>
              <a:t>      </a:t>
            </a:r>
            <a:r>
              <a:rPr lang="en-US" sz="2400" b="1" dirty="0" smtClean="0">
                <a:solidFill>
                  <a:srgbClr val="00B050"/>
                </a:solidFill>
              </a:rPr>
              <a:t># </a:t>
            </a:r>
            <a:r>
              <a:rPr lang="en-US" sz="2400" b="1" dirty="0" err="1">
                <a:solidFill>
                  <a:srgbClr val="00B050"/>
                </a:solidFill>
              </a:rPr>
              <a:t>Prvo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kažemo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roditelju</a:t>
            </a:r>
            <a:r>
              <a:rPr lang="en-US" sz="2400" b="1" dirty="0">
                <a:solidFill>
                  <a:srgbClr val="00B050"/>
                </a:solidFill>
              </a:rPr>
              <a:t> da </a:t>
            </a:r>
            <a:r>
              <a:rPr lang="en-US" sz="2400" b="1" dirty="0" err="1">
                <a:solidFill>
                  <a:srgbClr val="00B050"/>
                </a:solidFill>
              </a:rPr>
              <a:t>ispiše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ono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što</a:t>
            </a:r>
            <a:r>
              <a:rPr lang="en-US" sz="2400" b="1" dirty="0">
                <a:solidFill>
                  <a:srgbClr val="00B050"/>
                </a:solidFill>
              </a:rPr>
              <a:t> on </a:t>
            </a:r>
            <a:r>
              <a:rPr lang="en-US" sz="2400" b="1" dirty="0" err="1">
                <a:solidFill>
                  <a:srgbClr val="00B050"/>
                </a:solidFill>
              </a:rPr>
              <a:t>zna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sr-Latn-RS" sz="2400" b="1" dirty="0">
                <a:solidFill>
                  <a:srgbClr val="00B050"/>
                </a:solidFill>
              </a:rPr>
              <a:t> </a:t>
            </a:r>
            <a:r>
              <a:rPr lang="sr-Latn-RS" sz="2400" b="1" dirty="0" smtClean="0">
                <a:solidFill>
                  <a:srgbClr val="00B050"/>
                </a:solidFill>
              </a:rPr>
              <a:t> </a:t>
            </a:r>
          </a:p>
          <a:p>
            <a:pPr marL="0" indent="0">
              <a:buNone/>
            </a:pPr>
            <a:r>
              <a:rPr lang="sr-Latn-RS" sz="2400" b="1" dirty="0" smtClean="0"/>
              <a:t>      </a:t>
            </a:r>
            <a:r>
              <a:rPr lang="en-US" sz="2400" b="1" dirty="0" smtClean="0"/>
              <a:t>super().</a:t>
            </a:r>
            <a:r>
              <a:rPr lang="en-US" sz="2400" b="1" dirty="0" err="1" smtClean="0"/>
              <a:t>opisi_auto</a:t>
            </a:r>
            <a:r>
              <a:rPr lang="en-US" sz="2400" b="1" dirty="0" smtClean="0"/>
              <a:t>()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</a:t>
            </a:r>
            <a:r>
              <a:rPr lang="en-US" sz="2400" b="1" dirty="0" smtClean="0">
                <a:solidFill>
                  <a:srgbClr val="00B050"/>
                </a:solidFill>
              </a:rPr>
              <a:t># </a:t>
            </a:r>
            <a:r>
              <a:rPr lang="en-US" sz="2400" b="1" dirty="0" err="1">
                <a:solidFill>
                  <a:srgbClr val="00B050"/>
                </a:solidFill>
              </a:rPr>
              <a:t>Zatim</a:t>
            </a:r>
            <a:r>
              <a:rPr lang="en-US" sz="2400" b="1" dirty="0">
                <a:solidFill>
                  <a:srgbClr val="00B050"/>
                </a:solidFill>
              </a:rPr>
              <a:t> mi </a:t>
            </a:r>
            <a:r>
              <a:rPr lang="en-US" sz="2400" b="1" dirty="0" err="1">
                <a:solidFill>
                  <a:srgbClr val="00B050"/>
                </a:solidFill>
              </a:rPr>
              <a:t>dodajemo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ono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što</a:t>
            </a:r>
            <a:r>
              <a:rPr lang="en-US" sz="2400" b="1" dirty="0">
                <a:solidFill>
                  <a:srgbClr val="00B050"/>
                </a:solidFill>
              </a:rPr>
              <a:t> je </a:t>
            </a:r>
            <a:r>
              <a:rPr lang="en-US" sz="2400" b="1" dirty="0" err="1">
                <a:solidFill>
                  <a:srgbClr val="00B050"/>
                </a:solidFill>
              </a:rPr>
              <a:t>specifično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za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</a:rPr>
              <a:t>nas</a:t>
            </a:r>
            <a:endParaRPr lang="sr-Latn-RS" sz="24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sr-Latn-RS" sz="2400" b="1" dirty="0"/>
              <a:t> </a:t>
            </a:r>
            <a:r>
              <a:rPr lang="sr-Latn-RS" sz="2400" b="1" dirty="0" smtClean="0"/>
              <a:t>     </a:t>
            </a:r>
            <a:r>
              <a:rPr lang="sr-Latn-RS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print(f</a:t>
            </a:r>
            <a:r>
              <a:rPr lang="en-GB" sz="2400" b="1" dirty="0"/>
              <a:t>"</a:t>
            </a:r>
            <a:r>
              <a:rPr lang="sr-Latn-RS" sz="2400" b="1" dirty="0"/>
              <a:t>Ovaj auto ima </a:t>
            </a:r>
            <a:r>
              <a:rPr lang="en-GB" sz="2400" b="1" dirty="0" smtClean="0"/>
              <a:t>{</a:t>
            </a:r>
            <a:r>
              <a:rPr lang="sr-Latn-RS" sz="2400" b="1" dirty="0" smtClean="0"/>
              <a:t>self.</a:t>
            </a:r>
            <a:r>
              <a:rPr lang="en-GB" sz="2400" b="1" dirty="0" err="1" smtClean="0"/>
              <a:t>baterija</a:t>
            </a:r>
            <a:r>
              <a:rPr lang="en-GB" sz="2400" b="1" dirty="0"/>
              <a:t>} kWh </a:t>
            </a:r>
            <a:r>
              <a:rPr lang="en-GB" sz="2400" b="1" dirty="0" err="1"/>
              <a:t>bateriju</a:t>
            </a:r>
            <a:r>
              <a:rPr lang="en-GB" sz="2400" b="1" dirty="0"/>
              <a:t>")</a:t>
            </a:r>
            <a:r>
              <a:rPr lang="sr-Latn-RS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endParaRPr lang="en-GB" sz="2400" b="1" dirty="0"/>
          </a:p>
          <a:p>
            <a:pPr marL="0" indent="0">
              <a:buNone/>
            </a:pPr>
            <a:endParaRPr lang="sr-Latn-RS" sz="1400" b="1" dirty="0"/>
          </a:p>
          <a:p>
            <a:pPr marL="0" indent="0">
              <a:buNone/>
            </a:pPr>
            <a:r>
              <a:rPr lang="sr-Latn-RS" sz="2400" dirty="0" smtClean="0"/>
              <a:t>A poziv metode je</a:t>
            </a:r>
            <a:r>
              <a:rPr lang="sr-Latn-RS" sz="2400" smtClean="0"/>
              <a:t>: </a:t>
            </a:r>
            <a:r>
              <a:rPr lang="en-US" sz="2400" b="1" smtClean="0"/>
              <a:t>moja_tesla.opisi_auto(baterija</a:t>
            </a:r>
            <a:r>
              <a:rPr lang="en-US" sz="2400" b="1" dirty="0"/>
              <a:t>)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2456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216008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 smtClean="0"/>
              <a:t>Ve</a:t>
            </a:r>
            <a:r>
              <a:rPr lang="sr-Latn-RS" sz="2400" b="1" dirty="0" smtClean="0"/>
              <a:t>žbanje. </a:t>
            </a:r>
            <a:endParaRPr lang="en-GB" sz="2400" b="1" dirty="0" smtClean="0"/>
          </a:p>
          <a:p>
            <a:r>
              <a:rPr lang="sr-Latn-RS" sz="2400" dirty="0" smtClean="0"/>
              <a:t>Kreirati klasu </a:t>
            </a:r>
            <a:r>
              <a:rPr lang="sr-Latn-RS" sz="2400" b="1" dirty="0" smtClean="0"/>
              <a:t>Telefon</a:t>
            </a:r>
            <a:r>
              <a:rPr lang="en-US" sz="2400" dirty="0"/>
              <a:t> </a:t>
            </a:r>
            <a:r>
              <a:rPr lang="en-US" sz="2400" dirty="0" err="1" smtClean="0"/>
              <a:t>sa</a:t>
            </a:r>
            <a:r>
              <a:rPr lang="en-US" sz="2400" dirty="0" smtClean="0"/>
              <a:t> </a:t>
            </a:r>
            <a:r>
              <a:rPr lang="en-US" sz="2400" dirty="0" err="1" smtClean="0"/>
              <a:t>atributom</a:t>
            </a:r>
            <a:r>
              <a:rPr lang="en-US" sz="2400" dirty="0" smtClean="0"/>
              <a:t> </a:t>
            </a:r>
            <a:r>
              <a:rPr lang="en-US" sz="2400" b="1" dirty="0" err="1" smtClean="0"/>
              <a:t>marka</a:t>
            </a:r>
            <a:r>
              <a:rPr lang="sr-Latn-RS" sz="2400" dirty="0" smtClean="0"/>
              <a:t> </a:t>
            </a:r>
            <a:r>
              <a:rPr lang="en-US" sz="2400" dirty="0" smtClean="0"/>
              <a:t>i</a:t>
            </a:r>
            <a:r>
              <a:rPr lang="sr-Latn-RS" sz="2400" dirty="0" smtClean="0"/>
              <a:t> metodom </a:t>
            </a:r>
            <a:r>
              <a:rPr lang="sr-Latn-RS" sz="2400" b="1" dirty="0" smtClean="0"/>
              <a:t>pozovi()</a:t>
            </a:r>
            <a:r>
              <a:rPr lang="sr-Latn-RS" sz="2400" dirty="0" smtClean="0"/>
              <a:t> koja prima </a:t>
            </a:r>
            <a:r>
              <a:rPr lang="sr-Latn-RS" sz="2400" b="1" i="1" dirty="0" smtClean="0"/>
              <a:t>broj</a:t>
            </a:r>
            <a:r>
              <a:rPr lang="sr-Latn-RS" sz="2400" dirty="0" smtClean="0"/>
              <a:t> i samo prikazuje poruku </a:t>
            </a:r>
            <a:r>
              <a:rPr lang="sr-Latn-RS" sz="2400" b="1" i="1" dirty="0" smtClean="0"/>
              <a:t>print(f</a:t>
            </a:r>
            <a:r>
              <a:rPr lang="en-US" sz="2400" b="1" i="1" dirty="0"/>
              <a:t>"</a:t>
            </a:r>
            <a:r>
              <a:rPr lang="en-US" sz="2400" b="1" i="1" dirty="0" err="1"/>
              <a:t>Povezivanje</a:t>
            </a:r>
            <a:r>
              <a:rPr lang="en-US" sz="2400" b="1" i="1" dirty="0"/>
              <a:t>...</a:t>
            </a:r>
            <a:r>
              <a:rPr lang="en-US" sz="2400" b="1" i="1" dirty="0" err="1"/>
              <a:t>Biram</a:t>
            </a:r>
            <a:r>
              <a:rPr lang="en-US" sz="2400" b="1" i="1" dirty="0"/>
              <a:t> </a:t>
            </a:r>
            <a:r>
              <a:rPr lang="en-US" sz="2400" b="1" i="1" dirty="0" err="1"/>
              <a:t>broj</a:t>
            </a:r>
            <a:r>
              <a:rPr lang="en-US" sz="2400" b="1" i="1" dirty="0"/>
              <a:t> {</a:t>
            </a:r>
            <a:r>
              <a:rPr lang="en-US" sz="2400" b="1" i="1" dirty="0" err="1"/>
              <a:t>broj</a:t>
            </a:r>
            <a:r>
              <a:rPr lang="en-US" sz="2400" b="1" i="1" dirty="0"/>
              <a:t>} </a:t>
            </a:r>
            <a:r>
              <a:rPr lang="en-US" sz="2400" b="1" i="1" dirty="0" err="1"/>
              <a:t>sa</a:t>
            </a:r>
            <a:r>
              <a:rPr lang="en-US" sz="2400" b="1" i="1" dirty="0"/>
              <a:t> </a:t>
            </a:r>
            <a:r>
              <a:rPr lang="en-US" sz="2400" b="1" i="1" dirty="0" err="1"/>
              <a:t>telefona</a:t>
            </a:r>
            <a:r>
              <a:rPr lang="en-US" sz="2400" b="1" i="1" dirty="0"/>
              <a:t> </a:t>
            </a:r>
            <a:r>
              <a:rPr lang="en-US" sz="2400" b="1" i="1" dirty="0" err="1"/>
              <a:t>marke</a:t>
            </a:r>
            <a:r>
              <a:rPr lang="en-US" sz="2400" b="1" i="1" dirty="0"/>
              <a:t> {</a:t>
            </a:r>
            <a:r>
              <a:rPr lang="en-US" sz="2400" b="1" i="1" dirty="0" err="1"/>
              <a:t>self.marka</a:t>
            </a:r>
            <a:r>
              <a:rPr lang="en-US" sz="2400" b="1" i="1" dirty="0" smtClean="0"/>
              <a:t>}</a:t>
            </a:r>
            <a:r>
              <a:rPr lang="en-US" sz="2400" b="1" i="1" dirty="0"/>
              <a:t> </a:t>
            </a:r>
            <a:r>
              <a:rPr lang="en-US" sz="2400" b="1" i="1" dirty="0" smtClean="0"/>
              <a:t>"</a:t>
            </a:r>
            <a:r>
              <a:rPr lang="sr-Latn-RS" sz="2400" b="1" i="1" dirty="0" smtClean="0"/>
              <a:t>)</a:t>
            </a:r>
            <a:r>
              <a:rPr lang="sr-Latn-RS" sz="2400" i="1" dirty="0" smtClean="0"/>
              <a:t>. </a:t>
            </a:r>
          </a:p>
          <a:p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Zatim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kreiramo 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klasu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Smartfon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koja nasleđuje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vi-VN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Telefon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. Ona automatski dobija sve što ima </a:t>
            </a:r>
            <a:r>
              <a:rPr lang="vi-VN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Telefon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, ali 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dodajemo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specifični 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atribut </a:t>
            </a:r>
            <a:r>
              <a:rPr lang="vi-VN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megapikseli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 n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ovu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specifičnu </a:t>
            </a:r>
            <a:r>
              <a:rPr lang="vi-VN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metodu</a:t>
            </a:r>
            <a:r>
              <a:rPr lang="vi-VN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: </a:t>
            </a:r>
            <a:r>
              <a:rPr lang="vi-VN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slikaj</a:t>
            </a:r>
            <a:r>
              <a:rPr lang="vi-VN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(</a:t>
            </a:r>
            <a:r>
              <a:rPr lang="vi-VN" sz="24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)</a:t>
            </a:r>
            <a:r>
              <a:rPr lang="vi-VN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koja prikazuje 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print(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f"Škljoc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!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Napravljena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je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slika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od {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self.megapikseli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}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MPx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.")</a:t>
            </a:r>
            <a:endParaRPr lang="sr-Latn-RS" sz="2400" b="1" i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Pravimo i override metodu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pozovi()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koja će da sadrži pitanje:         </a:t>
            </a:r>
            <a:r>
              <a:rPr lang="en-US" sz="24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opcija</a:t>
            </a:r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= </a:t>
            </a:r>
            <a:r>
              <a:rPr lang="sr-Latn-R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int(</a:t>
            </a:r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input(</a:t>
            </a:r>
            <a:r>
              <a:rPr lang="en-US" sz="24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f"Želite</a:t>
            </a:r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li (1)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Običan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poziv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ili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(2) Video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poziv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za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broj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{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broj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}? </a:t>
            </a:r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")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Ukoliko je izabrano pod 2, onda prikazuje 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print(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f"Uključujem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kameru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od {</a:t>
            </a:r>
            <a:r>
              <a:rPr lang="en-US" sz="24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self.megapikseli</a:t>
            </a:r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}</a:t>
            </a:r>
            <a:r>
              <a:rPr lang="en-US" sz="24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MPx</a:t>
            </a:r>
            <a:r>
              <a:rPr lang="sr-Latn-R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...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Pokrećem</a:t>
            </a:r>
            <a:r>
              <a:rPr lang="en-US" sz="24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video </a:t>
            </a:r>
            <a:r>
              <a:rPr lang="en-US" sz="24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poziv</a:t>
            </a:r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.")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U suprotnom koristi roditeljsku metodu za poziv. </a:t>
            </a:r>
            <a:endParaRPr lang="sr-Latn-RS" sz="2400" i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Glavni program pita za marku telefona za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stari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a za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novi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telefon pita za marku i megapiksele. Pita i za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broj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telefona. Zatim instancira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stari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pa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novi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telefon, a onda koristi metodu </a:t>
            </a:r>
            <a:r>
              <a:rPr lang="sr-Latn-R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pozovi() </a:t>
            </a:r>
            <a:r>
              <a:rPr lang="sr-Latn-R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za stari, pa za novi telefon.</a:t>
            </a:r>
            <a:endParaRPr lang="en-US" sz="24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96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1400" b="1" u="sng" dirty="0" smtClean="0"/>
              <a:t>Rešenje:</a:t>
            </a:r>
          </a:p>
          <a:p>
            <a:pPr marL="0" indent="0">
              <a:buNone/>
            </a:pPr>
            <a:r>
              <a:rPr lang="en-GB" sz="1300" b="1" dirty="0"/>
              <a:t>class </a:t>
            </a:r>
            <a:r>
              <a:rPr lang="en-GB" sz="1300" b="1" dirty="0" err="1"/>
              <a:t>Telefon</a:t>
            </a:r>
            <a:r>
              <a:rPr lang="en-GB" sz="1300" b="1" dirty="0"/>
              <a:t>:</a:t>
            </a:r>
          </a:p>
          <a:p>
            <a:pPr marL="0" indent="0">
              <a:buNone/>
            </a:pPr>
            <a:r>
              <a:rPr lang="en-GB" sz="1300" b="1" dirty="0"/>
              <a:t>    </a:t>
            </a:r>
            <a:r>
              <a:rPr lang="en-GB" sz="1300" b="1" dirty="0" err="1"/>
              <a:t>def</a:t>
            </a:r>
            <a:r>
              <a:rPr lang="en-GB" sz="1300" b="1" dirty="0"/>
              <a:t> __</a:t>
            </a:r>
            <a:r>
              <a:rPr lang="en-GB" sz="1300" b="1" dirty="0" err="1"/>
              <a:t>init</a:t>
            </a:r>
            <a:r>
              <a:rPr lang="en-GB" sz="1300" b="1" dirty="0"/>
              <a:t>__(self, </a:t>
            </a:r>
            <a:r>
              <a:rPr lang="en-GB" sz="1300" b="1" dirty="0" err="1"/>
              <a:t>marka</a:t>
            </a:r>
            <a:r>
              <a:rPr lang="en-GB" sz="1300" b="1" dirty="0"/>
              <a:t>):</a:t>
            </a:r>
          </a:p>
          <a:p>
            <a:pPr marL="0" indent="0">
              <a:buNone/>
            </a:pPr>
            <a:r>
              <a:rPr lang="en-GB" sz="1300" b="1" dirty="0"/>
              <a:t>        </a:t>
            </a:r>
            <a:r>
              <a:rPr lang="en-GB" sz="1300" b="1" dirty="0" err="1"/>
              <a:t>self.marka</a:t>
            </a:r>
            <a:r>
              <a:rPr lang="en-GB" sz="1300" b="1" dirty="0"/>
              <a:t> = </a:t>
            </a:r>
            <a:r>
              <a:rPr lang="en-GB" sz="1300" b="1" dirty="0" err="1"/>
              <a:t>marka</a:t>
            </a:r>
            <a:endParaRPr lang="en-GB" sz="1300" b="1" dirty="0"/>
          </a:p>
          <a:p>
            <a:pPr marL="0" indent="0">
              <a:buNone/>
            </a:pPr>
            <a:endParaRPr lang="en-GB" sz="500" b="1" dirty="0"/>
          </a:p>
          <a:p>
            <a:pPr marL="0" indent="0">
              <a:buNone/>
            </a:pPr>
            <a:r>
              <a:rPr lang="en-GB" sz="1300" b="1" dirty="0"/>
              <a:t>    </a:t>
            </a:r>
            <a:r>
              <a:rPr lang="en-GB" sz="1300" b="1" dirty="0" err="1"/>
              <a:t>def</a:t>
            </a:r>
            <a:r>
              <a:rPr lang="en-GB" sz="1300" b="1" dirty="0"/>
              <a:t> </a:t>
            </a:r>
            <a:r>
              <a:rPr lang="en-GB" sz="1300" b="1" dirty="0" err="1"/>
              <a:t>pozovi</a:t>
            </a:r>
            <a:r>
              <a:rPr lang="en-GB" sz="1300" b="1" dirty="0"/>
              <a:t>(self, </a:t>
            </a:r>
            <a:r>
              <a:rPr lang="en-GB" sz="1300" b="1" dirty="0" err="1"/>
              <a:t>broj</a:t>
            </a:r>
            <a:r>
              <a:rPr lang="en-GB" sz="1300" b="1" dirty="0" smtClean="0"/>
              <a:t>):</a:t>
            </a:r>
            <a:r>
              <a:rPr lang="sr-Latn-RS" sz="1300" b="1" dirty="0" smtClean="0"/>
              <a:t>    </a:t>
            </a:r>
            <a:r>
              <a:rPr lang="en-GB" sz="1300" b="1" dirty="0" smtClean="0">
                <a:solidFill>
                  <a:srgbClr val="00B050"/>
                </a:solidFill>
              </a:rPr>
              <a:t># </a:t>
            </a:r>
            <a:r>
              <a:rPr lang="en-GB" sz="1300" b="1" dirty="0" err="1">
                <a:solidFill>
                  <a:srgbClr val="00B050"/>
                </a:solidFill>
              </a:rPr>
              <a:t>Osnovna</a:t>
            </a:r>
            <a:r>
              <a:rPr lang="en-GB" sz="1300" b="1" dirty="0">
                <a:solidFill>
                  <a:srgbClr val="00B050"/>
                </a:solidFill>
              </a:rPr>
              <a:t> </a:t>
            </a:r>
            <a:r>
              <a:rPr lang="en-GB" sz="1300" b="1" dirty="0" err="1">
                <a:solidFill>
                  <a:srgbClr val="00B050"/>
                </a:solidFill>
              </a:rPr>
              <a:t>funkcija</a:t>
            </a:r>
            <a:r>
              <a:rPr lang="en-GB" sz="1300" b="1" dirty="0">
                <a:solidFill>
                  <a:srgbClr val="00B050"/>
                </a:solidFill>
              </a:rPr>
              <a:t> </a:t>
            </a:r>
            <a:r>
              <a:rPr lang="en-GB" sz="1300" b="1" dirty="0" err="1">
                <a:solidFill>
                  <a:srgbClr val="00B050"/>
                </a:solidFill>
              </a:rPr>
              <a:t>koju</a:t>
            </a:r>
            <a:r>
              <a:rPr lang="en-GB" sz="1300" b="1" dirty="0">
                <a:solidFill>
                  <a:srgbClr val="00B050"/>
                </a:solidFill>
              </a:rPr>
              <a:t> </a:t>
            </a:r>
            <a:r>
              <a:rPr lang="en-GB" sz="1300" b="1" dirty="0" err="1">
                <a:solidFill>
                  <a:srgbClr val="00B050"/>
                </a:solidFill>
              </a:rPr>
              <a:t>ima</a:t>
            </a:r>
            <a:r>
              <a:rPr lang="en-GB" sz="1300" b="1" dirty="0">
                <a:solidFill>
                  <a:srgbClr val="00B050"/>
                </a:solidFill>
              </a:rPr>
              <a:t> </a:t>
            </a:r>
            <a:r>
              <a:rPr lang="en-GB" sz="1300" b="1" dirty="0" err="1">
                <a:solidFill>
                  <a:srgbClr val="00B050"/>
                </a:solidFill>
              </a:rPr>
              <a:t>svaki</a:t>
            </a:r>
            <a:r>
              <a:rPr lang="en-GB" sz="1300" b="1" dirty="0">
                <a:solidFill>
                  <a:srgbClr val="00B050"/>
                </a:solidFill>
              </a:rPr>
              <a:t> </a:t>
            </a:r>
            <a:r>
              <a:rPr lang="en-GB" sz="1300" b="1" dirty="0" err="1">
                <a:solidFill>
                  <a:srgbClr val="00B050"/>
                </a:solidFill>
              </a:rPr>
              <a:t>telefon</a:t>
            </a:r>
            <a:endParaRPr lang="en-GB" sz="13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sr-Latn-RS" sz="1300" b="1" dirty="0" smtClean="0"/>
              <a:t>         </a:t>
            </a:r>
            <a:r>
              <a:rPr lang="en-GB" sz="1300" b="1" dirty="0" smtClean="0"/>
              <a:t>print(</a:t>
            </a:r>
            <a:r>
              <a:rPr lang="en-GB" sz="1300" b="1" dirty="0" err="1" smtClean="0"/>
              <a:t>f"Povezivanje</a:t>
            </a:r>
            <a:r>
              <a:rPr lang="en-GB" sz="1300" b="1" dirty="0"/>
              <a:t>... </a:t>
            </a:r>
            <a:r>
              <a:rPr lang="en-GB" sz="1300" b="1" dirty="0" err="1"/>
              <a:t>Biram</a:t>
            </a:r>
            <a:r>
              <a:rPr lang="en-GB" sz="1300" b="1" dirty="0"/>
              <a:t> </a:t>
            </a:r>
            <a:r>
              <a:rPr lang="en-GB" sz="1300" b="1" dirty="0" err="1"/>
              <a:t>broj</a:t>
            </a:r>
            <a:r>
              <a:rPr lang="en-GB" sz="1300" b="1" dirty="0"/>
              <a:t> {</a:t>
            </a:r>
            <a:r>
              <a:rPr lang="en-GB" sz="1300" b="1" dirty="0" err="1"/>
              <a:t>broj</a:t>
            </a:r>
            <a:r>
              <a:rPr lang="en-GB" sz="1300" b="1" dirty="0"/>
              <a:t>} </a:t>
            </a:r>
            <a:r>
              <a:rPr lang="en-GB" sz="1300" b="1" dirty="0" err="1"/>
              <a:t>sa</a:t>
            </a:r>
            <a:r>
              <a:rPr lang="en-GB" sz="1300" b="1" dirty="0"/>
              <a:t> </a:t>
            </a:r>
            <a:r>
              <a:rPr lang="en-GB" sz="1300" b="1" dirty="0" err="1"/>
              <a:t>telefona</a:t>
            </a:r>
            <a:r>
              <a:rPr lang="en-GB" sz="1300" b="1" dirty="0"/>
              <a:t> </a:t>
            </a:r>
            <a:r>
              <a:rPr lang="en-GB" sz="1300" b="1" dirty="0" err="1"/>
              <a:t>marke</a:t>
            </a:r>
            <a:r>
              <a:rPr lang="en-GB" sz="1300" b="1" dirty="0"/>
              <a:t> {</a:t>
            </a:r>
            <a:r>
              <a:rPr lang="en-GB" sz="1300" b="1" dirty="0" err="1"/>
              <a:t>self.marka</a:t>
            </a:r>
            <a:r>
              <a:rPr lang="en-GB" sz="1300" b="1" dirty="0"/>
              <a:t>}")</a:t>
            </a:r>
          </a:p>
          <a:p>
            <a:pPr marL="0" indent="0">
              <a:buNone/>
            </a:pPr>
            <a:endParaRPr lang="en-GB" sz="500" b="1" dirty="0"/>
          </a:p>
          <a:p>
            <a:pPr marL="0" indent="0">
              <a:buNone/>
            </a:pPr>
            <a:r>
              <a:rPr lang="en-GB" sz="1300" b="1" dirty="0"/>
              <a:t>class </a:t>
            </a:r>
            <a:r>
              <a:rPr lang="en-GB" sz="1300" b="1" dirty="0" err="1"/>
              <a:t>Smartfon</a:t>
            </a:r>
            <a:r>
              <a:rPr lang="en-GB" sz="1300" b="1" dirty="0"/>
              <a:t>(</a:t>
            </a:r>
            <a:r>
              <a:rPr lang="en-GB" sz="1300" b="1" dirty="0" err="1"/>
              <a:t>Telefon</a:t>
            </a:r>
            <a:r>
              <a:rPr lang="en-GB" sz="1300" b="1" dirty="0"/>
              <a:t>):</a:t>
            </a:r>
          </a:p>
          <a:p>
            <a:pPr marL="0" indent="0">
              <a:buNone/>
            </a:pPr>
            <a:r>
              <a:rPr lang="en-GB" sz="1300" b="1" dirty="0"/>
              <a:t>    </a:t>
            </a:r>
            <a:r>
              <a:rPr lang="en-GB" sz="1300" b="1" dirty="0" err="1"/>
              <a:t>def</a:t>
            </a:r>
            <a:r>
              <a:rPr lang="en-GB" sz="1300" b="1" dirty="0"/>
              <a:t> __</a:t>
            </a:r>
            <a:r>
              <a:rPr lang="en-GB" sz="1300" b="1" dirty="0" err="1"/>
              <a:t>init</a:t>
            </a:r>
            <a:r>
              <a:rPr lang="en-GB" sz="1300" b="1" dirty="0"/>
              <a:t>__(self, </a:t>
            </a:r>
            <a:r>
              <a:rPr lang="en-GB" sz="1300" b="1" dirty="0" err="1"/>
              <a:t>marka</a:t>
            </a:r>
            <a:r>
              <a:rPr lang="en-GB" sz="1300" b="1" dirty="0"/>
              <a:t>, </a:t>
            </a:r>
            <a:r>
              <a:rPr lang="en-GB" sz="1300" b="1" dirty="0" err="1"/>
              <a:t>megapikseli</a:t>
            </a:r>
            <a:r>
              <a:rPr lang="en-GB" sz="1300" b="1" dirty="0"/>
              <a:t>):</a:t>
            </a:r>
          </a:p>
          <a:p>
            <a:pPr marL="0" indent="0">
              <a:buNone/>
            </a:pPr>
            <a:r>
              <a:rPr lang="en-GB" sz="1300" b="1" dirty="0"/>
              <a:t>        super().__</a:t>
            </a:r>
            <a:r>
              <a:rPr lang="en-GB" sz="1300" b="1" dirty="0" err="1"/>
              <a:t>init</a:t>
            </a:r>
            <a:r>
              <a:rPr lang="en-GB" sz="1300" b="1" dirty="0"/>
              <a:t>__(</a:t>
            </a:r>
            <a:r>
              <a:rPr lang="en-GB" sz="1300" b="1" dirty="0" err="1"/>
              <a:t>marka</a:t>
            </a:r>
            <a:r>
              <a:rPr lang="en-GB" sz="1300" b="1" dirty="0"/>
              <a:t>)</a:t>
            </a:r>
          </a:p>
          <a:p>
            <a:pPr marL="0" indent="0">
              <a:buNone/>
            </a:pPr>
            <a:r>
              <a:rPr lang="en-GB" sz="1300" b="1" dirty="0"/>
              <a:t>        </a:t>
            </a:r>
            <a:r>
              <a:rPr lang="en-GB" sz="1300" b="1" dirty="0" err="1"/>
              <a:t>self.megapikseli</a:t>
            </a:r>
            <a:r>
              <a:rPr lang="en-GB" sz="1300" b="1" dirty="0"/>
              <a:t> = </a:t>
            </a:r>
            <a:r>
              <a:rPr lang="en-GB" sz="1300" b="1" dirty="0" err="1"/>
              <a:t>megapikseli</a:t>
            </a:r>
            <a:endParaRPr lang="en-GB" sz="1300" b="1" dirty="0"/>
          </a:p>
          <a:p>
            <a:pPr marL="0" indent="0">
              <a:buNone/>
            </a:pPr>
            <a:endParaRPr lang="en-GB" sz="500" b="1" dirty="0"/>
          </a:p>
          <a:p>
            <a:pPr marL="0" indent="0">
              <a:buNone/>
            </a:pPr>
            <a:r>
              <a:rPr lang="sr-Latn-RS" sz="1300" b="1" dirty="0" smtClean="0"/>
              <a:t>   </a:t>
            </a:r>
            <a:r>
              <a:rPr lang="en-GB" sz="1300" b="1" dirty="0" err="1" smtClean="0"/>
              <a:t>def</a:t>
            </a:r>
            <a:r>
              <a:rPr lang="en-GB" sz="1300" b="1" dirty="0" smtClean="0"/>
              <a:t> </a:t>
            </a:r>
            <a:r>
              <a:rPr lang="en-GB" sz="1300" b="1" dirty="0" err="1" smtClean="0"/>
              <a:t>pozovi</a:t>
            </a:r>
            <a:r>
              <a:rPr lang="en-GB" sz="1300" b="1" dirty="0" smtClean="0"/>
              <a:t>(self, </a:t>
            </a:r>
            <a:r>
              <a:rPr lang="en-GB" sz="1300" b="1" dirty="0" err="1" smtClean="0"/>
              <a:t>broj</a:t>
            </a:r>
            <a:r>
              <a:rPr lang="en-GB" sz="1300" b="1" dirty="0" smtClean="0"/>
              <a:t>):</a:t>
            </a:r>
            <a:r>
              <a:rPr lang="sr-Latn-RS" sz="1300" b="1" dirty="0" smtClean="0"/>
              <a:t>    </a:t>
            </a:r>
            <a:r>
              <a:rPr lang="pl-PL" sz="1300" b="1" dirty="0">
                <a:solidFill>
                  <a:srgbClr val="00B050"/>
                </a:solidFill>
              </a:rPr>
              <a:t># OVERRIDING: Pametni telefon poziva na napredniji način</a:t>
            </a:r>
            <a:endParaRPr lang="en-GB" sz="13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1300" b="1" dirty="0" smtClean="0"/>
              <a:t>        </a:t>
            </a:r>
            <a:r>
              <a:rPr lang="en-GB" sz="1300" b="1" dirty="0" err="1"/>
              <a:t>opcija</a:t>
            </a:r>
            <a:r>
              <a:rPr lang="en-GB" sz="1300" b="1" dirty="0"/>
              <a:t> = input(</a:t>
            </a:r>
            <a:r>
              <a:rPr lang="en-GB" sz="1300" b="1" dirty="0" err="1"/>
              <a:t>f"Želite</a:t>
            </a:r>
            <a:r>
              <a:rPr lang="en-GB" sz="1300" b="1" dirty="0"/>
              <a:t> li (1) </a:t>
            </a:r>
            <a:r>
              <a:rPr lang="en-GB" sz="1300" b="1" dirty="0" err="1"/>
              <a:t>Običan</a:t>
            </a:r>
            <a:r>
              <a:rPr lang="en-GB" sz="1300" b="1" dirty="0"/>
              <a:t> </a:t>
            </a:r>
            <a:r>
              <a:rPr lang="en-GB" sz="1300" b="1" dirty="0" err="1"/>
              <a:t>poziv</a:t>
            </a:r>
            <a:r>
              <a:rPr lang="en-GB" sz="1300" b="1" dirty="0"/>
              <a:t> </a:t>
            </a:r>
            <a:r>
              <a:rPr lang="en-GB" sz="1300" b="1" dirty="0" err="1"/>
              <a:t>ili</a:t>
            </a:r>
            <a:r>
              <a:rPr lang="en-GB" sz="1300" b="1" dirty="0"/>
              <a:t> (2) Video </a:t>
            </a:r>
            <a:r>
              <a:rPr lang="en-GB" sz="1300" b="1" dirty="0" err="1"/>
              <a:t>poziv</a:t>
            </a:r>
            <a:r>
              <a:rPr lang="en-GB" sz="1300" b="1" dirty="0"/>
              <a:t> </a:t>
            </a:r>
            <a:r>
              <a:rPr lang="en-GB" sz="1300" b="1" dirty="0" err="1"/>
              <a:t>za</a:t>
            </a:r>
            <a:r>
              <a:rPr lang="en-GB" sz="1300" b="1" dirty="0"/>
              <a:t> </a:t>
            </a:r>
            <a:r>
              <a:rPr lang="en-GB" sz="1300" b="1" dirty="0" err="1"/>
              <a:t>broj</a:t>
            </a:r>
            <a:r>
              <a:rPr lang="en-GB" sz="1300" b="1" dirty="0"/>
              <a:t> {</a:t>
            </a:r>
            <a:r>
              <a:rPr lang="en-GB" sz="1300" b="1" dirty="0" err="1"/>
              <a:t>broj</a:t>
            </a:r>
            <a:r>
              <a:rPr lang="en-GB" sz="1300" b="1" dirty="0"/>
              <a:t>}? ")</a:t>
            </a:r>
          </a:p>
          <a:p>
            <a:pPr marL="0" indent="0">
              <a:buNone/>
            </a:pPr>
            <a:r>
              <a:rPr lang="en-GB" sz="1300" b="1" dirty="0"/>
              <a:t>        if </a:t>
            </a:r>
            <a:r>
              <a:rPr lang="en-GB" sz="1300" b="1" dirty="0" err="1"/>
              <a:t>opcija</a:t>
            </a:r>
            <a:r>
              <a:rPr lang="en-GB" sz="1300" b="1" dirty="0"/>
              <a:t> == "2":</a:t>
            </a:r>
          </a:p>
          <a:p>
            <a:pPr marL="0" indent="0">
              <a:buNone/>
            </a:pPr>
            <a:r>
              <a:rPr lang="en-GB" sz="1300" b="1" dirty="0"/>
              <a:t>            print(</a:t>
            </a:r>
            <a:r>
              <a:rPr lang="en-GB" sz="1300" b="1" dirty="0" err="1"/>
              <a:t>f"Uključujem</a:t>
            </a:r>
            <a:r>
              <a:rPr lang="en-GB" sz="1300" b="1" dirty="0"/>
              <a:t> </a:t>
            </a:r>
            <a:r>
              <a:rPr lang="en-GB" sz="1300" b="1" dirty="0" err="1"/>
              <a:t>kameru</a:t>
            </a:r>
            <a:r>
              <a:rPr lang="en-GB" sz="1300" b="1" dirty="0"/>
              <a:t> od {</a:t>
            </a:r>
            <a:r>
              <a:rPr lang="en-GB" sz="1300" b="1" dirty="0" err="1"/>
              <a:t>self.megapikseli</a:t>
            </a:r>
            <a:r>
              <a:rPr lang="en-GB" sz="1300" b="1" dirty="0"/>
              <a:t>}</a:t>
            </a:r>
            <a:r>
              <a:rPr lang="en-GB" sz="1300" b="1" dirty="0" err="1"/>
              <a:t>MPx</a:t>
            </a:r>
            <a:r>
              <a:rPr lang="en-GB" sz="1300" b="1" dirty="0"/>
              <a:t>... </a:t>
            </a:r>
            <a:r>
              <a:rPr lang="en-GB" sz="1300" b="1" dirty="0" err="1"/>
              <a:t>Pokrećem</a:t>
            </a:r>
            <a:r>
              <a:rPr lang="en-GB" sz="1300" b="1" dirty="0"/>
              <a:t> video </a:t>
            </a:r>
            <a:r>
              <a:rPr lang="en-GB" sz="1300" b="1" dirty="0" err="1"/>
              <a:t>poziv</a:t>
            </a:r>
            <a:r>
              <a:rPr lang="en-GB" sz="1300" b="1" dirty="0"/>
              <a:t>.")</a:t>
            </a:r>
          </a:p>
          <a:p>
            <a:pPr marL="0" indent="0">
              <a:buNone/>
            </a:pPr>
            <a:r>
              <a:rPr lang="en-GB" sz="1300" b="1" dirty="0"/>
              <a:t>        else:</a:t>
            </a:r>
          </a:p>
          <a:p>
            <a:pPr marL="0" indent="0">
              <a:buNone/>
            </a:pPr>
            <a:r>
              <a:rPr lang="sr-Latn-RS" sz="1300" b="1" dirty="0" smtClean="0"/>
              <a:t>            </a:t>
            </a:r>
            <a:r>
              <a:rPr lang="en-GB" sz="1300" b="1" dirty="0" smtClean="0"/>
              <a:t>super</a:t>
            </a:r>
            <a:r>
              <a:rPr lang="en-GB" sz="1300" b="1" dirty="0"/>
              <a:t>().</a:t>
            </a:r>
            <a:r>
              <a:rPr lang="en-GB" sz="1300" b="1" dirty="0" err="1"/>
              <a:t>pozovi</a:t>
            </a:r>
            <a:r>
              <a:rPr lang="en-GB" sz="1300" b="1" dirty="0"/>
              <a:t>(</a:t>
            </a:r>
            <a:r>
              <a:rPr lang="en-GB" sz="1300" b="1" dirty="0" err="1"/>
              <a:t>broj</a:t>
            </a:r>
            <a:r>
              <a:rPr lang="en-GB" sz="1300" b="1" dirty="0" smtClean="0"/>
              <a:t>)</a:t>
            </a:r>
            <a:r>
              <a:rPr lang="en-GB" sz="1300" b="1" dirty="0"/>
              <a:t> </a:t>
            </a:r>
            <a:r>
              <a:rPr lang="sr-Latn-RS" sz="1300" b="1" dirty="0" smtClean="0"/>
              <a:t>  </a:t>
            </a:r>
            <a:r>
              <a:rPr lang="en-GB" sz="1300" b="1" dirty="0" smtClean="0">
                <a:solidFill>
                  <a:srgbClr val="00B050"/>
                </a:solidFill>
              </a:rPr>
              <a:t># </a:t>
            </a:r>
            <a:r>
              <a:rPr lang="en-GB" sz="1300" b="1" dirty="0">
                <a:solidFill>
                  <a:srgbClr val="00B050"/>
                </a:solidFill>
              </a:rPr>
              <a:t>Ne </a:t>
            </a:r>
            <a:r>
              <a:rPr lang="en-GB" sz="1300" b="1" dirty="0" err="1">
                <a:solidFill>
                  <a:srgbClr val="00B050"/>
                </a:solidFill>
              </a:rPr>
              <a:t>moramo</a:t>
            </a:r>
            <a:r>
              <a:rPr lang="en-GB" sz="1300" b="1" dirty="0">
                <a:solidFill>
                  <a:srgbClr val="00B050"/>
                </a:solidFill>
              </a:rPr>
              <a:t> </a:t>
            </a:r>
            <a:r>
              <a:rPr lang="en-GB" sz="1300" b="1" dirty="0" err="1">
                <a:solidFill>
                  <a:srgbClr val="00B050"/>
                </a:solidFill>
              </a:rPr>
              <a:t>ponovo</a:t>
            </a:r>
            <a:r>
              <a:rPr lang="en-GB" sz="1300" b="1" dirty="0">
                <a:solidFill>
                  <a:srgbClr val="00B050"/>
                </a:solidFill>
              </a:rPr>
              <a:t> da </a:t>
            </a:r>
            <a:r>
              <a:rPr lang="en-GB" sz="1300" b="1" dirty="0" err="1">
                <a:solidFill>
                  <a:srgbClr val="00B050"/>
                </a:solidFill>
              </a:rPr>
              <a:t>pišemo</a:t>
            </a:r>
            <a:r>
              <a:rPr lang="en-GB" sz="1300" b="1" dirty="0">
                <a:solidFill>
                  <a:srgbClr val="00B050"/>
                </a:solidFill>
              </a:rPr>
              <a:t> "</a:t>
            </a:r>
            <a:r>
              <a:rPr lang="en-GB" sz="1300" b="1" dirty="0" err="1">
                <a:solidFill>
                  <a:srgbClr val="00B050"/>
                </a:solidFill>
              </a:rPr>
              <a:t>Povezivanje</a:t>
            </a:r>
            <a:r>
              <a:rPr lang="en-GB" sz="1300" b="1" dirty="0">
                <a:solidFill>
                  <a:srgbClr val="00B050"/>
                </a:solidFill>
              </a:rPr>
              <a:t>...", </a:t>
            </a:r>
            <a:r>
              <a:rPr lang="en-GB" sz="1300" b="1" dirty="0" err="1">
                <a:solidFill>
                  <a:srgbClr val="00B050"/>
                </a:solidFill>
              </a:rPr>
              <a:t>pozovemo</a:t>
            </a:r>
            <a:r>
              <a:rPr lang="en-GB" sz="1300" b="1" dirty="0">
                <a:solidFill>
                  <a:srgbClr val="00B050"/>
                </a:solidFill>
              </a:rPr>
              <a:t> </a:t>
            </a:r>
            <a:r>
              <a:rPr lang="en-GB" sz="1300" b="1" dirty="0" err="1">
                <a:solidFill>
                  <a:srgbClr val="00B050"/>
                </a:solidFill>
              </a:rPr>
              <a:t>roditelja</a:t>
            </a:r>
            <a:r>
              <a:rPr lang="en-GB" sz="1300" b="1" dirty="0">
                <a:solidFill>
                  <a:srgbClr val="00B050"/>
                </a:solidFill>
              </a:rPr>
              <a:t> da to </a:t>
            </a:r>
            <a:r>
              <a:rPr lang="en-GB" sz="1300" b="1" dirty="0" err="1">
                <a:solidFill>
                  <a:srgbClr val="00B050"/>
                </a:solidFill>
              </a:rPr>
              <a:t>uradi</a:t>
            </a:r>
            <a:endParaRPr lang="en-GB" sz="13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500" b="1" dirty="0"/>
              <a:t>            </a:t>
            </a:r>
          </a:p>
          <a:p>
            <a:pPr marL="0" indent="0">
              <a:buNone/>
            </a:pPr>
            <a:r>
              <a:rPr lang="en-GB" sz="1300" b="1" dirty="0" err="1"/>
              <a:t>marka_stari</a:t>
            </a:r>
            <a:r>
              <a:rPr lang="en-GB" sz="1300" b="1" dirty="0"/>
              <a:t> = input("</a:t>
            </a:r>
            <a:r>
              <a:rPr lang="en-GB" sz="1300" b="1" dirty="0" err="1"/>
              <a:t>Unesite</a:t>
            </a:r>
            <a:r>
              <a:rPr lang="en-GB" sz="1300" b="1" dirty="0"/>
              <a:t> </a:t>
            </a:r>
            <a:r>
              <a:rPr lang="en-GB" sz="1300" b="1" dirty="0" err="1"/>
              <a:t>marku</a:t>
            </a:r>
            <a:r>
              <a:rPr lang="en-GB" sz="1300" b="1" dirty="0"/>
              <a:t> </a:t>
            </a:r>
            <a:r>
              <a:rPr lang="en-GB" sz="1300" b="1" dirty="0" err="1"/>
              <a:t>starog</a:t>
            </a:r>
            <a:r>
              <a:rPr lang="en-GB" sz="1300" b="1" dirty="0"/>
              <a:t> </a:t>
            </a:r>
            <a:r>
              <a:rPr lang="en-GB" sz="1300" b="1" dirty="0" err="1"/>
              <a:t>telefona</a:t>
            </a:r>
            <a:r>
              <a:rPr lang="en-GB" sz="1300" b="1" dirty="0"/>
              <a:t>: ")</a:t>
            </a:r>
          </a:p>
          <a:p>
            <a:pPr marL="0" indent="0">
              <a:buNone/>
            </a:pPr>
            <a:r>
              <a:rPr lang="en-GB" sz="1300" b="1" dirty="0" err="1"/>
              <a:t>marka_novi</a:t>
            </a:r>
            <a:r>
              <a:rPr lang="en-GB" sz="1300" b="1" dirty="0"/>
              <a:t> = input("</a:t>
            </a:r>
            <a:r>
              <a:rPr lang="en-GB" sz="1300" b="1" dirty="0" err="1"/>
              <a:t>Unesite</a:t>
            </a:r>
            <a:r>
              <a:rPr lang="en-GB" sz="1300" b="1" dirty="0"/>
              <a:t> </a:t>
            </a:r>
            <a:r>
              <a:rPr lang="en-GB" sz="1300" b="1" dirty="0" err="1"/>
              <a:t>marku</a:t>
            </a:r>
            <a:r>
              <a:rPr lang="en-GB" sz="1300" b="1" dirty="0"/>
              <a:t> </a:t>
            </a:r>
            <a:r>
              <a:rPr lang="en-GB" sz="1300" b="1" dirty="0" err="1"/>
              <a:t>novog</a:t>
            </a:r>
            <a:r>
              <a:rPr lang="en-GB" sz="1300" b="1" dirty="0"/>
              <a:t> </a:t>
            </a:r>
            <a:r>
              <a:rPr lang="en-GB" sz="1300" b="1" dirty="0" err="1"/>
              <a:t>telefona</a:t>
            </a:r>
            <a:r>
              <a:rPr lang="en-GB" sz="1300" b="1" dirty="0"/>
              <a:t>: ")</a:t>
            </a:r>
          </a:p>
          <a:p>
            <a:pPr marL="0" indent="0">
              <a:buNone/>
            </a:pPr>
            <a:r>
              <a:rPr lang="en-GB" sz="1300" b="1" dirty="0" err="1"/>
              <a:t>megapikseli</a:t>
            </a:r>
            <a:r>
              <a:rPr lang="en-GB" sz="1300" b="1" dirty="0"/>
              <a:t> = </a:t>
            </a:r>
            <a:r>
              <a:rPr lang="en-GB" sz="1300" b="1" dirty="0" err="1"/>
              <a:t>int</a:t>
            </a:r>
            <a:r>
              <a:rPr lang="en-GB" sz="1300" b="1" dirty="0"/>
              <a:t>(input("</a:t>
            </a:r>
            <a:r>
              <a:rPr lang="en-GB" sz="1300" b="1" dirty="0" err="1"/>
              <a:t>Koliko</a:t>
            </a:r>
            <a:r>
              <a:rPr lang="en-GB" sz="1300" b="1" dirty="0"/>
              <a:t> </a:t>
            </a:r>
            <a:r>
              <a:rPr lang="en-GB" sz="1300" b="1" dirty="0" err="1"/>
              <a:t>megapiksela</a:t>
            </a:r>
            <a:r>
              <a:rPr lang="en-GB" sz="1300" b="1" dirty="0"/>
              <a:t> </a:t>
            </a:r>
            <a:r>
              <a:rPr lang="en-GB" sz="1300" b="1" dirty="0" err="1"/>
              <a:t>ima</a:t>
            </a:r>
            <a:r>
              <a:rPr lang="en-GB" sz="1300" b="1" dirty="0"/>
              <a:t> </a:t>
            </a:r>
            <a:r>
              <a:rPr lang="en-GB" sz="1300" b="1" dirty="0" err="1"/>
              <a:t>kamera</a:t>
            </a:r>
            <a:r>
              <a:rPr lang="en-GB" sz="1300" b="1" dirty="0"/>
              <a:t>? "))</a:t>
            </a:r>
          </a:p>
          <a:p>
            <a:pPr marL="0" indent="0">
              <a:buNone/>
            </a:pPr>
            <a:r>
              <a:rPr lang="en-GB" sz="1300" b="1" dirty="0" err="1"/>
              <a:t>broj</a:t>
            </a:r>
            <a:r>
              <a:rPr lang="en-GB" sz="1300" b="1" dirty="0"/>
              <a:t> = input("</a:t>
            </a:r>
            <a:r>
              <a:rPr lang="en-GB" sz="1300" b="1" dirty="0" err="1"/>
              <a:t>Unesite</a:t>
            </a:r>
            <a:r>
              <a:rPr lang="en-GB" sz="1300" b="1" dirty="0"/>
              <a:t> </a:t>
            </a:r>
            <a:r>
              <a:rPr lang="en-GB" sz="1300" b="1" dirty="0" err="1"/>
              <a:t>broj</a:t>
            </a:r>
            <a:r>
              <a:rPr lang="en-GB" sz="1300" b="1" dirty="0"/>
              <a:t> </a:t>
            </a:r>
            <a:r>
              <a:rPr lang="en-GB" sz="1300" b="1" dirty="0" err="1"/>
              <a:t>telefona</a:t>
            </a:r>
            <a:r>
              <a:rPr lang="en-GB" sz="1300" b="1" dirty="0"/>
              <a:t> </a:t>
            </a:r>
            <a:r>
              <a:rPr lang="en-GB" sz="1300" b="1" dirty="0" err="1"/>
              <a:t>koji</a:t>
            </a:r>
            <a:r>
              <a:rPr lang="en-GB" sz="1300" b="1" dirty="0"/>
              <a:t> </a:t>
            </a:r>
            <a:r>
              <a:rPr lang="en-GB" sz="1300" b="1" dirty="0" err="1"/>
              <a:t>zovete</a:t>
            </a:r>
            <a:r>
              <a:rPr lang="en-GB" sz="1300" b="1" dirty="0"/>
              <a:t>: ")</a:t>
            </a:r>
          </a:p>
          <a:p>
            <a:pPr marL="0" indent="0">
              <a:buNone/>
            </a:pPr>
            <a:r>
              <a:rPr lang="en-GB" sz="1300" b="1" dirty="0" err="1"/>
              <a:t>stari</a:t>
            </a:r>
            <a:r>
              <a:rPr lang="en-GB" sz="1300" b="1" dirty="0"/>
              <a:t> = </a:t>
            </a:r>
            <a:r>
              <a:rPr lang="en-GB" sz="1300" b="1" dirty="0" err="1"/>
              <a:t>Telefon</a:t>
            </a:r>
            <a:r>
              <a:rPr lang="en-GB" sz="1300" b="1" dirty="0"/>
              <a:t>(</a:t>
            </a:r>
            <a:r>
              <a:rPr lang="en-GB" sz="1300" b="1" dirty="0" err="1"/>
              <a:t>marka_stari</a:t>
            </a:r>
            <a:r>
              <a:rPr lang="en-GB" sz="1300" b="1" dirty="0"/>
              <a:t>)</a:t>
            </a:r>
          </a:p>
          <a:p>
            <a:pPr marL="0" indent="0">
              <a:buNone/>
            </a:pPr>
            <a:r>
              <a:rPr lang="en-GB" sz="1300" b="1" dirty="0" err="1"/>
              <a:t>novi</a:t>
            </a:r>
            <a:r>
              <a:rPr lang="en-GB" sz="1300" b="1" dirty="0"/>
              <a:t> = </a:t>
            </a:r>
            <a:r>
              <a:rPr lang="en-GB" sz="1300" b="1" dirty="0" err="1"/>
              <a:t>Smartfon</a:t>
            </a:r>
            <a:r>
              <a:rPr lang="en-GB" sz="1300" b="1" dirty="0"/>
              <a:t>(</a:t>
            </a:r>
            <a:r>
              <a:rPr lang="en-GB" sz="1300" b="1" dirty="0" err="1"/>
              <a:t>marka_novi</a:t>
            </a:r>
            <a:r>
              <a:rPr lang="en-GB" sz="1300" b="1" dirty="0"/>
              <a:t>, </a:t>
            </a:r>
            <a:r>
              <a:rPr lang="en-GB" sz="1300" b="1" dirty="0" err="1"/>
              <a:t>megapikseli</a:t>
            </a:r>
            <a:r>
              <a:rPr lang="en-GB" sz="1300" b="1" dirty="0"/>
              <a:t>)</a:t>
            </a:r>
          </a:p>
          <a:p>
            <a:pPr marL="0" indent="0">
              <a:buNone/>
            </a:pPr>
            <a:endParaRPr lang="en-GB" sz="500" b="1" dirty="0"/>
          </a:p>
          <a:p>
            <a:pPr marL="0" indent="0">
              <a:buNone/>
            </a:pPr>
            <a:r>
              <a:rPr lang="en-GB" sz="1300" b="1" dirty="0"/>
              <a:t>print("\</a:t>
            </a:r>
            <a:r>
              <a:rPr lang="en-GB" sz="1300" b="1" dirty="0" err="1"/>
              <a:t>nTest</a:t>
            </a:r>
            <a:r>
              <a:rPr lang="en-GB" sz="1300" b="1" dirty="0"/>
              <a:t> </a:t>
            </a:r>
            <a:r>
              <a:rPr lang="en-GB" sz="1300" b="1" dirty="0" err="1"/>
              <a:t>starog</a:t>
            </a:r>
            <a:r>
              <a:rPr lang="en-GB" sz="1300" b="1" dirty="0"/>
              <a:t> </a:t>
            </a:r>
            <a:r>
              <a:rPr lang="en-GB" sz="1300" b="1" dirty="0" err="1"/>
              <a:t>telefona</a:t>
            </a:r>
            <a:r>
              <a:rPr lang="en-GB" sz="1300" b="1" dirty="0"/>
              <a:t>:")</a:t>
            </a:r>
          </a:p>
          <a:p>
            <a:pPr marL="0" indent="0">
              <a:buNone/>
            </a:pPr>
            <a:r>
              <a:rPr lang="en-GB" sz="1300" b="1" dirty="0" err="1"/>
              <a:t>stari.pozovi</a:t>
            </a:r>
            <a:r>
              <a:rPr lang="en-GB" sz="1300" b="1" dirty="0"/>
              <a:t>(</a:t>
            </a:r>
            <a:r>
              <a:rPr lang="en-GB" sz="1300" b="1" dirty="0" err="1"/>
              <a:t>broj</a:t>
            </a:r>
            <a:r>
              <a:rPr lang="en-GB" sz="1300" b="1" dirty="0"/>
              <a:t>) </a:t>
            </a:r>
          </a:p>
          <a:p>
            <a:pPr marL="0" indent="0">
              <a:buNone/>
            </a:pPr>
            <a:endParaRPr lang="en-GB" sz="500" b="1" dirty="0"/>
          </a:p>
          <a:p>
            <a:pPr marL="0" indent="0">
              <a:buNone/>
            </a:pPr>
            <a:r>
              <a:rPr lang="en-GB" sz="1300" b="1" dirty="0"/>
              <a:t>print("\</a:t>
            </a:r>
            <a:r>
              <a:rPr lang="en-GB" sz="1300" b="1" dirty="0" err="1"/>
              <a:t>nTest</a:t>
            </a:r>
            <a:r>
              <a:rPr lang="en-GB" sz="1300" b="1" dirty="0"/>
              <a:t> </a:t>
            </a:r>
            <a:r>
              <a:rPr lang="en-GB" sz="1300" b="1" dirty="0" err="1"/>
              <a:t>pametnog</a:t>
            </a:r>
            <a:r>
              <a:rPr lang="en-GB" sz="1300" b="1" dirty="0"/>
              <a:t> </a:t>
            </a:r>
            <a:r>
              <a:rPr lang="en-GB" sz="1300" b="1" dirty="0" err="1"/>
              <a:t>telefona</a:t>
            </a:r>
            <a:r>
              <a:rPr lang="en-GB" sz="1300" b="1" dirty="0"/>
              <a:t>:")</a:t>
            </a:r>
          </a:p>
          <a:p>
            <a:pPr marL="0" indent="0">
              <a:buNone/>
            </a:pPr>
            <a:r>
              <a:rPr lang="en-GB" sz="1300" b="1" dirty="0" err="1"/>
              <a:t>novi.pozovi</a:t>
            </a:r>
            <a:r>
              <a:rPr lang="en-GB" sz="1300" b="1" dirty="0"/>
              <a:t>(</a:t>
            </a:r>
            <a:r>
              <a:rPr lang="en-GB" sz="1300" b="1" dirty="0" err="1"/>
              <a:t>broj</a:t>
            </a:r>
            <a:r>
              <a:rPr lang="en-GB" sz="1300" b="1" dirty="0"/>
              <a:t>)</a:t>
            </a:r>
            <a:endParaRPr lang="en-GB" sz="1300" b="1" dirty="0" smtClean="0"/>
          </a:p>
        </p:txBody>
      </p:sp>
    </p:spTree>
    <p:extLst>
      <p:ext uri="{BB962C8B-B14F-4D97-AF65-F5344CB8AC3E}">
        <p14:creationId xmlns:p14="http://schemas.microsoft.com/office/powerpoint/2010/main" val="133245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01376"/>
            <a:ext cx="9216008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2400" b="1" dirty="0" smtClean="0"/>
              <a:t>Domaći zadatak:</a:t>
            </a:r>
            <a:endParaRPr lang="en-GB" sz="2400" b="1" dirty="0" smtClean="0"/>
          </a:p>
          <a:p>
            <a:r>
              <a:rPr lang="sr-Latn-RS" sz="2300" dirty="0" smtClean="0"/>
              <a:t>Ti si sada </a:t>
            </a:r>
            <a:r>
              <a:rPr lang="en-US" sz="2300" dirty="0" smtClean="0"/>
              <a:t>"</a:t>
            </a:r>
            <a:r>
              <a:rPr lang="en-US" sz="2300" dirty="0" err="1" smtClean="0"/>
              <a:t>softverski</a:t>
            </a:r>
            <a:r>
              <a:rPr lang="en-US" sz="2300" dirty="0" smtClean="0"/>
              <a:t> </a:t>
            </a:r>
            <a:r>
              <a:rPr lang="en-US" sz="2300" dirty="0" err="1" smtClean="0"/>
              <a:t>inženjer</a:t>
            </a:r>
            <a:r>
              <a:rPr lang="en-US" sz="2300" dirty="0" smtClean="0"/>
              <a:t>" </a:t>
            </a:r>
            <a:r>
              <a:rPr lang="en-US" sz="2300" dirty="0"/>
              <a:t>u </a:t>
            </a:r>
            <a:r>
              <a:rPr lang="en-US" sz="2300" dirty="0" err="1"/>
              <a:t>kompaniji</a:t>
            </a:r>
            <a:r>
              <a:rPr lang="en-US" sz="2300" dirty="0"/>
              <a:t> Sony </a:t>
            </a:r>
            <a:r>
              <a:rPr lang="en-US" sz="2300" dirty="0" err="1"/>
              <a:t>ili</a:t>
            </a:r>
            <a:r>
              <a:rPr lang="en-US" sz="2300" dirty="0"/>
              <a:t> Microsoft i </a:t>
            </a:r>
            <a:r>
              <a:rPr lang="sr-Latn-RS" sz="2300" dirty="0" smtClean="0"/>
              <a:t>tvoj </a:t>
            </a:r>
            <a:r>
              <a:rPr lang="en-US" sz="2300" dirty="0" err="1" smtClean="0"/>
              <a:t>posao</a:t>
            </a:r>
            <a:r>
              <a:rPr lang="en-US" sz="2300" dirty="0" smtClean="0"/>
              <a:t> je</a:t>
            </a:r>
            <a:r>
              <a:rPr lang="sr-Latn-RS" sz="2300" dirty="0" smtClean="0"/>
              <a:t> </a:t>
            </a:r>
            <a:r>
              <a:rPr lang="en-US" sz="2300" dirty="0" smtClean="0"/>
              <a:t>da </a:t>
            </a:r>
            <a:r>
              <a:rPr lang="en-US" sz="2300" dirty="0" err="1" smtClean="0"/>
              <a:t>modernizuj</a:t>
            </a:r>
            <a:r>
              <a:rPr lang="sr-Latn-RS" sz="2300" dirty="0" smtClean="0"/>
              <a:t>eš</a:t>
            </a:r>
            <a:r>
              <a:rPr lang="en-US" sz="2300" dirty="0" smtClean="0"/>
              <a:t> </a:t>
            </a:r>
            <a:r>
              <a:rPr lang="en-US" sz="2300" dirty="0" err="1"/>
              <a:t>stari</a:t>
            </a:r>
            <a:r>
              <a:rPr lang="en-US" sz="2300" dirty="0"/>
              <a:t> </a:t>
            </a:r>
            <a:r>
              <a:rPr lang="en-US" sz="2300" dirty="0" err="1" smtClean="0"/>
              <a:t>kôd</a:t>
            </a:r>
            <a:r>
              <a:rPr lang="en-US" sz="2300" dirty="0" smtClean="0"/>
              <a:t>.</a:t>
            </a:r>
            <a:r>
              <a:rPr lang="sr-Latn-RS" sz="2300" dirty="0" smtClean="0"/>
              <a:t> </a:t>
            </a:r>
            <a:r>
              <a:rPr lang="en-US" sz="2300" dirty="0" err="1"/>
              <a:t>Imamo</a:t>
            </a:r>
            <a:r>
              <a:rPr lang="en-US" sz="2300" dirty="0"/>
              <a:t> </a:t>
            </a:r>
            <a:r>
              <a:rPr lang="en-US" sz="2300" dirty="0" err="1"/>
              <a:t>osnovnu</a:t>
            </a:r>
            <a:r>
              <a:rPr lang="en-US" sz="2300" dirty="0"/>
              <a:t> </a:t>
            </a:r>
            <a:r>
              <a:rPr lang="en-US" sz="2300" dirty="0" err="1"/>
              <a:t>klasu</a:t>
            </a:r>
            <a:r>
              <a:rPr lang="en-US" sz="2300" dirty="0"/>
              <a:t> </a:t>
            </a:r>
            <a:r>
              <a:rPr lang="en-US" sz="2300" b="1" dirty="0" err="1"/>
              <a:t>Konzola</a:t>
            </a:r>
            <a:r>
              <a:rPr lang="en-US" sz="2300" dirty="0"/>
              <a:t> </a:t>
            </a:r>
            <a:r>
              <a:rPr lang="en-US" sz="2300" dirty="0" err="1"/>
              <a:t>koju</a:t>
            </a:r>
            <a:r>
              <a:rPr lang="en-US" sz="2300" dirty="0"/>
              <a:t> </a:t>
            </a:r>
            <a:r>
              <a:rPr lang="en-US" sz="2300" dirty="0" err="1"/>
              <a:t>su</a:t>
            </a:r>
            <a:r>
              <a:rPr lang="en-US" sz="2300" dirty="0"/>
              <a:t> </a:t>
            </a:r>
            <a:r>
              <a:rPr lang="en-US" sz="2300" dirty="0" err="1"/>
              <a:t>koristili</a:t>
            </a:r>
            <a:r>
              <a:rPr lang="en-US" sz="2300" dirty="0"/>
              <a:t> </a:t>
            </a:r>
            <a:r>
              <a:rPr lang="en-US" sz="2300" dirty="0" err="1"/>
              <a:t>tvoji</a:t>
            </a:r>
            <a:r>
              <a:rPr lang="en-US" sz="2300" dirty="0"/>
              <a:t> </a:t>
            </a:r>
            <a:r>
              <a:rPr lang="sr-Latn-RS" sz="2300" dirty="0" smtClean="0"/>
              <a:t>mama i tata kad su bili mali</a:t>
            </a:r>
            <a:r>
              <a:rPr lang="en-US" sz="2300" dirty="0" smtClean="0"/>
              <a:t>, </a:t>
            </a:r>
            <a:r>
              <a:rPr lang="en-US" sz="2300" dirty="0"/>
              <a:t>a </a:t>
            </a:r>
            <a:r>
              <a:rPr lang="en-US" sz="2300" dirty="0" err="1"/>
              <a:t>ti</a:t>
            </a:r>
            <a:r>
              <a:rPr lang="en-US" sz="2300" dirty="0"/>
              <a:t> </a:t>
            </a:r>
            <a:r>
              <a:rPr lang="sr-Latn-RS" sz="2300" dirty="0" smtClean="0"/>
              <a:t>nasleđivanjem </a:t>
            </a:r>
            <a:r>
              <a:rPr lang="en-US" sz="2300" dirty="0" err="1" smtClean="0"/>
              <a:t>treba</a:t>
            </a:r>
            <a:r>
              <a:rPr lang="en-US" sz="2300" dirty="0" smtClean="0"/>
              <a:t> da </a:t>
            </a:r>
            <a:r>
              <a:rPr lang="en-US" sz="2300" dirty="0" err="1"/>
              <a:t>napraviš</a:t>
            </a:r>
            <a:r>
              <a:rPr lang="en-US" sz="2300" dirty="0"/>
              <a:t> </a:t>
            </a:r>
            <a:r>
              <a:rPr lang="en-US" sz="2300" dirty="0" err="1"/>
              <a:t>klasu</a:t>
            </a:r>
            <a:r>
              <a:rPr lang="en-US" sz="2300" dirty="0"/>
              <a:t> </a:t>
            </a:r>
            <a:r>
              <a:rPr lang="en-US" sz="2300" b="1" dirty="0" err="1"/>
              <a:t>SuperKonzola</a:t>
            </a:r>
            <a:r>
              <a:rPr lang="en-US" sz="2300" dirty="0"/>
              <a:t> </a:t>
            </a:r>
            <a:r>
              <a:rPr lang="en-US" sz="2300" dirty="0" smtClean="0"/>
              <a:t>(</a:t>
            </a:r>
            <a:r>
              <a:rPr lang="sr-Latn-RS" sz="2300" dirty="0" smtClean="0"/>
              <a:t>za </a:t>
            </a:r>
            <a:r>
              <a:rPr lang="en-US" sz="2300" dirty="0" smtClean="0"/>
              <a:t>PS5 </a:t>
            </a:r>
            <a:r>
              <a:rPr lang="en-US" sz="2300" dirty="0" err="1"/>
              <a:t>ili</a:t>
            </a:r>
            <a:r>
              <a:rPr lang="en-US" sz="2300" dirty="0"/>
              <a:t> </a:t>
            </a:r>
            <a:r>
              <a:rPr lang="en-US" sz="2300" dirty="0" smtClean="0"/>
              <a:t>Xbox).</a:t>
            </a:r>
            <a:endParaRPr lang="sr-Latn-RS" sz="23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Roditeljska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klasa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Konzola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već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ima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</a:p>
          <a:p>
            <a:pPr lvl="1"/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Atribut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: </a:t>
            </a:r>
            <a:r>
              <a:rPr lang="en-US" sz="23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naziv</a:t>
            </a:r>
            <a:r>
              <a:rPr lang="sr-Latn-RS" sz="23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za naziv konzole</a:t>
            </a:r>
            <a:endParaRPr lang="en-US" sz="23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Metodu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 </a:t>
            </a:r>
            <a:r>
              <a:rPr lang="en-US" sz="23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pokreni_igru</a:t>
            </a:r>
            <a:r>
              <a:rPr lang="en-US" sz="23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(</a:t>
            </a:r>
            <a:r>
              <a:rPr lang="en-US" sz="23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ime_igre</a:t>
            </a:r>
            <a:r>
              <a:rPr lang="en-US" sz="23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koja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ispisuje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 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"{</a:t>
            </a:r>
            <a:r>
              <a:rPr lang="en-US" sz="23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self.naziv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} </a:t>
            </a:r>
            <a:r>
              <a:rPr lang="en-US" sz="23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Učitava</a:t>
            </a:r>
            <a:r>
              <a:rPr lang="en-US" sz="23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igru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{</a:t>
            </a:r>
            <a:r>
              <a:rPr lang="en-US" sz="23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ime_igre</a:t>
            </a:r>
            <a:r>
              <a:rPr lang="en-US" sz="23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} "</a:t>
            </a:r>
          </a:p>
          <a:p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Klasa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potomak</a:t>
            </a:r>
            <a:r>
              <a:rPr lang="en-US" sz="23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SuperKonzola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treba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 da:</a:t>
            </a:r>
          </a:p>
          <a:p>
            <a:pPr lvl="1"/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Doda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novi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atribut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: </a:t>
            </a:r>
            <a:r>
              <a:rPr lang="en-US" sz="23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kapacitet_diska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(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npr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. 500GB 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ili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 1TB).</a:t>
            </a:r>
          </a:p>
          <a:p>
            <a:pPr lvl="1"/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Uradi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OVERRIDE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metode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pokreni_igru</a:t>
            </a:r>
            <a:r>
              <a:rPr lang="sr-Latn-RS" sz="23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()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  <a:endParaRPr lang="en-US" sz="23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2"/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Prvo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treba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 da </a:t>
            </a:r>
            <a:r>
              <a:rPr lang="en-US" sz="23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ispiše</a:t>
            </a:r>
            <a:r>
              <a:rPr lang="en-US" sz="2300" dirty="0">
                <a:latin typeface="Calibri" pitchFamily="34" charset="0"/>
                <a:ea typeface="Calibri" pitchFamily="34" charset="0"/>
                <a:cs typeface="Calibri" pitchFamily="34" charset="0"/>
              </a:rPr>
              <a:t>: 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"</a:t>
            </a:r>
            <a:r>
              <a:rPr lang="en-US" sz="23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Proveravam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licencu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na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internetu</a:t>
            </a:r>
            <a:r>
              <a:rPr lang="en-US" sz="23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..."</a:t>
            </a:r>
            <a:endParaRPr lang="en-US" sz="23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2"/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Zatim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treba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da </a:t>
            </a:r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pozove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roditeljsku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metodu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(</a:t>
            </a:r>
            <a:r>
              <a:rPr lang="en-US" sz="23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pomoću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23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super()</a:t>
            </a:r>
            <a:r>
              <a:rPr lang="en-U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), a da </a:t>
            </a:r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ispiše i </a:t>
            </a:r>
            <a:r>
              <a:rPr lang="en-US" sz="22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"</a:t>
            </a:r>
            <a:r>
              <a:rPr lang="en-US" sz="22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Igra</a:t>
            </a:r>
            <a:r>
              <a:rPr lang="en-US" sz="22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2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se </a:t>
            </a:r>
            <a:r>
              <a:rPr lang="en-US" sz="22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pokreće</a:t>
            </a:r>
            <a:r>
              <a:rPr lang="en-US" sz="22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200" b="1" i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sa</a:t>
            </a:r>
            <a:r>
              <a:rPr lang="en-US" sz="22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 SSD-a </a:t>
            </a:r>
            <a:r>
              <a:rPr lang="en-US" sz="22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kapaciteta</a:t>
            </a:r>
            <a:r>
              <a:rPr lang="en-US" sz="22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{</a:t>
            </a:r>
            <a:r>
              <a:rPr lang="en-US" sz="2200" b="1" i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self.kapacitet_diska</a:t>
            </a:r>
            <a:r>
              <a:rPr lang="en-US" sz="2200" b="1" i="1" dirty="0">
                <a:latin typeface="Calibri" pitchFamily="34" charset="0"/>
                <a:ea typeface="Calibri" pitchFamily="34" charset="0"/>
                <a:cs typeface="Calibri" pitchFamily="34" charset="0"/>
              </a:rPr>
              <a:t>}".</a:t>
            </a:r>
            <a:endParaRPr lang="en-US" sz="2200" b="1" i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Glavni program pita samo za </a:t>
            </a:r>
            <a:r>
              <a:rPr lang="en-GB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super </a:t>
            </a:r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konzolu: </a:t>
            </a:r>
            <a:r>
              <a:rPr lang="sr-Latn-RS" sz="23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naziv konzole</a:t>
            </a:r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sr-Latn-RS" sz="23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kapacitet diska</a:t>
            </a:r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i </a:t>
            </a:r>
            <a:r>
              <a:rPr lang="sr-Latn-RS" sz="23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ime igre</a:t>
            </a:r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Zatim se instancira i</a:t>
            </a:r>
            <a:r>
              <a:rPr lang="sr-Latn-RS" sz="23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sr-Latn-RS" sz="23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koristi nova metoda.</a:t>
            </a:r>
            <a:endParaRPr lang="en-US" sz="23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4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sz="1600" b="1" u="sng" dirty="0" smtClean="0"/>
              <a:t>Rešenje:</a:t>
            </a:r>
          </a:p>
          <a:p>
            <a:pPr marL="0" indent="0">
              <a:buNone/>
            </a:pPr>
            <a:r>
              <a:rPr lang="en-US" sz="1600" b="1" dirty="0"/>
              <a:t>class </a:t>
            </a:r>
            <a:r>
              <a:rPr lang="en-US" sz="1600" b="1" dirty="0" err="1"/>
              <a:t>Konzola</a:t>
            </a:r>
            <a:r>
              <a:rPr lang="en-US" sz="1600" b="1" dirty="0"/>
              <a:t>:</a:t>
            </a:r>
          </a:p>
          <a:p>
            <a:pPr marL="0" indent="0">
              <a:buNone/>
            </a:pPr>
            <a:r>
              <a:rPr lang="en-US" sz="1600" b="1" dirty="0"/>
              <a:t>    </a:t>
            </a:r>
            <a:r>
              <a:rPr lang="en-US" sz="1600" b="1" dirty="0" err="1"/>
              <a:t>def</a:t>
            </a:r>
            <a:r>
              <a:rPr lang="en-US" sz="1600" b="1" dirty="0"/>
              <a:t> __</a:t>
            </a:r>
            <a:r>
              <a:rPr lang="en-US" sz="1600" b="1" dirty="0" err="1"/>
              <a:t>init</a:t>
            </a:r>
            <a:r>
              <a:rPr lang="en-US" sz="1600" b="1" dirty="0"/>
              <a:t>__(self, </a:t>
            </a:r>
            <a:r>
              <a:rPr lang="en-US" sz="1600" b="1" dirty="0" err="1"/>
              <a:t>naziv</a:t>
            </a:r>
            <a:r>
              <a:rPr lang="en-US" sz="1600" b="1" dirty="0"/>
              <a:t>):</a:t>
            </a:r>
          </a:p>
          <a:p>
            <a:pPr marL="0" indent="0">
              <a:buNone/>
            </a:pPr>
            <a:r>
              <a:rPr lang="en-US" sz="1600" b="1" dirty="0"/>
              <a:t>        </a:t>
            </a:r>
            <a:r>
              <a:rPr lang="en-US" sz="1600" b="1" dirty="0" err="1"/>
              <a:t>self.naziv</a:t>
            </a:r>
            <a:r>
              <a:rPr lang="en-US" sz="1600" b="1" dirty="0"/>
              <a:t> = </a:t>
            </a:r>
            <a:r>
              <a:rPr lang="en-US" sz="1600" b="1" dirty="0" err="1"/>
              <a:t>naziv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/>
            </a:r>
            <a:br>
              <a:rPr lang="en-US" sz="1600" b="1" dirty="0"/>
            </a:br>
            <a:r>
              <a:rPr lang="en-US" sz="1600" b="1" dirty="0"/>
              <a:t>    </a:t>
            </a:r>
            <a:r>
              <a:rPr lang="en-US" sz="1600" b="1" dirty="0" err="1"/>
              <a:t>def</a:t>
            </a:r>
            <a:r>
              <a:rPr lang="en-US" sz="1600" b="1" dirty="0"/>
              <a:t> </a:t>
            </a:r>
            <a:r>
              <a:rPr lang="en-US" sz="1600" b="1" dirty="0" err="1"/>
              <a:t>pokreni_igru</a:t>
            </a:r>
            <a:r>
              <a:rPr lang="en-US" sz="1600" b="1" dirty="0"/>
              <a:t>(self, </a:t>
            </a:r>
            <a:r>
              <a:rPr lang="en-US" sz="1600" b="1" dirty="0" err="1"/>
              <a:t>ime_igre</a:t>
            </a:r>
            <a:r>
              <a:rPr lang="en-US" sz="1600" b="1" dirty="0"/>
              <a:t>):</a:t>
            </a:r>
          </a:p>
          <a:p>
            <a:pPr marL="0" indent="0">
              <a:buNone/>
            </a:pPr>
            <a:r>
              <a:rPr lang="en-US" sz="1600" b="1" dirty="0"/>
              <a:t>        print(f"{</a:t>
            </a:r>
            <a:r>
              <a:rPr lang="en-US" sz="1600" b="1" dirty="0" err="1"/>
              <a:t>self.naziv</a:t>
            </a:r>
            <a:r>
              <a:rPr lang="en-US" sz="1600" b="1" dirty="0"/>
              <a:t>} </a:t>
            </a:r>
            <a:r>
              <a:rPr lang="en-US" sz="1600" b="1" dirty="0" err="1"/>
              <a:t>Učitava</a:t>
            </a:r>
            <a:r>
              <a:rPr lang="en-US" sz="1600" b="1" dirty="0"/>
              <a:t> </a:t>
            </a:r>
            <a:r>
              <a:rPr lang="en-US" sz="1600" b="1" dirty="0" err="1"/>
              <a:t>igru</a:t>
            </a:r>
            <a:r>
              <a:rPr lang="en-US" sz="1600" b="1" dirty="0"/>
              <a:t> {</a:t>
            </a:r>
            <a:r>
              <a:rPr lang="en-US" sz="1600" b="1" dirty="0" err="1"/>
              <a:t>ime_igre</a:t>
            </a:r>
            <a:r>
              <a:rPr lang="en-US" sz="1600" b="1" dirty="0"/>
              <a:t>}.")</a:t>
            </a:r>
          </a:p>
          <a:p>
            <a:pPr marL="0" indent="0">
              <a:buNone/>
            </a:pPr>
            <a:r>
              <a:rPr lang="en-US" sz="1600" b="1" dirty="0"/>
              <a:t/>
            </a:r>
            <a:br>
              <a:rPr lang="en-US" sz="1600" b="1" dirty="0"/>
            </a:br>
            <a:r>
              <a:rPr lang="en-US" sz="1600" b="1" dirty="0"/>
              <a:t>class </a:t>
            </a:r>
            <a:r>
              <a:rPr lang="en-US" sz="1600" b="1" dirty="0" err="1"/>
              <a:t>SuperKonzola</a:t>
            </a:r>
            <a:r>
              <a:rPr lang="en-US" sz="1600" b="1" dirty="0"/>
              <a:t>(</a:t>
            </a:r>
            <a:r>
              <a:rPr lang="en-US" sz="1600" b="1" dirty="0" err="1"/>
              <a:t>Konzola</a:t>
            </a:r>
            <a:r>
              <a:rPr lang="en-US" sz="1600" b="1" dirty="0"/>
              <a:t>):</a:t>
            </a:r>
          </a:p>
          <a:p>
            <a:pPr marL="0" indent="0">
              <a:buNone/>
            </a:pPr>
            <a:r>
              <a:rPr lang="en-US" sz="1600" b="1" dirty="0"/>
              <a:t>    </a:t>
            </a:r>
            <a:r>
              <a:rPr lang="en-US" sz="1600" b="1" dirty="0" err="1"/>
              <a:t>def</a:t>
            </a:r>
            <a:r>
              <a:rPr lang="en-US" sz="1600" b="1" dirty="0"/>
              <a:t> __</a:t>
            </a:r>
            <a:r>
              <a:rPr lang="en-US" sz="1600" b="1" dirty="0" err="1"/>
              <a:t>init</a:t>
            </a:r>
            <a:r>
              <a:rPr lang="en-US" sz="1600" b="1" dirty="0"/>
              <a:t>__(self, </a:t>
            </a:r>
            <a:r>
              <a:rPr lang="en-US" sz="1600" b="1" dirty="0" err="1"/>
              <a:t>naziv</a:t>
            </a:r>
            <a:r>
              <a:rPr lang="en-US" sz="1600" b="1" dirty="0"/>
              <a:t>, </a:t>
            </a:r>
            <a:r>
              <a:rPr lang="en-US" sz="1600" b="1" dirty="0" err="1"/>
              <a:t>kapacitet_diska</a:t>
            </a:r>
            <a:r>
              <a:rPr lang="en-US" sz="1600" b="1" dirty="0"/>
              <a:t>):</a:t>
            </a:r>
          </a:p>
          <a:p>
            <a:pPr marL="0" indent="0">
              <a:buNone/>
            </a:pPr>
            <a:r>
              <a:rPr lang="en-US" sz="1600" b="1" dirty="0"/>
              <a:t>        super().__</a:t>
            </a:r>
            <a:r>
              <a:rPr lang="en-US" sz="1600" b="1" dirty="0" err="1"/>
              <a:t>init</a:t>
            </a:r>
            <a:r>
              <a:rPr lang="en-US" sz="1600" b="1" dirty="0"/>
              <a:t>__(</a:t>
            </a:r>
            <a:r>
              <a:rPr lang="en-US" sz="1600" b="1" dirty="0" err="1"/>
              <a:t>naziv</a:t>
            </a:r>
            <a:r>
              <a:rPr lang="en-US" sz="1600" b="1" dirty="0"/>
              <a:t>)</a:t>
            </a:r>
          </a:p>
          <a:p>
            <a:pPr marL="0" indent="0">
              <a:buNone/>
            </a:pPr>
            <a:r>
              <a:rPr lang="en-US" sz="1600" b="1" dirty="0"/>
              <a:t>        </a:t>
            </a:r>
            <a:r>
              <a:rPr lang="en-US" sz="1600" b="1" dirty="0" err="1"/>
              <a:t>self.kapacitet_diska</a:t>
            </a:r>
            <a:r>
              <a:rPr lang="en-US" sz="1600" b="1" dirty="0"/>
              <a:t> = </a:t>
            </a:r>
            <a:r>
              <a:rPr lang="en-US" sz="1600" b="1" dirty="0" err="1"/>
              <a:t>kapacitet_diska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/>
            </a:r>
            <a:br>
              <a:rPr lang="en-US" sz="1600" b="1" dirty="0"/>
            </a:br>
            <a:r>
              <a:rPr lang="en-US" sz="1600" b="1" dirty="0"/>
              <a:t>    </a:t>
            </a:r>
            <a:r>
              <a:rPr lang="en-US" sz="1600" b="1" dirty="0" err="1"/>
              <a:t>def</a:t>
            </a:r>
            <a:r>
              <a:rPr lang="en-US" sz="1600" b="1" dirty="0"/>
              <a:t> </a:t>
            </a:r>
            <a:r>
              <a:rPr lang="en-US" sz="1600" b="1" dirty="0" err="1"/>
              <a:t>pokreni_igru</a:t>
            </a:r>
            <a:r>
              <a:rPr lang="en-US" sz="1600" b="1" dirty="0"/>
              <a:t>(self, </a:t>
            </a:r>
            <a:r>
              <a:rPr lang="en-US" sz="1600" b="1" dirty="0" err="1"/>
              <a:t>ime_igre</a:t>
            </a:r>
            <a:r>
              <a:rPr lang="en-US" sz="1600" b="1" dirty="0"/>
              <a:t>):  </a:t>
            </a:r>
            <a:r>
              <a:rPr lang="en-US" sz="1600" b="1" dirty="0">
                <a:solidFill>
                  <a:srgbClr val="00B050"/>
                </a:solidFill>
              </a:rPr>
              <a:t># OVERRIDE</a:t>
            </a:r>
          </a:p>
          <a:p>
            <a:pPr marL="0" indent="0">
              <a:buNone/>
            </a:pPr>
            <a:r>
              <a:rPr lang="en-US" sz="1600" b="1" dirty="0"/>
              <a:t>        print("\n </a:t>
            </a:r>
            <a:r>
              <a:rPr lang="en-US" sz="1600" b="1" dirty="0" err="1"/>
              <a:t>Proveravam</a:t>
            </a:r>
            <a:r>
              <a:rPr lang="en-US" sz="1600" b="1" dirty="0"/>
              <a:t> </a:t>
            </a:r>
            <a:r>
              <a:rPr lang="en-US" sz="1600" b="1" dirty="0" err="1"/>
              <a:t>licencu</a:t>
            </a:r>
            <a:r>
              <a:rPr lang="en-US" sz="1600" b="1" dirty="0"/>
              <a:t> </a:t>
            </a:r>
            <a:r>
              <a:rPr lang="en-US" sz="1600" b="1" dirty="0" err="1"/>
              <a:t>na</a:t>
            </a:r>
            <a:r>
              <a:rPr lang="en-US" sz="1600" b="1" dirty="0"/>
              <a:t> </a:t>
            </a:r>
            <a:r>
              <a:rPr lang="en-US" sz="1600" b="1" dirty="0" err="1"/>
              <a:t>internetu</a:t>
            </a:r>
            <a:r>
              <a:rPr lang="en-US" sz="1600" b="1" dirty="0"/>
              <a:t>...")</a:t>
            </a:r>
          </a:p>
          <a:p>
            <a:pPr marL="0" indent="0">
              <a:buNone/>
            </a:pPr>
            <a:r>
              <a:rPr lang="en-US" sz="1600" b="1" dirty="0"/>
              <a:t>       </a:t>
            </a:r>
            <a:r>
              <a:rPr lang="en-US" sz="1600" b="1" dirty="0">
                <a:solidFill>
                  <a:srgbClr val="00B050"/>
                </a:solidFill>
              </a:rPr>
              <a:t> </a:t>
            </a:r>
            <a:r>
              <a:rPr lang="en-US" sz="1600" b="1" dirty="0" smtClean="0">
                <a:solidFill>
                  <a:srgbClr val="00B050"/>
                </a:solidFill>
              </a:rPr>
              <a:t># </a:t>
            </a:r>
            <a:r>
              <a:rPr lang="en-US" sz="1600" b="1" dirty="0" err="1" smtClean="0">
                <a:solidFill>
                  <a:srgbClr val="00B050"/>
                </a:solidFill>
              </a:rPr>
              <a:t>Pozivamo</a:t>
            </a:r>
            <a:r>
              <a:rPr lang="en-US" sz="1600" b="1" dirty="0" smtClean="0">
                <a:solidFill>
                  <a:srgbClr val="00B050"/>
                </a:solidFill>
              </a:rPr>
              <a:t> </a:t>
            </a:r>
            <a:r>
              <a:rPr lang="en-US" sz="1600" b="1" dirty="0" err="1" smtClean="0">
                <a:solidFill>
                  <a:srgbClr val="00B050"/>
                </a:solidFill>
              </a:rPr>
              <a:t>roditelja</a:t>
            </a:r>
            <a:r>
              <a:rPr lang="en-US" sz="1600" b="1" dirty="0" smtClean="0">
                <a:solidFill>
                  <a:srgbClr val="00B050"/>
                </a:solidFill>
              </a:rPr>
              <a:t> da </a:t>
            </a:r>
            <a:r>
              <a:rPr lang="en-US" sz="1600" b="1" dirty="0" err="1" smtClean="0">
                <a:solidFill>
                  <a:srgbClr val="00B050"/>
                </a:solidFill>
              </a:rPr>
              <a:t>uradi</a:t>
            </a:r>
            <a:r>
              <a:rPr lang="en-US" sz="1600" b="1" dirty="0" smtClean="0">
                <a:solidFill>
                  <a:srgbClr val="00B050"/>
                </a:solidFill>
              </a:rPr>
              <a:t> </a:t>
            </a:r>
            <a:r>
              <a:rPr lang="en-US" sz="1600" b="1" dirty="0" err="1" smtClean="0">
                <a:solidFill>
                  <a:srgbClr val="00B050"/>
                </a:solidFill>
              </a:rPr>
              <a:t>osnovni</a:t>
            </a:r>
            <a:r>
              <a:rPr lang="en-US" sz="1600" b="1" dirty="0" smtClean="0">
                <a:solidFill>
                  <a:srgbClr val="00B050"/>
                </a:solidFill>
              </a:rPr>
              <a:t> </a:t>
            </a:r>
            <a:r>
              <a:rPr lang="en-US" sz="1600" b="1" dirty="0" err="1" smtClean="0">
                <a:solidFill>
                  <a:srgbClr val="00B050"/>
                </a:solidFill>
              </a:rPr>
              <a:t>ispis</a:t>
            </a:r>
            <a:endParaRPr lang="en-US" sz="1600" b="1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600" b="1" dirty="0" smtClean="0"/>
              <a:t>        super().</a:t>
            </a:r>
            <a:r>
              <a:rPr lang="en-US" sz="1600" b="1" dirty="0" err="1" smtClean="0"/>
              <a:t>pokreni_igru</a:t>
            </a:r>
            <a:r>
              <a:rPr lang="en-US" sz="1600" b="1" dirty="0" smtClean="0"/>
              <a:t>(</a:t>
            </a:r>
            <a:r>
              <a:rPr lang="en-US" sz="1600" b="1" dirty="0" err="1" smtClean="0"/>
              <a:t>ime_igre</a:t>
            </a:r>
            <a:r>
              <a:rPr lang="en-US" sz="1600" b="1" dirty="0" smtClean="0"/>
              <a:t>)</a:t>
            </a:r>
          </a:p>
          <a:p>
            <a:pPr marL="0" indent="0">
              <a:buNone/>
            </a:pPr>
            <a:r>
              <a:rPr lang="en-US" sz="1600" b="1" dirty="0"/>
              <a:t>        print(</a:t>
            </a:r>
            <a:r>
              <a:rPr lang="en-US" sz="1600" b="1" dirty="0" err="1"/>
              <a:t>f"Igra</a:t>
            </a:r>
            <a:r>
              <a:rPr lang="en-US" sz="1600" b="1" dirty="0"/>
              <a:t> se </a:t>
            </a:r>
            <a:r>
              <a:rPr lang="en-US" sz="1600" b="1" dirty="0" err="1"/>
              <a:t>pokreće</a:t>
            </a:r>
            <a:r>
              <a:rPr lang="en-US" sz="1600" b="1" dirty="0"/>
              <a:t> </a:t>
            </a:r>
            <a:r>
              <a:rPr lang="en-US" sz="1600" b="1" dirty="0" err="1"/>
              <a:t>sa</a:t>
            </a:r>
            <a:r>
              <a:rPr lang="en-US" sz="1600" b="1" dirty="0"/>
              <a:t> SSD-a </a:t>
            </a:r>
            <a:r>
              <a:rPr lang="en-US" sz="1600" b="1" dirty="0" err="1"/>
              <a:t>kapaciteta</a:t>
            </a:r>
            <a:r>
              <a:rPr lang="en-US" sz="1600" b="1" dirty="0"/>
              <a:t> {</a:t>
            </a:r>
            <a:r>
              <a:rPr lang="en-US" sz="1600" b="1" dirty="0" err="1"/>
              <a:t>self.kapacitet_diska</a:t>
            </a:r>
            <a:r>
              <a:rPr lang="en-US" sz="1600" b="1" dirty="0"/>
              <a:t>}")</a:t>
            </a:r>
          </a:p>
          <a:p>
            <a:pPr marL="0" indent="0">
              <a:buNone/>
            </a:pPr>
            <a:r>
              <a:rPr lang="en-US" sz="1600" b="1" dirty="0"/>
              <a:t/>
            </a:r>
            <a:br>
              <a:rPr lang="en-US" sz="1600" b="1" dirty="0"/>
            </a:br>
            <a:r>
              <a:rPr lang="en-US" sz="1600" b="1" dirty="0" err="1"/>
              <a:t>naziv_konzole</a:t>
            </a:r>
            <a:r>
              <a:rPr lang="en-US" sz="1600" b="1" dirty="0"/>
              <a:t> = input("</a:t>
            </a:r>
            <a:r>
              <a:rPr lang="en-US" sz="1600" b="1" dirty="0" err="1"/>
              <a:t>Unesite</a:t>
            </a:r>
            <a:r>
              <a:rPr lang="en-US" sz="1600" b="1" dirty="0"/>
              <a:t> </a:t>
            </a:r>
            <a:r>
              <a:rPr lang="en-US" sz="1600" b="1" dirty="0" err="1"/>
              <a:t>naziv</a:t>
            </a:r>
            <a:r>
              <a:rPr lang="en-US" sz="1600" b="1" dirty="0"/>
              <a:t> </a:t>
            </a:r>
            <a:r>
              <a:rPr lang="en-US" sz="1600" b="1" dirty="0" err="1"/>
              <a:t>konzole</a:t>
            </a:r>
            <a:r>
              <a:rPr lang="en-US" sz="1600" b="1" dirty="0"/>
              <a:t>: ")</a:t>
            </a:r>
          </a:p>
          <a:p>
            <a:pPr marL="0" indent="0">
              <a:buNone/>
            </a:pPr>
            <a:r>
              <a:rPr lang="en-US" sz="1600" b="1" dirty="0" err="1"/>
              <a:t>kapacitet_diska</a:t>
            </a:r>
            <a:r>
              <a:rPr lang="en-US" sz="1600" b="1" dirty="0"/>
              <a:t> = </a:t>
            </a:r>
            <a:r>
              <a:rPr lang="en-US" sz="1600" b="1" dirty="0" err="1"/>
              <a:t>int</a:t>
            </a:r>
            <a:r>
              <a:rPr lang="en-US" sz="1600" b="1" dirty="0"/>
              <a:t>(input("</a:t>
            </a:r>
            <a:r>
              <a:rPr lang="en-US" sz="1600" b="1" dirty="0" err="1"/>
              <a:t>Unesite</a:t>
            </a:r>
            <a:r>
              <a:rPr lang="en-US" sz="1600" b="1" dirty="0"/>
              <a:t> </a:t>
            </a:r>
            <a:r>
              <a:rPr lang="en-US" sz="1600" b="1" dirty="0" err="1"/>
              <a:t>kapacitet</a:t>
            </a:r>
            <a:r>
              <a:rPr lang="en-US" sz="1600" b="1" dirty="0"/>
              <a:t> </a:t>
            </a:r>
            <a:r>
              <a:rPr lang="en-US" sz="1600" b="1" dirty="0" err="1"/>
              <a:t>diska</a:t>
            </a:r>
            <a:r>
              <a:rPr lang="en-US" sz="1600" b="1" dirty="0"/>
              <a:t>: "))</a:t>
            </a:r>
          </a:p>
          <a:p>
            <a:pPr marL="0" indent="0">
              <a:buNone/>
            </a:pPr>
            <a:r>
              <a:rPr lang="en-US" sz="1600" b="1" dirty="0" err="1"/>
              <a:t>ime_igre</a:t>
            </a:r>
            <a:r>
              <a:rPr lang="en-US" sz="1600" b="1" dirty="0"/>
              <a:t> = input("</a:t>
            </a:r>
            <a:r>
              <a:rPr lang="en-US" sz="1600" b="1" dirty="0" err="1"/>
              <a:t>Unesite</a:t>
            </a:r>
            <a:r>
              <a:rPr lang="en-US" sz="1600" b="1" dirty="0"/>
              <a:t> </a:t>
            </a:r>
            <a:r>
              <a:rPr lang="en-US" sz="1600" b="1" dirty="0" err="1"/>
              <a:t>ime</a:t>
            </a:r>
            <a:r>
              <a:rPr lang="en-US" sz="1600" b="1" dirty="0"/>
              <a:t> </a:t>
            </a:r>
            <a:r>
              <a:rPr lang="en-US" sz="1600" b="1" dirty="0" err="1"/>
              <a:t>igre</a:t>
            </a:r>
            <a:r>
              <a:rPr lang="en-US" sz="1600" b="1" dirty="0"/>
              <a:t>: ")</a:t>
            </a:r>
          </a:p>
          <a:p>
            <a:pPr marL="0" indent="0">
              <a:buNone/>
            </a:pPr>
            <a:r>
              <a:rPr lang="en-US" sz="1600" b="1" dirty="0" err="1"/>
              <a:t>moja_konzola</a:t>
            </a:r>
            <a:r>
              <a:rPr lang="en-US" sz="1600" b="1" dirty="0"/>
              <a:t> = </a:t>
            </a:r>
            <a:r>
              <a:rPr lang="en-US" sz="1600" b="1" dirty="0" err="1"/>
              <a:t>SuperKonzola</a:t>
            </a:r>
            <a:r>
              <a:rPr lang="en-US" sz="1600" b="1" dirty="0"/>
              <a:t>(</a:t>
            </a:r>
            <a:r>
              <a:rPr lang="en-US" sz="1600" b="1" dirty="0" err="1"/>
              <a:t>naziv_konzole</a:t>
            </a:r>
            <a:r>
              <a:rPr lang="en-US" sz="1600" b="1" dirty="0"/>
              <a:t>, </a:t>
            </a:r>
            <a:r>
              <a:rPr lang="en-US" sz="1600" b="1" dirty="0" err="1"/>
              <a:t>kapacitet_diska</a:t>
            </a:r>
            <a:r>
              <a:rPr lang="en-US" sz="1600" b="1" dirty="0"/>
              <a:t>)</a:t>
            </a:r>
          </a:p>
          <a:p>
            <a:pPr marL="0" indent="0">
              <a:buNone/>
            </a:pPr>
            <a:r>
              <a:rPr lang="en-US" sz="1600" b="1" dirty="0" err="1"/>
              <a:t>moja_konzola.pokreni_igru</a:t>
            </a:r>
            <a:r>
              <a:rPr lang="en-US" sz="1600" b="1" dirty="0"/>
              <a:t>(</a:t>
            </a:r>
            <a:r>
              <a:rPr lang="en-US" sz="1600" b="1" dirty="0" err="1"/>
              <a:t>ime_igre</a:t>
            </a:r>
            <a:r>
              <a:rPr lang="en-US" sz="1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521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" y="-27384"/>
            <a:ext cx="9071992" cy="69847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sz="20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 Kviz: Da li si „Master” nasleđivanja?</a:t>
            </a: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Pitanje 1: Ko šta vidi?</a:t>
            </a:r>
          </a:p>
          <a:p>
            <a:pPr marL="0" indent="0">
              <a:buNone/>
            </a:pP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Ako klasa Telefon ima metodu </a:t>
            </a: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pozovi()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, a klasa Smartfon (dete) ima metodu </a:t>
            </a: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instaliraj_aplikaciju(), 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šta će se desiti ako napravimo običan telefon i pokušamo da instaliramo aplikaciju?</a:t>
            </a: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A)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Telefon će se automatski nadograditi u Smartfon.</a:t>
            </a: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B)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Python će prijaviti grešku (AttributeError) jer običan telefon ne zna šta su aplikacije.</a:t>
            </a: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Program će raditi, ali se ništa neće ispisati</a:t>
            </a:r>
            <a:r>
              <a:rPr lang="vi-VN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en-GB" sz="17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GB" sz="17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17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Pitanje</a:t>
            </a: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2: Super-</a:t>
            </a:r>
            <a:r>
              <a:rPr lang="en-US" sz="17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moć</a:t>
            </a: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 super() </a:t>
            </a:r>
            <a:r>
              <a:rPr lang="en-US" sz="17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funkcije</a:t>
            </a:r>
            <a:endParaRPr lang="en-US" sz="17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Čemu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služi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komanda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super().__</a:t>
            </a:r>
            <a:r>
              <a:rPr lang="en-US" sz="17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init</a:t>
            </a: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__(</a:t>
            </a:r>
            <a:r>
              <a:rPr lang="en-US" sz="1700" b="1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marka</a:t>
            </a: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)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unutar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konstruktora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klase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deteta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?</a:t>
            </a:r>
          </a:p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A)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Da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kaže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Python-u da je ta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klasa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"super" (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najbolja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).</a:t>
            </a:r>
          </a:p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B)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Da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obriše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sve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što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je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roditelj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ranije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uradio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C)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Da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pozove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roditeljsku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klasu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i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kaže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joj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: „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Hajde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ti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podesi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osnovne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stvari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(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poput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marke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), a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ja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ću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posle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dodati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svoje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specifične</a:t>
            </a:r>
            <a:r>
              <a:rPr lang="en-US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7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delove</a:t>
            </a:r>
            <a:r>
              <a:rPr lang="en-US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.“</a:t>
            </a:r>
          </a:p>
          <a:p>
            <a:pPr marL="0" indent="0">
              <a:buNone/>
            </a:pPr>
            <a:endParaRPr lang="en-US" sz="17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Pitanje 3: Ko pobeđuje u Overriding-u?</a:t>
            </a:r>
          </a:p>
          <a:p>
            <a:pPr marL="0" indent="0">
              <a:buNone/>
            </a:pP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Ako </a:t>
            </a:r>
            <a:r>
              <a:rPr lang="vi-VN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roditelj 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(</a:t>
            </a: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Konzola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) i dete (</a:t>
            </a: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SuperKonzola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) imaju metodu koja se zove potpuno isto: </a:t>
            </a: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pokreni_igru()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, i mi napravimo objekat koji je SuperKonzola, čija će se metoda izvršiti kada je pozovemo?</a:t>
            </a: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A)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Izvršiće se obe metode istovremeno.</a:t>
            </a: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B)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Izvršiće se metoda iz deteta (SuperKonzola), jer ona "</a:t>
            </a:r>
            <a:r>
              <a:rPr lang="vi-VN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prega</a:t>
            </a:r>
            <a:r>
              <a:rPr lang="en-GB" sz="17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zi</a:t>
            </a:r>
            <a:r>
              <a:rPr lang="vi-VN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" 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(override) roditeljsku.</a:t>
            </a:r>
          </a:p>
          <a:p>
            <a:pPr marL="0" indent="0">
              <a:buNone/>
            </a:pPr>
            <a:r>
              <a:rPr lang="vi-VN" sz="17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C)</a:t>
            </a:r>
            <a:r>
              <a:rPr lang="vi-VN" sz="1700" dirty="0">
                <a:latin typeface="Calibri" pitchFamily="34" charset="0"/>
                <a:ea typeface="Calibri" pitchFamily="34" charset="0"/>
                <a:cs typeface="Calibri" pitchFamily="34" charset="0"/>
              </a:rPr>
              <a:t> Izvršiće se metoda iz roditelja, jer je on stariji i glavni.</a:t>
            </a: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Z</a:t>
            </a: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vanično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si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postao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/la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 "Senior Python Architect"</a:t>
            </a:r>
            <a:endParaRPr lang="vi-VN" sz="2000" b="1" dirty="0">
              <a:solidFill>
                <a:srgbClr val="FF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" name="Smiley Face 1"/>
          <p:cNvSpPr/>
          <p:nvPr/>
        </p:nvSpPr>
        <p:spPr>
          <a:xfrm>
            <a:off x="7956376" y="1556792"/>
            <a:ext cx="360040" cy="288032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miley Face 3"/>
          <p:cNvSpPr/>
          <p:nvPr/>
        </p:nvSpPr>
        <p:spPr>
          <a:xfrm>
            <a:off x="7956376" y="4005064"/>
            <a:ext cx="360040" cy="288032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miley Face 4"/>
          <p:cNvSpPr/>
          <p:nvPr/>
        </p:nvSpPr>
        <p:spPr>
          <a:xfrm>
            <a:off x="7956376" y="5805264"/>
            <a:ext cx="360040" cy="288032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5259</TotalTime>
  <Words>1842</Words>
  <Application>Microsoft Office PowerPoint</Application>
  <PresentationFormat>On-screen Show (4:3)</PresentationFormat>
  <Paragraphs>441</Paragraphs>
  <Slides>26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KLASE Objekto orjentisano programiranje 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Klase – Čas 2.</vt:lpstr>
      <vt:lpstr>Male varijante sa unosom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Гранања</dc:title>
  <dc:creator>H</dc:creator>
  <cp:lastModifiedBy>Goran Najdovski</cp:lastModifiedBy>
  <cp:revision>377</cp:revision>
  <dcterms:created xsi:type="dcterms:W3CDTF">2018-03-21T14:09:33Z</dcterms:created>
  <dcterms:modified xsi:type="dcterms:W3CDTF">2026-01-29T11:40:33Z</dcterms:modified>
</cp:coreProperties>
</file>